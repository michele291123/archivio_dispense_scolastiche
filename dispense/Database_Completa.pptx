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</p:sldIdLst>
  <p:notesMasterIdLst>
    <p:notesMasterId r:id="rId10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pertina" id="{02aaff24-6dfc-59d4-f223-9b6510d25211}">
          <p14:sldIdLst>
            <p14:sldId id="256"/>
          </p14:sldIdLst>
        </p14:section>
        <p14:section name="01 · Introduzione alle Basi di Dati" id="{ec42621f-c509-2140-f7d5-d8806952a317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02 · Progettazione Concettuale" id="{a9cf6f65-84e1-1adf-e487-05051bb554bb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03 · Progettazione Logica" id="{c3dc39c0-89f2-3c21-519b-9f57c906a138}">
          <p14:sldIdLst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</p14:sldIdLst>
        </p14:section>
        <p14:section name="04 · Normalizzazione" id="{3877cb7d-1074-92b3-787f-74427685d776}">
          <p14:sldIdLst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</p14:sldIdLst>
        </p14:section>
        <p14:section name="05 · Introduzione al Linguaggio SQL" id="{a9e6d8f5-c554-03d9-aec9-c8df4e979a8c}">
          <p14:sldIdLst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heme" Target="theme/theme1.xml"/><Relationship Id="rId10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417320"/>
            <a:ext cx="77724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0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3886200"/>
            <a:ext cx="107899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1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 ·  INTRODUZIONE ALLE BASI DI DATI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1_LONG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 ·  INTRODUZIONE ALLE BASI DI DATI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1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2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 ·  PROGETTAZIONE CONCETTUALE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2_LONG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 ·  PROGETTAZIONE CONCETTUALE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1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3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 ·  PROGETTAZIONE LOGICA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3_LONG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 ·  PROGETTAZIONE LOGICA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1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4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 ·  NORMALIZZAZIONE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4_LONG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 ·  NORMALIZZAZIONE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1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5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 ·  INTRODUZIONE AL LINGUAGGIO SQL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5_LONG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 ·  INTRODUZIONE AL LINGUAGGIO SQL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1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image" Target="../media/image-65-3.png"/><Relationship Id="rId4" Type="http://schemas.openxmlformats.org/officeDocument/2006/relationships/image" Target="../media/image-65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jp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jp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jp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jp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jp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jp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jp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image" Target="../media/image-7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jpg"/><Relationship Id="rId2" Type="http://schemas.openxmlformats.org/officeDocument/2006/relationships/image" Target="../media/image-80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jpg"/><Relationship Id="rId2" Type="http://schemas.openxmlformats.org/officeDocument/2006/relationships/image" Target="../media/image-81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image" Target="../media/image-82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jpg"/><Relationship Id="rId2" Type="http://schemas.openxmlformats.org/officeDocument/2006/relationships/image" Target="../media/image-83-2.jp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jpg"/><Relationship Id="rId2" Type="http://schemas.openxmlformats.org/officeDocument/2006/relationships/image" Target="../media/image-85-2.jp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jp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jp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jp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jpg"/><Relationship Id="rId2" Type="http://schemas.openxmlformats.org/officeDocument/2006/relationships/image" Target="../media/image-98-2.jp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INFORMATICA  ·  DISPENSA UNICA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141732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400" dirty="0">
                <a:solidFill>
                  <a:schemeClr val="bg1"/>
                </a:solidFill>
              </a:rPr>
              <a:t>Basi di Dati</a:t>
            </a:r>
            <a:endParaRPr lang="en-US" sz="10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4290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34290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Introduzione alle Basi di Dati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9044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390448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Progettazione Concettuale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37997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437997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Progettazione Logica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85546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8554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Normalizzazione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3309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533095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Introduzione al Linguaggio SQL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nicola.falcionelli@iismarconipieralisi.it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00439" y="731520"/>
            <a:ext cx="2505456" cy="1005269"/>
          </a:xfrm>
          <a:prstGeom prst="roundRect">
            <a:avLst>
              <a:gd name="adj" fmla="val 127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0" descr="IIS Marconi Pieralisi - Istituto Istruzione Superiore Jes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0167" y="841248"/>
            <a:ext cx="2286000" cy="7858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chemeClr val="accent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INFORMATICA  ·  BASI DI DATI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1732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9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85800" y="388620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chemeClr val="bg1"/>
                </a:solidFill>
              </a:rPr>
              <a:t>Introduzione alle Basi di Dati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Sistema Informatico vs Sistema Informativo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chemeClr val="bg2"/>
                </a:solidFill>
              </a:rPr>
              <a:t>Informatica: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449830"/>
            <a:ext cx="10820095" cy="1101852"/>
          </a:xfrm>
          <a:prstGeom prst="roundRect">
            <a:avLst>
              <a:gd name="adj" fmla="val 11618"/>
            </a:avLst>
          </a:prstGeom>
          <a:solidFill>
            <a:schemeClr val="tx2"/>
          </a:solidFill>
          <a:ln w="15875">
            <a:solidFill>
              <a:schemeClr val="accent1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chemeClr val="bg1"/>
                </a:solidFill>
              </a:rPr>
              <a:t>Scienza del </a:t>
            </a:r>
            <a:r>
              <a:rPr lang="en-US" sz="2100" b="1" dirty="0">
                <a:solidFill>
                  <a:schemeClr val="accent4"/>
                </a:solidFill>
              </a:rPr>
              <a:t>trattamento razionale</a:t>
            </a:r>
            <a:r>
              <a:rPr lang="en-US" sz="2100" dirty="0">
                <a:solidFill>
                  <a:schemeClr val="bg1"/>
                </a:solidFill>
              </a:rPr>
              <a:t>, specialmente per mezzo di </a:t>
            </a:r>
            <a:r>
              <a:rPr lang="en-US" sz="2100" b="1" dirty="0">
                <a:solidFill>
                  <a:schemeClr val="accent2"/>
                </a:solidFill>
              </a:rPr>
              <a:t>macchine automatiche</a:t>
            </a:r>
            <a:r>
              <a:rPr lang="en-US" sz="2100" dirty="0">
                <a:solidFill>
                  <a:schemeClr val="bg1"/>
                </a:solidFill>
              </a:rPr>
              <a:t>, </a:t>
            </a:r>
            <a:r>
              <a:rPr lang="en-US" sz="2100" b="1" dirty="0">
                <a:solidFill>
                  <a:schemeClr val="accent4"/>
                </a:solidFill>
              </a:rPr>
              <a:t>dell’informazione</a:t>
            </a:r>
            <a:r>
              <a:rPr lang="en-US" sz="2100" dirty="0">
                <a:solidFill>
                  <a:schemeClr val="bg1"/>
                </a:solidFill>
              </a:rPr>
              <a:t>, considerata come supporto alla conoscenza umana e alla comunicazione.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789426"/>
            <a:ext cx="10820095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chemeClr val="bg2"/>
                </a:solidFill>
              </a:rPr>
              <a:t>È quindi composta da due “anime”: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456176"/>
            <a:ext cx="5245456" cy="1178052"/>
          </a:xfrm>
          <a:prstGeom prst="roundRect">
            <a:avLst>
              <a:gd name="adj" fmla="val 10867"/>
            </a:avLst>
          </a:prstGeom>
          <a:solidFill>
            <a:schemeClr val="tx2"/>
          </a:solidFill>
          <a:ln w="15875">
            <a:solidFill>
              <a:schemeClr val="accent2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accent2"/>
                </a:solidFill>
              </a:rPr>
              <a:t>Tecnologica:</a:t>
            </a:r>
            <a:endParaRPr lang="en-US" sz="21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accent2"/>
                </a:solidFill>
              </a:rPr>
              <a:t>automatizzazione dei processi di calcolo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6260440" y="4456176"/>
            <a:ext cx="5245456" cy="1503426"/>
          </a:xfrm>
          <a:prstGeom prst="roundRect">
            <a:avLst>
              <a:gd name="adj" fmla="val 8515"/>
            </a:avLst>
          </a:prstGeom>
          <a:solidFill>
            <a:schemeClr val="tx2"/>
          </a:solidFill>
          <a:ln w="15875">
            <a:solidFill>
              <a:schemeClr val="accent4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accent4"/>
                </a:solidFill>
              </a:rPr>
              <a:t>Metodologica:</a:t>
            </a:r>
            <a:endParaRPr lang="en-US" sz="21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accent4"/>
                </a:solidFill>
              </a:rPr>
              <a:t>rappresentazione eleganti ed efficienti della realtà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Sistema Informativo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452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È l’insieme di tutte le </a:t>
            </a:r>
            <a:r>
              <a:rPr lang="en-US" sz="2300" b="1" dirty="0">
                <a:solidFill>
                  <a:schemeClr val="bg1"/>
                </a:solidFill>
              </a:rPr>
              <a:t>componenti</a:t>
            </a:r>
            <a:r>
              <a:rPr lang="en-US" sz="2300" dirty="0">
                <a:solidFill>
                  <a:schemeClr val="bg2"/>
                </a:solidFill>
              </a:rPr>
              <a:t> necessarie a </a:t>
            </a:r>
            <a:r>
              <a:rPr lang="en-US" sz="2300" b="1" dirty="0">
                <a:solidFill>
                  <a:schemeClr val="bg1"/>
                </a:solidFill>
              </a:rPr>
              <a:t>gestire</a:t>
            </a:r>
            <a:r>
              <a:rPr lang="en-US" sz="2300" dirty="0">
                <a:solidFill>
                  <a:schemeClr val="bg2"/>
                </a:solidFill>
              </a:rPr>
              <a:t> le </a:t>
            </a:r>
            <a:r>
              <a:rPr lang="en-US" sz="2300" b="1" dirty="0">
                <a:solidFill>
                  <a:schemeClr val="bg1"/>
                </a:solidFill>
              </a:rPr>
              <a:t>informazioni</a:t>
            </a:r>
            <a:r>
              <a:rPr lang="en-US" sz="2300" dirty="0">
                <a:solidFill>
                  <a:schemeClr val="bg2"/>
                </a:solidFill>
              </a:rPr>
              <a:t> di </a:t>
            </a:r>
            <a:r>
              <a:rPr lang="en-US" sz="2300" b="1" dirty="0">
                <a:solidFill>
                  <a:schemeClr val="bg1"/>
                </a:solidFill>
              </a:rPr>
              <a:t>un’organizzazione</a:t>
            </a:r>
            <a:r>
              <a:rPr lang="en-US" sz="2300" dirty="0">
                <a:solidFill>
                  <a:schemeClr val="bg2"/>
                </a:solidFill>
              </a:rPr>
              <a:t>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risorse </a:t>
            </a:r>
            <a:r>
              <a:rPr lang="en-US" sz="2300" b="1" dirty="0">
                <a:solidFill>
                  <a:schemeClr val="bg1"/>
                </a:solidFill>
              </a:rPr>
              <a:t>umane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materiali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procedimenti</a:t>
            </a:r>
            <a:r>
              <a:rPr lang="en-US" sz="2300" dirty="0">
                <a:solidFill>
                  <a:schemeClr val="bg2"/>
                </a:solidFill>
              </a:rPr>
              <a:t> manuali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regolamenti</a:t>
            </a:r>
            <a:r>
              <a:rPr lang="en-US" sz="2300" dirty="0">
                <a:solidFill>
                  <a:schemeClr val="bg2"/>
                </a:solidFill>
              </a:rPr>
              <a:t> e </a:t>
            </a:r>
            <a:r>
              <a:rPr lang="en-US" sz="2300" b="1" dirty="0">
                <a:solidFill>
                  <a:schemeClr val="bg1"/>
                </a:solidFill>
              </a:rPr>
              <a:t>norme</a:t>
            </a:r>
            <a:r>
              <a:rPr lang="en-US" sz="2300" dirty="0">
                <a:solidFill>
                  <a:schemeClr val="bg2"/>
                </a:solidFill>
              </a:rPr>
              <a:t> organizzative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sistemi </a:t>
            </a:r>
            <a:r>
              <a:rPr lang="en-US" sz="2300" b="1" dirty="0">
                <a:solidFill>
                  <a:schemeClr val="bg1"/>
                </a:solidFill>
              </a:rPr>
              <a:t>informatici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b="1" dirty="0">
                <a:solidFill>
                  <a:schemeClr val="bg1"/>
                </a:solidFill>
              </a:rPr>
              <a:t>componente tecnologica</a:t>
            </a:r>
            <a:r>
              <a:rPr lang="en-US" sz="2000" dirty="0">
                <a:solidFill>
                  <a:schemeClr val="bg2"/>
                </a:solidFill>
              </a:rPr>
              <a:t> principale di un sistema informativo!</a:t>
            </a:r>
            <a:endParaRPr lang="en-US" sz="23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Tuttavia, il concetto di sistema </a:t>
            </a:r>
            <a:r>
              <a:rPr lang="en-US" sz="2300" b="1" dirty="0">
                <a:solidFill>
                  <a:schemeClr val="bg1"/>
                </a:solidFill>
              </a:rPr>
              <a:t>informativo non dipende</a:t>
            </a:r>
            <a:r>
              <a:rPr lang="en-US" sz="2300" dirty="0">
                <a:solidFill>
                  <a:schemeClr val="bg2"/>
                </a:solidFill>
              </a:rPr>
              <a:t> da eventuali </a:t>
            </a:r>
            <a:r>
              <a:rPr lang="en-US" sz="2300" b="1" dirty="0">
                <a:solidFill>
                  <a:schemeClr val="bg1"/>
                </a:solidFill>
              </a:rPr>
              <a:t>automatizzazioni</a:t>
            </a:r>
            <a:r>
              <a:rPr lang="en-US" sz="2300" dirty="0">
                <a:solidFill>
                  <a:schemeClr val="bg2"/>
                </a:solidFill>
              </a:rPr>
              <a:t>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un S.I. può esistere anche senza sistemi informatici!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Sistema Informatico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4480560" cy="348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È la </a:t>
            </a:r>
            <a:r>
              <a:rPr lang="en-US" sz="2300" b="1" dirty="0">
                <a:solidFill>
                  <a:schemeClr val="bg1"/>
                </a:solidFill>
              </a:rPr>
              <a:t>componente automatizzabile</a:t>
            </a:r>
            <a:r>
              <a:rPr lang="en-US" sz="2300" dirty="0">
                <a:solidFill>
                  <a:schemeClr val="bg2"/>
                </a:solidFill>
              </a:rPr>
              <a:t> dei Sistemi Informativi.</a:t>
            </a:r>
            <a:endParaRPr lang="en-US" sz="23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Informazione è quindi: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trattata </a:t>
            </a:r>
            <a:r>
              <a:rPr lang="en-US" sz="2300" b="1" dirty="0">
                <a:solidFill>
                  <a:schemeClr val="bg1"/>
                </a:solidFill>
              </a:rPr>
              <a:t>automaticamente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rappresentata </a:t>
            </a:r>
            <a:r>
              <a:rPr lang="en-US" sz="2300" b="1" dirty="0">
                <a:solidFill>
                  <a:schemeClr val="bg1"/>
                </a:solidFill>
              </a:rPr>
              <a:t>digitalmente</a:t>
            </a:r>
            <a:endParaRPr lang="en-US" sz="23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Obiettivo: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agevolare</a:t>
            </a:r>
            <a:r>
              <a:rPr lang="en-US" sz="2300" dirty="0">
                <a:solidFill>
                  <a:schemeClr val="bg2"/>
                </a:solidFill>
              </a:rPr>
              <a:t> il </a:t>
            </a:r>
            <a:r>
              <a:rPr lang="en-US" sz="2300" b="1" dirty="0">
                <a:solidFill>
                  <a:schemeClr val="bg1"/>
                </a:solidFill>
              </a:rPr>
              <a:t>funzionamento</a:t>
            </a:r>
            <a:r>
              <a:rPr lang="en-US" sz="2300" dirty="0">
                <a:solidFill>
                  <a:schemeClr val="bg2"/>
                </a:solidFill>
              </a:rPr>
              <a:t> del Sistema Informativo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95544" y="1783080"/>
            <a:ext cx="6010351" cy="3584625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Ambiente esterno, organizzazione, sistema informativo, sistema informativo automatizzato, sistema informati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272" y="1892808"/>
            <a:ext cx="5790895" cy="336516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Sistemi Operazionali e Business Intelligence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7107631" cy="415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bg2"/>
                </a:solidFill>
              </a:rPr>
              <a:t>I sistemi informativi hanno due principali modalità di utilizzo:</a:t>
            </a:r>
            <a:endParaRPr lang="en-US" sz="19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chemeClr val="bg2"/>
                </a:solidFill>
              </a:rPr>
              <a:t>Sistemi </a:t>
            </a:r>
            <a:r>
              <a:rPr lang="en-US" sz="1900" b="1" dirty="0">
                <a:solidFill>
                  <a:schemeClr val="bg1"/>
                </a:solidFill>
              </a:rPr>
              <a:t>Operazionali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accent1"/>
                </a:solidFill>
              </a:rPr>
              <a:t>rivolti agli </a:t>
            </a:r>
            <a:r>
              <a:rPr lang="en-US" sz="1650" b="1" dirty="0">
                <a:solidFill>
                  <a:schemeClr val="accent1"/>
                </a:solidFill>
              </a:rPr>
              <a:t>operatori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b="1" dirty="0">
                <a:solidFill>
                  <a:schemeClr val="bg1"/>
                </a:solidFill>
              </a:rPr>
              <a:t>tempi</a:t>
            </a:r>
            <a:r>
              <a:rPr lang="en-US" sz="1650" dirty="0">
                <a:solidFill>
                  <a:schemeClr val="bg2"/>
                </a:solidFill>
              </a:rPr>
              <a:t> di risposta </a:t>
            </a:r>
            <a:r>
              <a:rPr lang="en-US" sz="1650" b="1" dirty="0">
                <a:solidFill>
                  <a:schemeClr val="bg1"/>
                </a:solidFill>
              </a:rPr>
              <a:t>brevi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b="1" dirty="0">
                <a:solidFill>
                  <a:schemeClr val="bg1"/>
                </a:solidFill>
              </a:rPr>
              <a:t>organizzazione</a:t>
            </a:r>
            <a:r>
              <a:rPr lang="en-US" sz="1650" dirty="0">
                <a:solidFill>
                  <a:schemeClr val="bg2"/>
                </a:solidFill>
              </a:rPr>
              <a:t>, </a:t>
            </a:r>
            <a:r>
              <a:rPr lang="en-US" sz="1650" b="1" dirty="0">
                <a:solidFill>
                  <a:schemeClr val="bg1"/>
                </a:solidFill>
              </a:rPr>
              <a:t>utilizzo</a:t>
            </a:r>
            <a:r>
              <a:rPr lang="en-US" sz="1650" dirty="0">
                <a:solidFill>
                  <a:schemeClr val="bg2"/>
                </a:solidFill>
              </a:rPr>
              <a:t> e </a:t>
            </a:r>
            <a:r>
              <a:rPr lang="en-US" sz="1650" b="1" dirty="0">
                <a:solidFill>
                  <a:schemeClr val="bg1"/>
                </a:solidFill>
              </a:rPr>
              <a:t>gestione</a:t>
            </a:r>
            <a:r>
              <a:rPr lang="en-US" sz="1650" dirty="0">
                <a:solidFill>
                  <a:schemeClr val="bg2"/>
                </a:solidFill>
              </a:rPr>
              <a:t> “puntuale” dei </a:t>
            </a:r>
            <a:r>
              <a:rPr lang="en-US" sz="1650" b="1" dirty="0">
                <a:solidFill>
                  <a:schemeClr val="bg1"/>
                </a:solidFill>
              </a:rPr>
              <a:t>dati</a:t>
            </a:r>
            <a:endParaRPr lang="en-US" sz="19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chemeClr val="bg2"/>
                </a:solidFill>
              </a:rPr>
              <a:t>Sistemi di </a:t>
            </a:r>
            <a:r>
              <a:rPr lang="en-US" sz="1900" b="1" dirty="0">
                <a:solidFill>
                  <a:schemeClr val="bg1"/>
                </a:solidFill>
              </a:rPr>
              <a:t>Business Intelligence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accent1"/>
                </a:solidFill>
              </a:rPr>
              <a:t>rivolta ai </a:t>
            </a:r>
            <a:r>
              <a:rPr lang="en-US" sz="1650" b="1" dirty="0">
                <a:solidFill>
                  <a:schemeClr val="accent1"/>
                </a:solidFill>
              </a:rPr>
              <a:t>manager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b="1" dirty="0">
                <a:solidFill>
                  <a:schemeClr val="bg1"/>
                </a:solidFill>
              </a:rPr>
              <a:t>tempi</a:t>
            </a:r>
            <a:r>
              <a:rPr lang="en-US" sz="1650" dirty="0">
                <a:solidFill>
                  <a:schemeClr val="bg2"/>
                </a:solidFill>
              </a:rPr>
              <a:t> di risposta </a:t>
            </a:r>
            <a:r>
              <a:rPr lang="en-US" sz="1650" b="1" dirty="0">
                <a:solidFill>
                  <a:schemeClr val="bg1"/>
                </a:solidFill>
              </a:rPr>
              <a:t>alti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2"/>
                </a:solidFill>
              </a:rPr>
              <a:t>estrarre </a:t>
            </a:r>
            <a:r>
              <a:rPr lang="en-US" sz="1650" b="1" dirty="0">
                <a:solidFill>
                  <a:schemeClr val="bg1"/>
                </a:solidFill>
              </a:rPr>
              <a:t>informazioni utili</a:t>
            </a:r>
            <a:r>
              <a:rPr lang="en-US" sz="1650" dirty="0">
                <a:solidFill>
                  <a:schemeClr val="bg2"/>
                </a:solidFill>
              </a:rPr>
              <a:t> per prendere </a:t>
            </a:r>
            <a:r>
              <a:rPr lang="en-US" sz="1650" b="1" dirty="0">
                <a:solidFill>
                  <a:schemeClr val="bg1"/>
                </a:solidFill>
              </a:rPr>
              <a:t>decisioni</a:t>
            </a:r>
            <a:endParaRPr lang="en-US" sz="1900" dirty="0"/>
          </a:p>
          <a:p>
            <a:pPr lvl="2" marL="685800" indent="-228600">
              <a:spcAft>
                <a:spcPts val="400"/>
              </a:spcAft>
              <a:buSzPct val="100000"/>
              <a:buChar char="–"/>
            </a:pPr>
            <a:r>
              <a:rPr lang="en-US" sz="1650" b="1" dirty="0">
                <a:solidFill>
                  <a:schemeClr val="bg1"/>
                </a:solidFill>
              </a:rPr>
              <a:t>Profiling</a:t>
            </a:r>
            <a:endParaRPr lang="en-US" sz="1900" dirty="0"/>
          </a:p>
          <a:p>
            <a:pPr lvl="2" marL="685800" indent="-228600">
              <a:spcAft>
                <a:spcPts val="400"/>
              </a:spcAft>
              <a:buSzPct val="100000"/>
              <a:buChar char="–"/>
            </a:pPr>
            <a:r>
              <a:rPr lang="en-US" sz="1650" b="1" dirty="0">
                <a:solidFill>
                  <a:schemeClr val="bg1"/>
                </a:solidFill>
              </a:rPr>
              <a:t>Decision Support</a:t>
            </a:r>
            <a:r>
              <a:rPr lang="en-US" sz="1650" dirty="0">
                <a:solidFill>
                  <a:schemeClr val="bg2"/>
                </a:solidFill>
              </a:rPr>
              <a:t> Systems</a:t>
            </a:r>
            <a:endParaRPr lang="en-US" sz="1900" dirty="0"/>
          </a:p>
          <a:p>
            <a:pPr lvl="3" marL="9144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2"/>
                </a:solidFill>
              </a:rPr>
              <a:t>Datawarehouse</a:t>
            </a:r>
            <a:endParaRPr lang="en-US" sz="1900" dirty="0"/>
          </a:p>
          <a:p>
            <a:pPr lvl="3" marL="9144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2"/>
                </a:solidFill>
              </a:rPr>
              <a:t>Machine </a:t>
            </a:r>
            <a:r>
              <a:rPr lang="en-US" sz="1650" b="1" dirty="0">
                <a:solidFill>
                  <a:schemeClr val="bg1"/>
                </a:solidFill>
              </a:rPr>
              <a:t>Learning</a:t>
            </a:r>
            <a:r>
              <a:rPr lang="en-US" sz="1650" dirty="0">
                <a:solidFill>
                  <a:schemeClr val="bg2"/>
                </a:solidFill>
              </a:rPr>
              <a:t>/Data </a:t>
            </a:r>
            <a:r>
              <a:rPr lang="en-US" sz="1650" b="1" dirty="0">
                <a:solidFill>
                  <a:schemeClr val="bg1"/>
                </a:solidFill>
              </a:rPr>
              <a:t>Mining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122615" y="1783080"/>
            <a:ext cx="3383280" cy="3615375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Operatore e manag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2343" y="1892808"/>
            <a:ext cx="3163824" cy="339591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Business Intelligence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760984"/>
          </a:xfrm>
          <a:prstGeom prst="roundRect">
            <a:avLst>
              <a:gd name="adj" fmla="val 16822"/>
            </a:avLst>
          </a:prstGeom>
          <a:solidFill>
            <a:schemeClr val="tx2"/>
          </a:solidFill>
          <a:ln w="15875">
            <a:solidFill>
              <a:schemeClr val="accent1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Dato</a:t>
            </a:r>
            <a:r>
              <a:rPr lang="en-US" sz="2000" dirty="0">
                <a:solidFill>
                  <a:schemeClr val="bg1"/>
                </a:solidFill>
              </a:rPr>
              <a:t> = Risorsa </a:t>
            </a:r>
            <a:r>
              <a:rPr lang="en-US" sz="2000" b="1" dirty="0">
                <a:solidFill>
                  <a:schemeClr val="accent1"/>
                </a:solidFill>
              </a:rPr>
              <a:t>Strategica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81808"/>
            <a:ext cx="1082009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L’informazione è il più grande strumento per </a:t>
            </a:r>
            <a:r>
              <a:rPr lang="en-US" sz="2000" b="1" dirty="0">
                <a:solidFill>
                  <a:schemeClr val="bg1"/>
                </a:solidFill>
              </a:rPr>
              <a:t>esercitare potere</a:t>
            </a:r>
            <a:r>
              <a:rPr lang="en-US" sz="2000" dirty="0">
                <a:solidFill>
                  <a:schemeClr val="bg2"/>
                </a:solidFill>
              </a:rPr>
              <a:t> e </a:t>
            </a:r>
            <a:r>
              <a:rPr lang="en-US" sz="2000" b="1" dirty="0">
                <a:solidFill>
                  <a:schemeClr val="bg1"/>
                </a:solidFill>
              </a:rPr>
              <a:t>controllo</a:t>
            </a:r>
            <a:r>
              <a:rPr lang="en-US" sz="2000" dirty="0">
                <a:solidFill>
                  <a:schemeClr val="bg2"/>
                </a:solidFill>
              </a:rPr>
              <a:t> su qualsiasi </a:t>
            </a:r>
            <a:r>
              <a:rPr lang="en-US" sz="2000" b="1" dirty="0">
                <a:solidFill>
                  <a:schemeClr val="bg1"/>
                </a:solidFill>
              </a:rPr>
              <a:t>organizzazione</a:t>
            </a:r>
            <a:r>
              <a:rPr lang="en-US" sz="2000" dirty="0">
                <a:solidFill>
                  <a:schemeClr val="bg2"/>
                </a:solidFill>
              </a:rPr>
              <a:t>!</a:t>
            </a:r>
            <a:endParaRPr lang="en-US" sz="20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Dai dati si può estrarre </a:t>
            </a:r>
            <a:r>
              <a:rPr lang="en-US" sz="2000" b="1" dirty="0">
                <a:solidFill>
                  <a:schemeClr val="bg1"/>
                </a:solidFill>
              </a:rPr>
              <a:t>conoscenza aggiuntiva</a:t>
            </a:r>
            <a:r>
              <a:rPr lang="en-US" sz="2000" dirty="0">
                <a:solidFill>
                  <a:schemeClr val="bg2"/>
                </a:solidFill>
              </a:rPr>
              <a:t> per prendere </a:t>
            </a:r>
            <a:r>
              <a:rPr lang="en-US" sz="2000" b="1" dirty="0">
                <a:solidFill>
                  <a:schemeClr val="bg1"/>
                </a:solidFill>
              </a:rPr>
              <a:t>decisioni</a:t>
            </a:r>
            <a:r>
              <a:rPr lang="en-US" sz="2000" dirty="0">
                <a:solidFill>
                  <a:schemeClr val="bg2"/>
                </a:solidFill>
              </a:rPr>
              <a:t>!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5394" y="4243324"/>
            <a:ext cx="4087052" cy="2111756"/>
          </a:xfrm>
          <a:prstGeom prst="roundRect">
            <a:avLst>
              <a:gd name="adj" fmla="val 60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Birra e pannolin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122" y="4353052"/>
            <a:ext cx="3867596" cy="18923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21952" y="4243324"/>
            <a:ext cx="4083216" cy="2111756"/>
          </a:xfrm>
          <a:prstGeom prst="roundRect">
            <a:avLst>
              <a:gd name="adj" fmla="val 60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Andamento settimanale delle vendite di pannolini e bir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680" y="4353052"/>
            <a:ext cx="3863760" cy="18923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Archivi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4572000" cy="4503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Archivio: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insieme</a:t>
            </a:r>
            <a:r>
              <a:rPr lang="en-US" sz="2300" dirty="0">
                <a:solidFill>
                  <a:schemeClr val="bg2"/>
                </a:solidFill>
              </a:rPr>
              <a:t> di </a:t>
            </a:r>
            <a:r>
              <a:rPr lang="en-US" sz="2300" b="1" dirty="0">
                <a:solidFill>
                  <a:schemeClr val="bg1"/>
                </a:solidFill>
              </a:rPr>
              <a:t>informazioni</a:t>
            </a:r>
            <a:r>
              <a:rPr lang="en-US" sz="2300" dirty="0">
                <a:solidFill>
                  <a:schemeClr val="bg2"/>
                </a:solidFill>
              </a:rPr>
              <a:t> su </a:t>
            </a:r>
            <a:r>
              <a:rPr lang="en-US" sz="2300" b="1" dirty="0">
                <a:solidFill>
                  <a:schemeClr val="bg1"/>
                </a:solidFill>
              </a:rPr>
              <a:t>oggetti</a:t>
            </a:r>
            <a:r>
              <a:rPr lang="en-US" sz="2300" dirty="0">
                <a:solidFill>
                  <a:schemeClr val="bg2"/>
                </a:solidFill>
              </a:rPr>
              <a:t> dello </a:t>
            </a:r>
            <a:r>
              <a:rPr lang="en-US" sz="2300" b="1" dirty="0">
                <a:solidFill>
                  <a:schemeClr val="bg1"/>
                </a:solidFill>
              </a:rPr>
              <a:t>stesso tipo</a:t>
            </a:r>
            <a:r>
              <a:rPr lang="en-US" sz="2300" dirty="0">
                <a:solidFill>
                  <a:schemeClr val="bg2"/>
                </a:solidFill>
              </a:rPr>
              <a:t> (dati omogenei)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composto da “</a:t>
            </a:r>
            <a:r>
              <a:rPr lang="en-US" sz="2000" b="1" dirty="0">
                <a:solidFill>
                  <a:schemeClr val="bg1"/>
                </a:solidFill>
              </a:rPr>
              <a:t>record</a:t>
            </a:r>
            <a:r>
              <a:rPr lang="en-US" sz="2000" dirty="0">
                <a:solidFill>
                  <a:schemeClr val="bg2"/>
                </a:solidFill>
              </a:rPr>
              <a:t>”</a:t>
            </a:r>
            <a:endParaRPr lang="en-US" sz="2300" dirty="0"/>
          </a:p>
          <a:p>
            <a:pPr lvl="2" marL="6858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composti da “</a:t>
            </a:r>
            <a:r>
              <a:rPr lang="en-US" sz="2000" b="1" dirty="0">
                <a:solidFill>
                  <a:schemeClr val="bg1"/>
                </a:solidFill>
              </a:rPr>
              <a:t>campi</a:t>
            </a:r>
            <a:r>
              <a:rPr lang="en-US" sz="2000" dirty="0">
                <a:solidFill>
                  <a:schemeClr val="bg2"/>
                </a:solidFill>
              </a:rPr>
              <a:t>”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informazioni </a:t>
            </a:r>
            <a:r>
              <a:rPr lang="en-US" sz="2300" b="1" dirty="0">
                <a:solidFill>
                  <a:schemeClr val="bg1"/>
                </a:solidFill>
              </a:rPr>
              <a:t>memorizzate</a:t>
            </a:r>
            <a:r>
              <a:rPr lang="en-US" sz="2300" dirty="0">
                <a:solidFill>
                  <a:schemeClr val="bg2"/>
                </a:solidFill>
              </a:rPr>
              <a:t> su memoria </a:t>
            </a:r>
            <a:r>
              <a:rPr lang="en-US" sz="2300" b="1" dirty="0">
                <a:solidFill>
                  <a:schemeClr val="bg1"/>
                </a:solidFill>
              </a:rPr>
              <a:t>persistente</a:t>
            </a:r>
            <a:r>
              <a:rPr lang="en-US" sz="2300" dirty="0">
                <a:solidFill>
                  <a:schemeClr val="accent1"/>
                </a:solidFill>
              </a:rPr>
              <a:t>*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utilizza </a:t>
            </a:r>
            <a:r>
              <a:rPr lang="en-US" sz="2300" b="1" dirty="0">
                <a:solidFill>
                  <a:schemeClr val="bg1"/>
                </a:solidFill>
              </a:rPr>
              <a:t>criteri</a:t>
            </a:r>
            <a:r>
              <a:rPr lang="en-US" sz="2300" dirty="0">
                <a:solidFill>
                  <a:schemeClr val="bg2"/>
                </a:solidFill>
              </a:rPr>
              <a:t> per garantire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b="1" dirty="0">
                <a:solidFill>
                  <a:schemeClr val="bg1"/>
                </a:solidFill>
              </a:rPr>
              <a:t>assenza</a:t>
            </a:r>
            <a:r>
              <a:rPr lang="en-US" sz="2000" dirty="0">
                <a:solidFill>
                  <a:schemeClr val="bg2"/>
                </a:solidFill>
              </a:rPr>
              <a:t> di </a:t>
            </a:r>
            <a:r>
              <a:rPr lang="en-US" sz="2000" b="1" dirty="0">
                <a:solidFill>
                  <a:schemeClr val="bg1"/>
                </a:solidFill>
              </a:rPr>
              <a:t>errori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b="1" dirty="0">
                <a:solidFill>
                  <a:schemeClr val="bg1"/>
                </a:solidFill>
              </a:rPr>
              <a:t>reperimento rapido</a:t>
            </a:r>
            <a:r>
              <a:rPr lang="en-US" sz="2000" dirty="0">
                <a:solidFill>
                  <a:schemeClr val="bg2"/>
                </a:solidFill>
              </a:rPr>
              <a:t> delle informazioni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16574" y="1783080"/>
            <a:ext cx="4259732" cy="2712466"/>
          </a:xfrm>
          <a:prstGeom prst="roundRect">
            <a:avLst>
              <a:gd name="adj" fmla="val 472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Record, etichetta campo e dati cam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6302" y="1892808"/>
            <a:ext cx="4040276" cy="24930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586984" y="4733290"/>
            <a:ext cx="5918911" cy="1621790"/>
          </a:xfrm>
          <a:prstGeom prst="roundRect">
            <a:avLst>
              <a:gd name="adj" fmla="val 7894"/>
            </a:avLst>
          </a:prstGeom>
          <a:solidFill>
            <a:schemeClr val="tx2"/>
          </a:solidFill>
          <a:ln w="15875">
            <a:solidFill>
              <a:schemeClr val="accent1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1"/>
                </a:solidFill>
              </a:rPr>
              <a:t>* Archivio != File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1"/>
                </a:solidFill>
              </a:rPr>
              <a:t>Documento != Foglio di carta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1"/>
                </a:solidFill>
              </a:rPr>
              <a:t>un archivio </a:t>
            </a:r>
            <a:r>
              <a:rPr lang="en-US" sz="2300" b="1" dirty="0">
                <a:solidFill>
                  <a:schemeClr val="accent1"/>
                </a:solidFill>
              </a:rPr>
              <a:t>astrae</a:t>
            </a:r>
            <a:r>
              <a:rPr lang="en-US" sz="2300" dirty="0">
                <a:solidFill>
                  <a:schemeClr val="bg1"/>
                </a:solidFill>
              </a:rPr>
              <a:t> dai file!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Da Archivio a Database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4469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chemeClr val="bg2"/>
                </a:solidFill>
              </a:rPr>
              <a:t>Un </a:t>
            </a:r>
            <a:r>
              <a:rPr lang="en-US" sz="2100" b="1" dirty="0">
                <a:solidFill>
                  <a:schemeClr val="bg1"/>
                </a:solidFill>
              </a:rPr>
              <a:t>archivio</a:t>
            </a:r>
            <a:r>
              <a:rPr lang="en-US" sz="2100" dirty="0">
                <a:solidFill>
                  <a:schemeClr val="bg2"/>
                </a:solidFill>
              </a:rPr>
              <a:t> è strettamente legato al </a:t>
            </a:r>
            <a:r>
              <a:rPr lang="en-US" sz="2100" b="1" dirty="0">
                <a:solidFill>
                  <a:schemeClr val="bg1"/>
                </a:solidFill>
              </a:rPr>
              <a:t>software</a:t>
            </a:r>
            <a:r>
              <a:rPr lang="en-US" sz="2100" dirty="0">
                <a:solidFill>
                  <a:schemeClr val="bg2"/>
                </a:solidFill>
              </a:rPr>
              <a:t> che lo </a:t>
            </a:r>
            <a:r>
              <a:rPr lang="en-US" sz="2100" b="1" dirty="0">
                <a:solidFill>
                  <a:schemeClr val="bg1"/>
                </a:solidFill>
              </a:rPr>
              <a:t>utilizza</a:t>
            </a:r>
            <a:r>
              <a:rPr lang="en-US" sz="2100" dirty="0">
                <a:solidFill>
                  <a:schemeClr val="bg2"/>
                </a:solidFill>
              </a:rPr>
              <a:t>: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spesso è </a:t>
            </a:r>
            <a:r>
              <a:rPr lang="en-US" sz="2100" b="1" dirty="0">
                <a:solidFill>
                  <a:schemeClr val="bg1"/>
                </a:solidFill>
              </a:rPr>
              <a:t>implementato ad-hoc</a:t>
            </a:r>
            <a:r>
              <a:rPr lang="en-US" sz="2100" dirty="0">
                <a:solidFill>
                  <a:schemeClr val="bg2"/>
                </a:solidFill>
              </a:rPr>
              <a:t> per l’applicazione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soltanto il </a:t>
            </a:r>
            <a:r>
              <a:rPr lang="en-US" sz="2100" b="1" dirty="0">
                <a:solidFill>
                  <a:schemeClr val="bg1"/>
                </a:solidFill>
              </a:rPr>
              <a:t>programmatore</a:t>
            </a:r>
            <a:r>
              <a:rPr lang="en-US" sz="2100" dirty="0">
                <a:solidFill>
                  <a:schemeClr val="bg2"/>
                </a:solidFill>
              </a:rPr>
              <a:t> sa</a:t>
            </a:r>
            <a:endParaRPr lang="en-US" sz="21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800" dirty="0">
                <a:solidFill>
                  <a:schemeClr val="bg2"/>
                </a:solidFill>
              </a:rPr>
              <a:t>come è </a:t>
            </a:r>
            <a:r>
              <a:rPr lang="en-US" sz="1800" b="1" dirty="0">
                <a:solidFill>
                  <a:schemeClr val="bg1"/>
                </a:solidFill>
              </a:rPr>
              <a:t>organizzato</a:t>
            </a:r>
            <a:endParaRPr lang="en-US" sz="2100" dirty="0"/>
          </a:p>
          <a:p>
            <a:pPr lvl="2" marL="685800" indent="-228600">
              <a:spcAft>
                <a:spcPts val="400"/>
              </a:spcAft>
              <a:buSzPct val="100000"/>
              <a:buChar char="–"/>
            </a:pPr>
            <a:r>
              <a:rPr lang="en-US" sz="1800" b="1" dirty="0">
                <a:solidFill>
                  <a:schemeClr val="bg1"/>
                </a:solidFill>
              </a:rPr>
              <a:t>non</a:t>
            </a:r>
            <a:r>
              <a:rPr lang="en-US" sz="1800" dirty="0">
                <a:solidFill>
                  <a:schemeClr val="bg2"/>
                </a:solidFill>
              </a:rPr>
              <a:t> segue uno </a:t>
            </a:r>
            <a:r>
              <a:rPr lang="en-US" sz="1800" b="1" dirty="0">
                <a:solidFill>
                  <a:schemeClr val="bg1"/>
                </a:solidFill>
              </a:rPr>
              <a:t>schema standard</a:t>
            </a:r>
            <a:endParaRPr lang="en-US" sz="21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800" dirty="0">
                <a:solidFill>
                  <a:schemeClr val="bg2"/>
                </a:solidFill>
              </a:rPr>
              <a:t>come </a:t>
            </a:r>
            <a:r>
              <a:rPr lang="en-US" sz="1800" b="1" dirty="0">
                <a:solidFill>
                  <a:schemeClr val="bg1"/>
                </a:solidFill>
              </a:rPr>
              <a:t>prendere</a:t>
            </a:r>
            <a:r>
              <a:rPr lang="en-US" sz="1800" dirty="0">
                <a:solidFill>
                  <a:schemeClr val="bg2"/>
                </a:solidFill>
              </a:rPr>
              <a:t> i </a:t>
            </a:r>
            <a:r>
              <a:rPr lang="en-US" sz="1800" b="1" dirty="0">
                <a:solidFill>
                  <a:schemeClr val="bg1"/>
                </a:solidFill>
              </a:rPr>
              <a:t>dati</a:t>
            </a:r>
            <a:endParaRPr lang="en-US" sz="2100" dirty="0"/>
          </a:p>
          <a:p>
            <a:pPr lvl="2" marL="685800" indent="-228600">
              <a:spcAft>
                <a:spcPts val="400"/>
              </a:spcAft>
              <a:buSzPct val="100000"/>
              <a:buChar char="–"/>
            </a:pPr>
            <a:r>
              <a:rPr lang="en-US" sz="1800" b="1" dirty="0">
                <a:solidFill>
                  <a:schemeClr val="bg1"/>
                </a:solidFill>
              </a:rPr>
              <a:t>non</a:t>
            </a:r>
            <a:r>
              <a:rPr lang="en-US" sz="1800" dirty="0">
                <a:solidFill>
                  <a:schemeClr val="bg2"/>
                </a:solidFill>
              </a:rPr>
              <a:t> utilizza un “</a:t>
            </a:r>
            <a:r>
              <a:rPr lang="en-US" sz="1800" b="1" dirty="0">
                <a:solidFill>
                  <a:schemeClr val="bg1"/>
                </a:solidFill>
              </a:rPr>
              <a:t>linguaggio standard</a:t>
            </a:r>
            <a:r>
              <a:rPr lang="en-US" sz="1800" dirty="0">
                <a:solidFill>
                  <a:schemeClr val="bg2"/>
                </a:solidFill>
              </a:rPr>
              <a:t>” di </a:t>
            </a:r>
            <a:r>
              <a:rPr lang="en-US" sz="1800" b="1" dirty="0">
                <a:solidFill>
                  <a:schemeClr val="bg1"/>
                </a:solidFill>
              </a:rPr>
              <a:t>interrogazione</a:t>
            </a:r>
            <a:endParaRPr lang="en-US" sz="21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chemeClr val="bg2"/>
                </a:solidFill>
              </a:rPr>
              <a:t>Un DataBase Management System (DBMS) si mette </a:t>
            </a:r>
            <a:r>
              <a:rPr lang="en-US" sz="2100" b="1" dirty="0">
                <a:solidFill>
                  <a:schemeClr val="bg1"/>
                </a:solidFill>
              </a:rPr>
              <a:t>tra</a:t>
            </a:r>
            <a:r>
              <a:rPr lang="en-US" sz="2100" dirty="0">
                <a:solidFill>
                  <a:schemeClr val="bg2"/>
                </a:solidFill>
              </a:rPr>
              <a:t> il </a:t>
            </a:r>
            <a:r>
              <a:rPr lang="en-US" sz="2100" b="1" dirty="0">
                <a:solidFill>
                  <a:schemeClr val="bg1"/>
                </a:solidFill>
              </a:rPr>
              <a:t>software</a:t>
            </a:r>
            <a:r>
              <a:rPr lang="en-US" sz="2100" dirty="0">
                <a:solidFill>
                  <a:schemeClr val="bg2"/>
                </a:solidFill>
              </a:rPr>
              <a:t> e il supporto di </a:t>
            </a:r>
            <a:r>
              <a:rPr lang="en-US" sz="2100" b="1" dirty="0">
                <a:solidFill>
                  <a:schemeClr val="bg1"/>
                </a:solidFill>
              </a:rPr>
              <a:t>archiviazione</a:t>
            </a:r>
            <a:r>
              <a:rPr lang="en-US" sz="2100" dirty="0">
                <a:solidFill>
                  <a:schemeClr val="bg2"/>
                </a:solidFill>
              </a:rPr>
              <a:t> (locale o remoto):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consente di </a:t>
            </a:r>
            <a:r>
              <a:rPr lang="en-US" sz="2100" b="1" dirty="0">
                <a:solidFill>
                  <a:schemeClr val="bg1"/>
                </a:solidFill>
              </a:rPr>
              <a:t>svincolarsi</a:t>
            </a:r>
            <a:r>
              <a:rPr lang="en-US" sz="2100" dirty="0">
                <a:solidFill>
                  <a:schemeClr val="bg2"/>
                </a:solidFill>
              </a:rPr>
              <a:t> dal </a:t>
            </a:r>
            <a:r>
              <a:rPr lang="en-US" sz="2100" b="1" dirty="0">
                <a:solidFill>
                  <a:schemeClr val="bg1"/>
                </a:solidFill>
              </a:rPr>
              <a:t>programmatore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consente ai </a:t>
            </a:r>
            <a:r>
              <a:rPr lang="en-US" sz="2100" b="1" dirty="0">
                <a:solidFill>
                  <a:schemeClr val="bg1"/>
                </a:solidFill>
              </a:rPr>
              <a:t>programmatori</a:t>
            </a:r>
            <a:r>
              <a:rPr lang="en-US" sz="2100" dirty="0">
                <a:solidFill>
                  <a:schemeClr val="bg2"/>
                </a:solidFill>
              </a:rPr>
              <a:t> di </a:t>
            </a:r>
            <a:r>
              <a:rPr lang="en-US" sz="2100" b="1" dirty="0">
                <a:solidFill>
                  <a:schemeClr val="bg1"/>
                </a:solidFill>
              </a:rPr>
              <a:t>svincolarsi</a:t>
            </a:r>
            <a:r>
              <a:rPr lang="en-US" sz="2100" dirty="0">
                <a:solidFill>
                  <a:schemeClr val="bg2"/>
                </a:solidFill>
              </a:rPr>
              <a:t> dai </a:t>
            </a:r>
            <a:r>
              <a:rPr lang="en-US" sz="2100" b="1" dirty="0">
                <a:solidFill>
                  <a:schemeClr val="bg1"/>
                </a:solidFill>
              </a:rPr>
              <a:t>file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segue </a:t>
            </a:r>
            <a:r>
              <a:rPr lang="en-US" sz="2100" b="1" dirty="0">
                <a:solidFill>
                  <a:schemeClr val="bg1"/>
                </a:solidFill>
              </a:rPr>
              <a:t>schemi</a:t>
            </a:r>
            <a:r>
              <a:rPr lang="en-US" sz="2100" dirty="0">
                <a:solidFill>
                  <a:schemeClr val="bg2"/>
                </a:solidFill>
              </a:rPr>
              <a:t> di rappresentazione e </a:t>
            </a:r>
            <a:r>
              <a:rPr lang="en-US" sz="2100" b="1" dirty="0">
                <a:solidFill>
                  <a:schemeClr val="bg1"/>
                </a:solidFill>
              </a:rPr>
              <a:t>linguaggi</a:t>
            </a:r>
            <a:r>
              <a:rPr lang="en-US" sz="2100" dirty="0">
                <a:solidFill>
                  <a:schemeClr val="bg2"/>
                </a:solidFill>
              </a:rPr>
              <a:t> di interrogazione </a:t>
            </a:r>
            <a:r>
              <a:rPr lang="en-US" sz="2100" b="1" dirty="0">
                <a:solidFill>
                  <a:schemeClr val="bg1"/>
                </a:solidFill>
              </a:rPr>
              <a:t>standard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Database e DBMS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7016191" cy="421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Un </a:t>
            </a:r>
            <a:r>
              <a:rPr lang="en-US" sz="2300" b="1" dirty="0">
                <a:solidFill>
                  <a:schemeClr val="bg1"/>
                </a:solidFill>
              </a:rPr>
              <a:t>Database</a:t>
            </a:r>
            <a:r>
              <a:rPr lang="en-US" sz="2300" dirty="0">
                <a:solidFill>
                  <a:schemeClr val="bg2"/>
                </a:solidFill>
              </a:rPr>
              <a:t> è una </a:t>
            </a:r>
            <a:r>
              <a:rPr lang="en-US" sz="2300" b="1" dirty="0">
                <a:solidFill>
                  <a:schemeClr val="bg1"/>
                </a:solidFill>
              </a:rPr>
              <a:t>raccolta</a:t>
            </a:r>
            <a:r>
              <a:rPr lang="en-US" sz="2300" dirty="0">
                <a:solidFill>
                  <a:schemeClr val="bg2"/>
                </a:solidFill>
              </a:rPr>
              <a:t> di dati: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omogenei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logicamente </a:t>
            </a:r>
            <a:r>
              <a:rPr lang="en-US" sz="2300" b="1" dirty="0">
                <a:solidFill>
                  <a:schemeClr val="bg1"/>
                </a:solidFill>
              </a:rPr>
              <a:t>correlati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che </a:t>
            </a:r>
            <a:r>
              <a:rPr lang="en-US" sz="2300" b="1" dirty="0">
                <a:solidFill>
                  <a:schemeClr val="bg1"/>
                </a:solidFill>
              </a:rPr>
              <a:t>modellano</a:t>
            </a:r>
            <a:r>
              <a:rPr lang="en-US" sz="2300" dirty="0">
                <a:solidFill>
                  <a:schemeClr val="bg2"/>
                </a:solidFill>
              </a:rPr>
              <a:t> una </a:t>
            </a:r>
            <a:r>
              <a:rPr lang="en-US" sz="2300" b="1" dirty="0">
                <a:solidFill>
                  <a:schemeClr val="bg1"/>
                </a:solidFill>
              </a:rPr>
              <a:t>realtà</a:t>
            </a:r>
            <a:r>
              <a:rPr lang="en-US" sz="2300" dirty="0">
                <a:solidFill>
                  <a:schemeClr val="bg2"/>
                </a:solidFill>
              </a:rPr>
              <a:t> di interesse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conservati</a:t>
            </a:r>
            <a:r>
              <a:rPr lang="en-US" sz="2300" dirty="0">
                <a:solidFill>
                  <a:schemeClr val="bg2"/>
                </a:solidFill>
              </a:rPr>
              <a:t> su </a:t>
            </a:r>
            <a:r>
              <a:rPr lang="en-US" sz="2300" b="1" dirty="0">
                <a:solidFill>
                  <a:schemeClr val="bg1"/>
                </a:solidFill>
              </a:rPr>
              <a:t>supporto</a:t>
            </a:r>
            <a:r>
              <a:rPr lang="en-US" sz="2300" dirty="0">
                <a:solidFill>
                  <a:schemeClr val="bg2"/>
                </a:solidFill>
              </a:rPr>
              <a:t> di </a:t>
            </a:r>
            <a:r>
              <a:rPr lang="en-US" sz="2300" b="1" dirty="0">
                <a:solidFill>
                  <a:schemeClr val="bg1"/>
                </a:solidFill>
              </a:rPr>
              <a:t>archiviazione</a:t>
            </a:r>
            <a:endParaRPr lang="en-US" sz="23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Un DBMS è quindi un sistema </a:t>
            </a:r>
            <a:r>
              <a:rPr lang="en-US" sz="2300" b="1" dirty="0">
                <a:solidFill>
                  <a:schemeClr val="bg1"/>
                </a:solidFill>
              </a:rPr>
              <a:t>complesso</a:t>
            </a:r>
            <a:r>
              <a:rPr lang="en-US" sz="2300" dirty="0">
                <a:solidFill>
                  <a:schemeClr val="bg2"/>
                </a:solidFill>
              </a:rPr>
              <a:t> capace di </a:t>
            </a:r>
            <a:r>
              <a:rPr lang="en-US" sz="2300" b="1" dirty="0">
                <a:solidFill>
                  <a:schemeClr val="bg1"/>
                </a:solidFill>
              </a:rPr>
              <a:t>gestire</a:t>
            </a:r>
            <a:r>
              <a:rPr lang="en-US" sz="2300" dirty="0">
                <a:solidFill>
                  <a:schemeClr val="bg2"/>
                </a:solidFill>
              </a:rPr>
              <a:t> collezioni di </a:t>
            </a:r>
            <a:r>
              <a:rPr lang="en-US" sz="2300" b="1" dirty="0">
                <a:solidFill>
                  <a:schemeClr val="bg1"/>
                </a:solidFill>
              </a:rPr>
              <a:t>dati</a:t>
            </a:r>
            <a:r>
              <a:rPr lang="en-US" sz="2300" dirty="0">
                <a:solidFill>
                  <a:schemeClr val="bg2"/>
                </a:solidFill>
              </a:rPr>
              <a:t> (database):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grandi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persistenti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condivise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8207959" y="1783080"/>
            <a:ext cx="3121152" cy="457200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Applicazioni e utenti, DBMS e 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7687" y="1892808"/>
            <a:ext cx="2901696" cy="43525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DBMS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4566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Un DBMS deve gestire le operazioni sui dati in modo </a:t>
            </a:r>
            <a:r>
              <a:rPr lang="en-US" sz="2300" b="1" dirty="0">
                <a:solidFill>
                  <a:schemeClr val="bg1"/>
                </a:solidFill>
              </a:rPr>
              <a:t>efficace</a:t>
            </a:r>
            <a:r>
              <a:rPr lang="en-US" sz="2300" dirty="0">
                <a:solidFill>
                  <a:schemeClr val="bg2"/>
                </a:solidFill>
              </a:rPr>
              <a:t>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accesso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b="1" dirty="0">
                <a:solidFill>
                  <a:schemeClr val="bg1"/>
                </a:solidFill>
              </a:rPr>
              <a:t>concorrente</a:t>
            </a:r>
            <a:r>
              <a:rPr lang="en-US" sz="2000" dirty="0">
                <a:solidFill>
                  <a:schemeClr val="bg2"/>
                </a:solidFill>
              </a:rPr>
              <a:t> tra più applicazioni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meccanismi per </a:t>
            </a:r>
            <a:r>
              <a:rPr lang="en-US" sz="2000" b="1" dirty="0">
                <a:solidFill>
                  <a:schemeClr val="bg1"/>
                </a:solidFill>
              </a:rPr>
              <a:t>permessi</a:t>
            </a:r>
            <a:r>
              <a:rPr lang="en-US" sz="2000" dirty="0">
                <a:solidFill>
                  <a:schemeClr val="bg2"/>
                </a:solidFill>
              </a:rPr>
              <a:t> e </a:t>
            </a:r>
            <a:r>
              <a:rPr lang="en-US" sz="2000" b="1" dirty="0">
                <a:solidFill>
                  <a:schemeClr val="bg1"/>
                </a:solidFill>
              </a:rPr>
              <a:t>priorità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affidabilità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garantire </a:t>
            </a:r>
            <a:r>
              <a:rPr lang="en-US" sz="2000" b="1" dirty="0">
                <a:solidFill>
                  <a:schemeClr val="bg1"/>
                </a:solidFill>
              </a:rPr>
              <a:t>l’integrità</a:t>
            </a:r>
            <a:r>
              <a:rPr lang="en-US" sz="2000" dirty="0">
                <a:solidFill>
                  <a:schemeClr val="bg2"/>
                </a:solidFill>
              </a:rPr>
              <a:t> dei dati</a:t>
            </a:r>
            <a:endParaRPr lang="en-US" sz="2300" dirty="0"/>
          </a:p>
          <a:p>
            <a:pPr lvl="2" marL="6858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meccanismi di </a:t>
            </a:r>
            <a:r>
              <a:rPr lang="en-US" sz="2000" b="1" dirty="0">
                <a:solidFill>
                  <a:schemeClr val="bg1"/>
                </a:solidFill>
              </a:rPr>
              <a:t>ridondanza</a:t>
            </a:r>
            <a:r>
              <a:rPr lang="en-US" sz="2000" dirty="0">
                <a:solidFill>
                  <a:schemeClr val="bg2"/>
                </a:solidFill>
              </a:rPr>
              <a:t> e/o </a:t>
            </a:r>
            <a:r>
              <a:rPr lang="en-US" sz="2000" b="1" dirty="0">
                <a:solidFill>
                  <a:schemeClr val="bg1"/>
                </a:solidFill>
              </a:rPr>
              <a:t>backup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b="1" dirty="0">
                <a:solidFill>
                  <a:schemeClr val="bg1"/>
                </a:solidFill>
              </a:rPr>
              <a:t>consistenza</a:t>
            </a:r>
            <a:r>
              <a:rPr lang="en-US" sz="2000" dirty="0">
                <a:solidFill>
                  <a:schemeClr val="bg2"/>
                </a:solidFill>
              </a:rPr>
              <a:t> (coerenza) dei dati tra diverse sezioni del database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efficienza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b="1" dirty="0">
                <a:solidFill>
                  <a:schemeClr val="bg1"/>
                </a:solidFill>
              </a:rPr>
              <a:t>tempo</a:t>
            </a:r>
            <a:r>
              <a:rPr lang="en-US" sz="2000" dirty="0">
                <a:solidFill>
                  <a:schemeClr val="bg2"/>
                </a:solidFill>
              </a:rPr>
              <a:t> di risposta </a:t>
            </a:r>
            <a:r>
              <a:rPr lang="en-US" sz="2000" b="1" dirty="0">
                <a:solidFill>
                  <a:schemeClr val="bg1"/>
                </a:solidFill>
              </a:rPr>
              <a:t>basso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b="1" dirty="0">
                <a:solidFill>
                  <a:schemeClr val="bg1"/>
                </a:solidFill>
              </a:rPr>
              <a:t>scalabilità</a:t>
            </a:r>
            <a:endParaRPr lang="en-US" sz="2300" dirty="0"/>
          </a:p>
          <a:p>
            <a:pPr lvl="2" marL="6858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le </a:t>
            </a:r>
            <a:r>
              <a:rPr lang="en-US" sz="2000" b="1" dirty="0">
                <a:solidFill>
                  <a:schemeClr val="bg1"/>
                </a:solidFill>
              </a:rPr>
              <a:t>dimensioni</a:t>
            </a:r>
            <a:r>
              <a:rPr lang="en-US" sz="2000" dirty="0">
                <a:solidFill>
                  <a:schemeClr val="bg2"/>
                </a:solidFill>
              </a:rPr>
              <a:t> dei DB possono essere di gran lunga </a:t>
            </a:r>
            <a:r>
              <a:rPr lang="en-US" sz="2000" b="1" dirty="0">
                <a:solidFill>
                  <a:schemeClr val="bg1"/>
                </a:solidFill>
              </a:rPr>
              <a:t>maggiori</a:t>
            </a:r>
            <a:r>
              <a:rPr lang="en-US" sz="2000" dirty="0">
                <a:solidFill>
                  <a:schemeClr val="bg2"/>
                </a:solidFill>
              </a:rPr>
              <a:t> di quelle della </a:t>
            </a:r>
            <a:r>
              <a:rPr lang="en-US" sz="2000" b="1" dirty="0">
                <a:solidFill>
                  <a:schemeClr val="bg1"/>
                </a:solidFill>
              </a:rPr>
              <a:t>RAM</a:t>
            </a:r>
            <a:r>
              <a:rPr lang="en-US" sz="2000" dirty="0">
                <a:solidFill>
                  <a:schemeClr val="bg2"/>
                </a:solidFill>
              </a:rPr>
              <a:t>!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Organizzazione del DBMS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4754880" cy="3786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Per ottenere tali proprietà, un DBMS supporta diverse modalità di </a:t>
            </a:r>
            <a:r>
              <a:rPr lang="en-US" sz="2300" b="1" dirty="0">
                <a:solidFill>
                  <a:schemeClr val="bg1"/>
                </a:solidFill>
              </a:rPr>
              <a:t>gestione</a:t>
            </a:r>
            <a:r>
              <a:rPr lang="en-US" sz="2300" dirty="0">
                <a:solidFill>
                  <a:schemeClr val="bg2"/>
                </a:solidFill>
              </a:rPr>
              <a:t> dei </a:t>
            </a:r>
            <a:r>
              <a:rPr lang="en-US" sz="2300" b="1" dirty="0">
                <a:solidFill>
                  <a:schemeClr val="bg1"/>
                </a:solidFill>
              </a:rPr>
              <a:t>dati</a:t>
            </a:r>
            <a:r>
              <a:rPr lang="en-US" sz="2300" dirty="0">
                <a:solidFill>
                  <a:schemeClr val="bg2"/>
                </a:solidFill>
              </a:rPr>
              <a:t> con: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strutture </a:t>
            </a:r>
            <a:r>
              <a:rPr lang="en-US" sz="2300" b="1" dirty="0">
                <a:solidFill>
                  <a:schemeClr val="bg1"/>
                </a:solidFill>
              </a:rPr>
              <a:t>sequenziali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file di </a:t>
            </a:r>
            <a:r>
              <a:rPr lang="en-US" sz="2000" b="1" dirty="0">
                <a:solidFill>
                  <a:schemeClr val="bg1"/>
                </a:solidFill>
              </a:rPr>
              <a:t>testo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file </a:t>
            </a:r>
            <a:r>
              <a:rPr lang="en-US" sz="2000" b="1" dirty="0">
                <a:solidFill>
                  <a:schemeClr val="bg1"/>
                </a:solidFill>
              </a:rPr>
              <a:t>binari</a:t>
            </a:r>
            <a:r>
              <a:rPr lang="en-US" sz="2000" dirty="0">
                <a:solidFill>
                  <a:schemeClr val="bg2"/>
                </a:solidFill>
              </a:rPr>
              <a:t> di “</a:t>
            </a:r>
            <a:r>
              <a:rPr lang="en-US" sz="2000" b="1" dirty="0">
                <a:solidFill>
                  <a:schemeClr val="bg1"/>
                </a:solidFill>
              </a:rPr>
              <a:t>record</a:t>
            </a:r>
            <a:r>
              <a:rPr lang="en-US" sz="2000" dirty="0">
                <a:solidFill>
                  <a:schemeClr val="bg2"/>
                </a:solidFill>
              </a:rPr>
              <a:t>”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strutture </a:t>
            </a:r>
            <a:r>
              <a:rPr lang="en-US" sz="2300" b="1" dirty="0">
                <a:solidFill>
                  <a:schemeClr val="bg1"/>
                </a:solidFill>
              </a:rPr>
              <a:t>indicizzate</a:t>
            </a:r>
            <a:r>
              <a:rPr lang="en-US" sz="2300" dirty="0">
                <a:solidFill>
                  <a:schemeClr val="bg2"/>
                </a:solidFill>
              </a:rPr>
              <a:t> (accesso veloce tramite “chiave”)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b="1" dirty="0">
                <a:solidFill>
                  <a:schemeClr val="bg1"/>
                </a:solidFill>
              </a:rPr>
              <a:t>hash</a:t>
            </a:r>
            <a:r>
              <a:rPr lang="en-US" sz="2000" dirty="0">
                <a:solidFill>
                  <a:schemeClr val="bg2"/>
                </a:solidFill>
              </a:rPr>
              <a:t> map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b="1" dirty="0">
                <a:solidFill>
                  <a:schemeClr val="bg1"/>
                </a:solidFill>
              </a:rPr>
              <a:t>alberi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680656" y="1783080"/>
            <a:ext cx="3914446" cy="2044886"/>
          </a:xfrm>
          <a:prstGeom prst="roundRect">
            <a:avLst>
              <a:gd name="adj" fmla="val 62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Hash map: chiavi, indici e rec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0384" y="1892808"/>
            <a:ext cx="3694990" cy="18254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81348" y="4065710"/>
            <a:ext cx="2713063" cy="2289370"/>
          </a:xfrm>
          <a:prstGeom prst="roundRect">
            <a:avLst>
              <a:gd name="adj" fmla="val 55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Albero binario di rice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076" y="4175438"/>
            <a:ext cx="2493607" cy="206991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Architettura dei Database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bg1"/>
                </a:solidFill>
              </a:rPr>
              <a:t>Disaccoppiando</a:t>
            </a:r>
            <a:r>
              <a:rPr lang="en-US" sz="2100" dirty="0">
                <a:solidFill>
                  <a:schemeClr val="bg2"/>
                </a:solidFill>
              </a:rPr>
              <a:t> la </a:t>
            </a:r>
            <a:r>
              <a:rPr lang="en-US" sz="2100" b="1" dirty="0">
                <a:solidFill>
                  <a:schemeClr val="bg1"/>
                </a:solidFill>
              </a:rPr>
              <a:t>logica</a:t>
            </a:r>
            <a:r>
              <a:rPr lang="en-US" sz="2100" dirty="0">
                <a:solidFill>
                  <a:schemeClr val="bg2"/>
                </a:solidFill>
              </a:rPr>
              <a:t> di gestione dei dati dalle applicazioni, per un </a:t>
            </a:r>
            <a:r>
              <a:rPr lang="en-US" sz="2100" b="1" dirty="0">
                <a:solidFill>
                  <a:schemeClr val="bg1"/>
                </a:solidFill>
              </a:rPr>
              <a:t>software</a:t>
            </a:r>
            <a:r>
              <a:rPr lang="en-US" sz="2100" dirty="0">
                <a:solidFill>
                  <a:schemeClr val="bg2"/>
                </a:solidFill>
              </a:rPr>
              <a:t> non sarà importante </a:t>
            </a:r>
            <a:r>
              <a:rPr lang="en-US" sz="2100" b="1" dirty="0">
                <a:solidFill>
                  <a:schemeClr val="bg1"/>
                </a:solidFill>
              </a:rPr>
              <a:t>dove</a:t>
            </a:r>
            <a:r>
              <a:rPr lang="en-US" sz="2100" dirty="0">
                <a:solidFill>
                  <a:schemeClr val="bg2"/>
                </a:solidFill>
              </a:rPr>
              <a:t> si trova il </a:t>
            </a:r>
            <a:r>
              <a:rPr lang="en-US" sz="2100" b="1" dirty="0">
                <a:solidFill>
                  <a:schemeClr val="bg1"/>
                </a:solidFill>
              </a:rPr>
              <a:t>DBMS</a:t>
            </a:r>
            <a:r>
              <a:rPr lang="en-US" sz="2100" dirty="0">
                <a:solidFill>
                  <a:schemeClr val="bg2"/>
                </a:solidFill>
              </a:rPr>
              <a:t> (a patto che sia accessibile)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75204"/>
            <a:ext cx="6924751" cy="3417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DBMS sul </a:t>
            </a:r>
            <a:r>
              <a:rPr lang="en-US" sz="2100" b="1" dirty="0">
                <a:solidFill>
                  <a:schemeClr val="bg1"/>
                </a:solidFill>
              </a:rPr>
              <a:t>client</a:t>
            </a:r>
            <a:endParaRPr lang="en-US" sz="21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800" dirty="0">
                <a:solidFill>
                  <a:schemeClr val="bg2"/>
                </a:solidFill>
              </a:rPr>
              <a:t>tempi di </a:t>
            </a:r>
            <a:r>
              <a:rPr lang="en-US" sz="1800" b="1" dirty="0">
                <a:solidFill>
                  <a:schemeClr val="bg1"/>
                </a:solidFill>
              </a:rPr>
              <a:t>risposta bassi</a:t>
            </a:r>
            <a:endParaRPr lang="en-US" sz="21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800" dirty="0">
                <a:solidFill>
                  <a:schemeClr val="bg2"/>
                </a:solidFill>
              </a:rPr>
              <a:t>più </a:t>
            </a:r>
            <a:r>
              <a:rPr lang="en-US" sz="1800" b="1" dirty="0">
                <a:solidFill>
                  <a:schemeClr val="bg1"/>
                </a:solidFill>
              </a:rPr>
              <a:t>economico</a:t>
            </a:r>
            <a:r>
              <a:rPr lang="en-US" sz="1800" dirty="0">
                <a:solidFill>
                  <a:schemeClr val="bg2"/>
                </a:solidFill>
              </a:rPr>
              <a:t> (a breve termine)</a:t>
            </a:r>
            <a:endParaRPr lang="en-US" sz="21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800" dirty="0">
                <a:solidFill>
                  <a:schemeClr val="bg2"/>
                </a:solidFill>
              </a:rPr>
              <a:t>scarsa </a:t>
            </a:r>
            <a:r>
              <a:rPr lang="en-US" sz="1800" b="1" dirty="0">
                <a:solidFill>
                  <a:schemeClr val="bg1"/>
                </a:solidFill>
              </a:rPr>
              <a:t>scalabilità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DBMS su </a:t>
            </a:r>
            <a:r>
              <a:rPr lang="en-US" sz="2100" b="1" dirty="0">
                <a:solidFill>
                  <a:schemeClr val="bg1"/>
                </a:solidFill>
              </a:rPr>
              <a:t>server</a:t>
            </a:r>
            <a:r>
              <a:rPr lang="en-US" sz="2100" dirty="0">
                <a:solidFill>
                  <a:schemeClr val="bg2"/>
                </a:solidFill>
              </a:rPr>
              <a:t> dedicato (rete locale o remoto)</a:t>
            </a:r>
            <a:endParaRPr lang="en-US" sz="21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800" dirty="0">
                <a:solidFill>
                  <a:schemeClr val="bg2"/>
                </a:solidFill>
              </a:rPr>
              <a:t>stessi </a:t>
            </a:r>
            <a:r>
              <a:rPr lang="en-US" sz="1800" b="1" dirty="0">
                <a:solidFill>
                  <a:schemeClr val="bg1"/>
                </a:solidFill>
              </a:rPr>
              <a:t>dati accessibili</a:t>
            </a:r>
            <a:r>
              <a:rPr lang="en-US" sz="1800" dirty="0">
                <a:solidFill>
                  <a:schemeClr val="bg2"/>
                </a:solidFill>
              </a:rPr>
              <a:t> facilmente da </a:t>
            </a:r>
            <a:r>
              <a:rPr lang="en-US" sz="1800" b="1" dirty="0">
                <a:solidFill>
                  <a:schemeClr val="bg1"/>
                </a:solidFill>
              </a:rPr>
              <a:t>più applicazioni</a:t>
            </a:r>
            <a:endParaRPr lang="en-US" sz="2100" dirty="0"/>
          </a:p>
          <a:p>
            <a:pPr lvl="2" marL="685800" indent="-228600">
              <a:spcAft>
                <a:spcPts val="400"/>
              </a:spcAft>
              <a:buSzPct val="100000"/>
              <a:buChar char="–"/>
            </a:pPr>
            <a:r>
              <a:rPr lang="en-US" sz="1800" dirty="0">
                <a:solidFill>
                  <a:schemeClr val="bg2"/>
                </a:solidFill>
              </a:rPr>
              <a:t>tengo tutte le </a:t>
            </a:r>
            <a:r>
              <a:rPr lang="en-US" sz="1800" b="1" dirty="0">
                <a:solidFill>
                  <a:schemeClr val="bg1"/>
                </a:solidFill>
              </a:rPr>
              <a:t>informazioni</a:t>
            </a:r>
            <a:r>
              <a:rPr lang="en-US" sz="1800" dirty="0">
                <a:solidFill>
                  <a:schemeClr val="bg2"/>
                </a:solidFill>
              </a:rPr>
              <a:t> nello </a:t>
            </a:r>
            <a:r>
              <a:rPr lang="en-US" sz="1800" b="1" dirty="0">
                <a:solidFill>
                  <a:schemeClr val="bg1"/>
                </a:solidFill>
              </a:rPr>
              <a:t>stesso “posto”</a:t>
            </a:r>
            <a:endParaRPr lang="en-US" sz="21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800" b="1" dirty="0">
                <a:solidFill>
                  <a:schemeClr val="bg1"/>
                </a:solidFill>
              </a:rPr>
              <a:t>dipendenza</a:t>
            </a:r>
            <a:r>
              <a:rPr lang="en-US" sz="1800" dirty="0">
                <a:solidFill>
                  <a:schemeClr val="bg2"/>
                </a:solidFill>
              </a:rPr>
              <a:t> dalla </a:t>
            </a:r>
            <a:r>
              <a:rPr lang="en-US" sz="1800" b="1" dirty="0">
                <a:solidFill>
                  <a:schemeClr val="bg1"/>
                </a:solidFill>
              </a:rPr>
              <a:t>rete</a:t>
            </a:r>
            <a:r>
              <a:rPr lang="en-US" sz="1800" dirty="0">
                <a:solidFill>
                  <a:schemeClr val="bg2"/>
                </a:solidFill>
              </a:rPr>
              <a:t> (internet o lan)</a:t>
            </a:r>
            <a:endParaRPr lang="en-US" sz="21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800" dirty="0">
                <a:solidFill>
                  <a:schemeClr val="bg2"/>
                </a:solidFill>
              </a:rPr>
              <a:t>possibili </a:t>
            </a:r>
            <a:r>
              <a:rPr lang="en-US" sz="1800" b="1" dirty="0">
                <a:solidFill>
                  <a:schemeClr val="bg1"/>
                </a:solidFill>
              </a:rPr>
              <a:t>problemi</a:t>
            </a:r>
            <a:r>
              <a:rPr lang="en-US" sz="1800" dirty="0">
                <a:solidFill>
                  <a:schemeClr val="bg2"/>
                </a:solidFill>
              </a:rPr>
              <a:t> di </a:t>
            </a:r>
            <a:r>
              <a:rPr lang="en-US" sz="1800" b="1" dirty="0">
                <a:solidFill>
                  <a:schemeClr val="bg1"/>
                </a:solidFill>
              </a:rPr>
              <a:t>sicurezza</a:t>
            </a:r>
            <a:endParaRPr lang="en-US" sz="21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800" dirty="0">
                <a:solidFill>
                  <a:schemeClr val="bg2"/>
                </a:solidFill>
              </a:rPr>
              <a:t>maggior </a:t>
            </a:r>
            <a:r>
              <a:rPr lang="en-US" sz="1800" b="1" dirty="0">
                <a:solidFill>
                  <a:schemeClr val="bg1"/>
                </a:solidFill>
              </a:rPr>
              <a:t>latenza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148289" y="2775204"/>
            <a:ext cx="3149053" cy="3579876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lient collegati via LAN a un server con DBMS e 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8017" y="2884932"/>
            <a:ext cx="2929597" cy="33604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Progettazione basi di dati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41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Analisi della realtà di interesse: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434336"/>
            <a:ext cx="3566160" cy="3260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Specifiche</a:t>
            </a:r>
            <a:r>
              <a:rPr lang="en-US" sz="2000" dirty="0">
                <a:solidFill>
                  <a:schemeClr val="bg2"/>
                </a:solidFill>
              </a:rPr>
              <a:t> sulle funzioni (ling. naturale)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Analisi</a:t>
            </a:r>
            <a:r>
              <a:rPr lang="en-US" sz="2000" dirty="0">
                <a:solidFill>
                  <a:schemeClr val="bg2"/>
                </a:solidFill>
              </a:rPr>
              <a:t> delle funzioni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Specifiche formali</a:t>
            </a:r>
            <a:r>
              <a:rPr lang="en-US" sz="2000" dirty="0">
                <a:solidFill>
                  <a:schemeClr val="bg2"/>
                </a:solidFill>
              </a:rPr>
              <a:t> delle </a:t>
            </a:r>
            <a:r>
              <a:rPr lang="en-US" sz="2000" b="1" dirty="0">
                <a:solidFill>
                  <a:schemeClr val="bg1"/>
                </a:solidFill>
              </a:rPr>
              <a:t>funzioni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Progetto</a:t>
            </a:r>
            <a:r>
              <a:rPr lang="en-US" sz="2000" dirty="0">
                <a:solidFill>
                  <a:schemeClr val="bg2"/>
                </a:solidFill>
              </a:rPr>
              <a:t> delle </a:t>
            </a:r>
            <a:r>
              <a:rPr lang="en-US" sz="2000" b="1" dirty="0">
                <a:solidFill>
                  <a:schemeClr val="bg1"/>
                </a:solidFill>
              </a:rPr>
              <a:t>funzioni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Pseudocodice</a:t>
            </a:r>
            <a:endParaRPr lang="en-US" sz="20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1"/>
                </a:solidFill>
              </a:rPr>
              <a:t>Focus sulla </a:t>
            </a:r>
            <a:r>
              <a:rPr lang="en-US" sz="2000" b="1" dirty="0">
                <a:solidFill>
                  <a:schemeClr val="accent1"/>
                </a:solidFill>
              </a:rPr>
              <a:t>manipolazione</a:t>
            </a:r>
            <a:r>
              <a:rPr lang="en-US" sz="2000" dirty="0">
                <a:solidFill>
                  <a:schemeClr val="accent1"/>
                </a:solidFill>
              </a:rPr>
              <a:t> dei </a:t>
            </a:r>
            <a:r>
              <a:rPr lang="en-US" sz="2000" b="1" dirty="0">
                <a:solidFill>
                  <a:schemeClr val="accent1"/>
                </a:solidFill>
              </a:rPr>
              <a:t>dati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81144" y="2434336"/>
            <a:ext cx="3749040" cy="3684524"/>
          </a:xfrm>
          <a:prstGeom prst="roundRect">
            <a:avLst>
              <a:gd name="adj" fmla="val 3474"/>
            </a:avLst>
          </a:prstGeom>
          <a:solidFill>
            <a:schemeClr val="tx2"/>
          </a:solidFill>
          <a:ln w="15875">
            <a:solidFill>
              <a:schemeClr val="accent1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1"/>
                </a:solidFill>
              </a:rPr>
              <a:t>Progettazione DB!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Specifiche</a:t>
            </a:r>
            <a:r>
              <a:rPr lang="en-US" sz="2000" dirty="0">
                <a:solidFill>
                  <a:schemeClr val="bg1"/>
                </a:solidFill>
              </a:rPr>
              <a:t> sui dati (ling. naturale)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Analisi</a:t>
            </a:r>
            <a:r>
              <a:rPr lang="en-US" sz="2000" dirty="0">
                <a:solidFill>
                  <a:schemeClr val="bg1"/>
                </a:solidFill>
              </a:rPr>
              <a:t> dei dati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Specifiche formali</a:t>
            </a:r>
            <a:r>
              <a:rPr lang="en-US" sz="2000" dirty="0">
                <a:solidFill>
                  <a:schemeClr val="bg1"/>
                </a:solidFill>
              </a:rPr>
              <a:t> dei </a:t>
            </a:r>
            <a:r>
              <a:rPr lang="en-US" sz="2000" b="1" dirty="0">
                <a:solidFill>
                  <a:schemeClr val="accent1"/>
                </a:solidFill>
              </a:rPr>
              <a:t>dati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Progetto</a:t>
            </a:r>
            <a:r>
              <a:rPr lang="en-US" sz="2000" dirty="0">
                <a:solidFill>
                  <a:schemeClr val="bg1"/>
                </a:solidFill>
              </a:rPr>
              <a:t> dei </a:t>
            </a:r>
            <a:r>
              <a:rPr lang="en-US" sz="2000" b="1" dirty="0">
                <a:solidFill>
                  <a:schemeClr val="accent1"/>
                </a:solidFill>
              </a:rPr>
              <a:t>dati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Tabelle</a:t>
            </a:r>
            <a:endParaRPr lang="en-US" sz="20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1"/>
                </a:solidFill>
              </a:rPr>
              <a:t>Focus sulla </a:t>
            </a:r>
            <a:r>
              <a:rPr lang="en-US" sz="2000" b="1" dirty="0">
                <a:solidFill>
                  <a:schemeClr val="accent1"/>
                </a:solidFill>
              </a:rPr>
              <a:t>rappresentazione</a:t>
            </a:r>
            <a:r>
              <a:rPr lang="en-US" sz="2000" dirty="0">
                <a:solidFill>
                  <a:schemeClr val="accent1"/>
                </a:solidFill>
              </a:rPr>
              <a:t> dei </a:t>
            </a:r>
            <a:r>
              <a:rPr lang="en-US" sz="2000" b="1" dirty="0">
                <a:solidFill>
                  <a:schemeClr val="accent1"/>
                </a:solidFill>
              </a:rPr>
              <a:t>dati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59368" y="2434336"/>
            <a:ext cx="2846527" cy="3663838"/>
          </a:xfrm>
          <a:prstGeom prst="roundRect">
            <a:avLst>
              <a:gd name="adj" fmla="val 44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ogettazione concettuale, logica e fisi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9096" y="2544064"/>
            <a:ext cx="2627071" cy="344438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Progettazione basi di dati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8113471" cy="4435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bg2"/>
                </a:solidFill>
              </a:rPr>
              <a:t>Obiettivo: </a:t>
            </a:r>
            <a:r>
              <a:rPr lang="en-US" sz="1900" b="1" dirty="0">
                <a:solidFill>
                  <a:schemeClr val="bg1"/>
                </a:solidFill>
              </a:rPr>
              <a:t>rappresentazione</a:t>
            </a:r>
            <a:r>
              <a:rPr lang="en-US" sz="1900" dirty="0">
                <a:solidFill>
                  <a:schemeClr val="bg2"/>
                </a:solidFill>
              </a:rPr>
              <a:t> della realtà per gestire le informazioni in modo </a:t>
            </a:r>
            <a:r>
              <a:rPr lang="en-US" sz="1900" b="1" dirty="0">
                <a:solidFill>
                  <a:schemeClr val="bg1"/>
                </a:solidFill>
              </a:rPr>
              <a:t>efficiente</a:t>
            </a:r>
            <a:r>
              <a:rPr lang="en-US" sz="1900" dirty="0">
                <a:solidFill>
                  <a:schemeClr val="bg2"/>
                </a:solidFill>
              </a:rPr>
              <a:t> ed </a:t>
            </a:r>
            <a:r>
              <a:rPr lang="en-US" sz="1900" b="1" dirty="0">
                <a:solidFill>
                  <a:schemeClr val="bg1"/>
                </a:solidFill>
              </a:rPr>
              <a:t>efficace</a:t>
            </a:r>
            <a:endParaRPr lang="en-US" sz="19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chemeClr val="bg2"/>
                </a:solidFill>
              </a:rPr>
              <a:t>Progettazione </a:t>
            </a:r>
            <a:r>
              <a:rPr lang="en-US" sz="1900" b="1" dirty="0">
                <a:solidFill>
                  <a:schemeClr val="bg1"/>
                </a:solidFill>
              </a:rPr>
              <a:t>concettuale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2"/>
                </a:solidFill>
              </a:rPr>
              <a:t>schema o modello concettuale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2"/>
                </a:solidFill>
              </a:rPr>
              <a:t>formalismi </a:t>
            </a:r>
            <a:r>
              <a:rPr lang="en-US" sz="1650" b="1" dirty="0">
                <a:solidFill>
                  <a:schemeClr val="bg1"/>
                </a:solidFill>
              </a:rPr>
              <a:t>grafici</a:t>
            </a:r>
            <a:r>
              <a:rPr lang="en-US" sz="1650" dirty="0">
                <a:solidFill>
                  <a:schemeClr val="bg2"/>
                </a:solidFill>
              </a:rPr>
              <a:t> per esprimere </a:t>
            </a:r>
            <a:r>
              <a:rPr lang="en-US" sz="1650" b="1" dirty="0">
                <a:solidFill>
                  <a:schemeClr val="bg1"/>
                </a:solidFill>
              </a:rPr>
              <a:t>oggetti</a:t>
            </a:r>
            <a:r>
              <a:rPr lang="en-US" sz="1650" dirty="0">
                <a:solidFill>
                  <a:schemeClr val="bg2"/>
                </a:solidFill>
              </a:rPr>
              <a:t>, </a:t>
            </a:r>
            <a:r>
              <a:rPr lang="en-US" sz="1650" b="1" dirty="0">
                <a:solidFill>
                  <a:schemeClr val="bg1"/>
                </a:solidFill>
              </a:rPr>
              <a:t>proprietà</a:t>
            </a:r>
            <a:r>
              <a:rPr lang="en-US" sz="1650" dirty="0">
                <a:solidFill>
                  <a:schemeClr val="bg2"/>
                </a:solidFill>
              </a:rPr>
              <a:t> e </a:t>
            </a:r>
            <a:r>
              <a:rPr lang="en-US" sz="1650" b="1" dirty="0">
                <a:solidFill>
                  <a:schemeClr val="bg1"/>
                </a:solidFill>
              </a:rPr>
              <a:t>legami tra dati</a:t>
            </a:r>
            <a:endParaRPr lang="en-US" sz="1900" dirty="0"/>
          </a:p>
          <a:p>
            <a:pPr lvl="2" marL="685800" indent="-228600">
              <a:spcAft>
                <a:spcPts val="400"/>
              </a:spcAft>
              <a:buSzPct val="100000"/>
              <a:buChar char="–"/>
            </a:pPr>
            <a:r>
              <a:rPr lang="en-US" sz="1650" b="1" dirty="0">
                <a:solidFill>
                  <a:schemeClr val="bg1"/>
                </a:solidFill>
              </a:rPr>
              <a:t>schemi ER</a:t>
            </a:r>
            <a:r>
              <a:rPr lang="en-US" sz="1650" dirty="0">
                <a:solidFill>
                  <a:schemeClr val="bg2"/>
                </a:solidFill>
              </a:rPr>
              <a:t> o diagrammi UML</a:t>
            </a:r>
            <a:endParaRPr lang="en-US" sz="19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chemeClr val="bg2"/>
                </a:solidFill>
              </a:rPr>
              <a:t>Progettazione </a:t>
            </a:r>
            <a:r>
              <a:rPr lang="en-US" sz="1900" b="1" dirty="0">
                <a:solidFill>
                  <a:schemeClr val="bg1"/>
                </a:solidFill>
              </a:rPr>
              <a:t>logica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2"/>
                </a:solidFill>
              </a:rPr>
              <a:t>schema o modello logico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2"/>
                </a:solidFill>
              </a:rPr>
              <a:t>rappresentazione dei dati mediante </a:t>
            </a:r>
            <a:r>
              <a:rPr lang="en-US" sz="1650" b="1" dirty="0">
                <a:solidFill>
                  <a:schemeClr val="bg1"/>
                </a:solidFill>
              </a:rPr>
              <a:t>tabelle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b="1" dirty="0">
                <a:solidFill>
                  <a:schemeClr val="bg1"/>
                </a:solidFill>
              </a:rPr>
              <a:t>implementabili</a:t>
            </a:r>
            <a:r>
              <a:rPr lang="en-US" sz="1650" dirty="0">
                <a:solidFill>
                  <a:schemeClr val="bg2"/>
                </a:solidFill>
              </a:rPr>
              <a:t> con un </a:t>
            </a:r>
            <a:r>
              <a:rPr lang="en-US" sz="1650" b="1" dirty="0">
                <a:solidFill>
                  <a:schemeClr val="bg1"/>
                </a:solidFill>
              </a:rPr>
              <a:t>DBMS</a:t>
            </a:r>
            <a:endParaRPr lang="en-US" sz="19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chemeClr val="bg2"/>
                </a:solidFill>
              </a:rPr>
              <a:t>Progettazione </a:t>
            </a:r>
            <a:r>
              <a:rPr lang="en-US" sz="1900" b="1" dirty="0">
                <a:solidFill>
                  <a:schemeClr val="bg1"/>
                </a:solidFill>
              </a:rPr>
              <a:t>fisica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2"/>
                </a:solidFill>
              </a:rPr>
              <a:t>schema o modello fisico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b="1" dirty="0">
                <a:solidFill>
                  <a:schemeClr val="bg1"/>
                </a:solidFill>
              </a:rPr>
              <a:t>implementazione</a:t>
            </a:r>
            <a:r>
              <a:rPr lang="en-US" sz="1650" dirty="0">
                <a:solidFill>
                  <a:schemeClr val="bg2"/>
                </a:solidFill>
              </a:rPr>
              <a:t> del modello logico tenendo conto delle </a:t>
            </a:r>
            <a:r>
              <a:rPr lang="en-US" sz="1650" b="1" dirty="0">
                <a:solidFill>
                  <a:schemeClr val="bg1"/>
                </a:solidFill>
              </a:rPr>
              <a:t>prestazioni effettive</a:t>
            </a:r>
            <a:r>
              <a:rPr lang="en-US" sz="1650" dirty="0">
                <a:solidFill>
                  <a:schemeClr val="bg2"/>
                </a:solidFill>
              </a:rPr>
              <a:t> e del </a:t>
            </a:r>
            <a:r>
              <a:rPr lang="en-US" sz="1650" b="1" dirty="0">
                <a:solidFill>
                  <a:schemeClr val="bg1"/>
                </a:solidFill>
              </a:rPr>
              <a:t>DBMS</a:t>
            </a:r>
            <a:r>
              <a:rPr lang="en-US" sz="1650" dirty="0">
                <a:solidFill>
                  <a:schemeClr val="bg2"/>
                </a:solidFill>
              </a:rPr>
              <a:t> in </a:t>
            </a:r>
            <a:r>
              <a:rPr lang="en-US" sz="1650" b="1" dirty="0">
                <a:solidFill>
                  <a:schemeClr val="bg1"/>
                </a:solidFill>
              </a:rPr>
              <a:t>uso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716002" y="1783080"/>
            <a:ext cx="1202346" cy="964692"/>
          </a:xfrm>
          <a:prstGeom prst="roundRect">
            <a:avLst>
              <a:gd name="adj" fmla="val 132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Moduli cartace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5730" y="1892808"/>
            <a:ext cx="982890" cy="7452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748382" y="2985516"/>
            <a:ext cx="1137587" cy="964692"/>
          </a:xfrm>
          <a:prstGeom prst="roundRect">
            <a:avLst>
              <a:gd name="adj" fmla="val 132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Schema 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8110" y="3095244"/>
            <a:ext cx="918131" cy="74523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758429" y="4187952"/>
            <a:ext cx="1117492" cy="964692"/>
          </a:xfrm>
          <a:prstGeom prst="roundRect">
            <a:avLst>
              <a:gd name="adj" fmla="val 132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2" descr="Schema logic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8157" y="4297680"/>
            <a:ext cx="898036" cy="74523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57493" y="5390388"/>
            <a:ext cx="1519365" cy="964692"/>
          </a:xfrm>
          <a:prstGeom prst="roundRect">
            <a:avLst>
              <a:gd name="adj" fmla="val 132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3" descr="Schema fisic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7221" y="5500116"/>
            <a:ext cx="1299909" cy="7452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Database Relazionali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1363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Nei Database “classici”, per rappresentare i dati si utilizza il concetto di “</a:t>
            </a:r>
            <a:r>
              <a:rPr lang="en-US" sz="2300" b="1" dirty="0">
                <a:solidFill>
                  <a:schemeClr val="bg1"/>
                </a:solidFill>
              </a:rPr>
              <a:t>Relazione</a:t>
            </a:r>
            <a:r>
              <a:rPr lang="en-US" sz="2300" dirty="0">
                <a:solidFill>
                  <a:schemeClr val="bg2"/>
                </a:solidFill>
              </a:rPr>
              <a:t>” (in inglese Relation).</a:t>
            </a:r>
            <a:endParaRPr lang="en-US" sz="23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Prendono infatti il nome di RDBMS (Relational DBMS).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85800" y="3384042"/>
            <a:ext cx="5120640" cy="2467802"/>
          </a:xfrm>
          <a:prstGeom prst="roundRect">
            <a:avLst>
              <a:gd name="adj" fmla="val 51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Relazione, tupla e attribu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3493770"/>
            <a:ext cx="4901184" cy="224834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135624" y="3384042"/>
            <a:ext cx="5370271" cy="807466"/>
          </a:xfrm>
          <a:prstGeom prst="roundRect">
            <a:avLst>
              <a:gd name="adj" fmla="val 15854"/>
            </a:avLst>
          </a:prstGeom>
          <a:solidFill>
            <a:schemeClr val="tx2"/>
          </a:solidFill>
          <a:ln w="15875">
            <a:solidFill>
              <a:schemeClr val="accent1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300" b="1" dirty="0">
                <a:solidFill>
                  <a:schemeClr val="accent1"/>
                </a:solidFill>
              </a:rPr>
              <a:t>Relazione</a:t>
            </a:r>
            <a:r>
              <a:rPr lang="en-US" sz="2300" dirty="0">
                <a:solidFill>
                  <a:schemeClr val="bg1"/>
                </a:solidFill>
              </a:rPr>
              <a:t> = </a:t>
            </a:r>
            <a:r>
              <a:rPr lang="en-US" sz="2300" b="1" dirty="0">
                <a:solidFill>
                  <a:schemeClr val="accent1"/>
                </a:solidFill>
              </a:rPr>
              <a:t>Insieme</a:t>
            </a:r>
            <a:r>
              <a:rPr lang="en-US" sz="2300" dirty="0">
                <a:solidFill>
                  <a:schemeClr val="bg1"/>
                </a:solidFill>
              </a:rPr>
              <a:t> di </a:t>
            </a:r>
            <a:r>
              <a:rPr lang="en-US" sz="2300" b="1" dirty="0">
                <a:solidFill>
                  <a:schemeClr val="accent1"/>
                </a:solidFill>
              </a:rPr>
              <a:t>Tuple/Record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6135624" y="4429252"/>
            <a:ext cx="5370271" cy="807466"/>
          </a:xfrm>
          <a:prstGeom prst="roundRect">
            <a:avLst>
              <a:gd name="adj" fmla="val 15854"/>
            </a:avLst>
          </a:prstGeom>
          <a:solidFill>
            <a:schemeClr val="tx2"/>
          </a:solidFill>
          <a:ln w="15875">
            <a:solidFill>
              <a:schemeClr val="accent1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300" b="1" dirty="0">
                <a:solidFill>
                  <a:schemeClr val="accent1"/>
                </a:solidFill>
              </a:rPr>
              <a:t>Tupla / Record</a:t>
            </a:r>
            <a:r>
              <a:rPr lang="en-US" sz="2300" dirty="0">
                <a:solidFill>
                  <a:schemeClr val="bg1"/>
                </a:solidFill>
              </a:rPr>
              <a:t> = &lt;d_1,d_2,...,d_n&gt;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6135624" y="5474462"/>
            <a:ext cx="5370271" cy="816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Ogni </a:t>
            </a:r>
            <a:r>
              <a:rPr lang="en-US" sz="2300" b="1" dirty="0">
                <a:solidFill>
                  <a:schemeClr val="bg1"/>
                </a:solidFill>
              </a:rPr>
              <a:t>elemento</a:t>
            </a:r>
            <a:r>
              <a:rPr lang="en-US" sz="2300" dirty="0">
                <a:solidFill>
                  <a:schemeClr val="bg2"/>
                </a:solidFill>
              </a:rPr>
              <a:t> d_i </a:t>
            </a:r>
            <a:r>
              <a:rPr lang="en-US" sz="2300" b="1" dirty="0">
                <a:solidFill>
                  <a:schemeClr val="bg1"/>
                </a:solidFill>
              </a:rPr>
              <a:t>appartiene</a:t>
            </a:r>
            <a:r>
              <a:rPr lang="en-US" sz="2300" dirty="0">
                <a:solidFill>
                  <a:schemeClr val="bg2"/>
                </a:solidFill>
              </a:rPr>
              <a:t> ad un </a:t>
            </a:r>
            <a:r>
              <a:rPr lang="en-US" sz="2300" b="1" dirty="0">
                <a:solidFill>
                  <a:schemeClr val="bg1"/>
                </a:solidFill>
              </a:rPr>
              <a:t>dominio</a:t>
            </a:r>
            <a:r>
              <a:rPr lang="en-US" sz="2300" dirty="0">
                <a:solidFill>
                  <a:schemeClr val="bg2"/>
                </a:solidFill>
              </a:rPr>
              <a:t> D_i (tipo)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Relazioni, tuple ed insiemi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816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A livello </a:t>
            </a:r>
            <a:r>
              <a:rPr lang="en-US" sz="2300" b="1" dirty="0">
                <a:solidFill>
                  <a:schemeClr val="bg1"/>
                </a:solidFill>
              </a:rPr>
              <a:t>pratico</a:t>
            </a:r>
            <a:r>
              <a:rPr lang="en-US" sz="2300" dirty="0">
                <a:solidFill>
                  <a:schemeClr val="bg2"/>
                </a:solidFill>
              </a:rPr>
              <a:t> una </a:t>
            </a:r>
            <a:r>
              <a:rPr lang="en-US" sz="2300" b="1" dirty="0">
                <a:solidFill>
                  <a:schemeClr val="bg1"/>
                </a:solidFill>
              </a:rPr>
              <a:t>relazione</a:t>
            </a:r>
            <a:r>
              <a:rPr lang="en-US" sz="2300" dirty="0">
                <a:solidFill>
                  <a:schemeClr val="bg2"/>
                </a:solidFill>
              </a:rPr>
              <a:t> può essere pensata come una “</a:t>
            </a:r>
            <a:r>
              <a:rPr lang="en-US" sz="2300" b="1" dirty="0">
                <a:solidFill>
                  <a:schemeClr val="bg1"/>
                </a:solidFill>
              </a:rPr>
              <a:t>tabella</a:t>
            </a:r>
            <a:r>
              <a:rPr lang="en-US" sz="2300" dirty="0">
                <a:solidFill>
                  <a:schemeClr val="bg2"/>
                </a:solidFill>
              </a:rPr>
              <a:t>” composta da una serie di </a:t>
            </a:r>
            <a:r>
              <a:rPr lang="en-US" sz="2300" b="1" dirty="0">
                <a:solidFill>
                  <a:schemeClr val="bg1"/>
                </a:solidFill>
              </a:rPr>
              <a:t>righe</a:t>
            </a:r>
            <a:r>
              <a:rPr lang="en-US" sz="2300" dirty="0">
                <a:solidFill>
                  <a:schemeClr val="bg2"/>
                </a:solidFill>
              </a:rPr>
              <a:t> (</a:t>
            </a:r>
            <a:r>
              <a:rPr lang="en-US" sz="2300" b="1" dirty="0">
                <a:solidFill>
                  <a:schemeClr val="bg1"/>
                </a:solidFill>
              </a:rPr>
              <a:t>tuple</a:t>
            </a:r>
            <a:r>
              <a:rPr lang="en-US" sz="2300" dirty="0">
                <a:solidFill>
                  <a:schemeClr val="bg2"/>
                </a:solidFill>
              </a:rPr>
              <a:t>) con un insieme </a:t>
            </a:r>
            <a:r>
              <a:rPr lang="en-US" sz="2300" b="1" dirty="0">
                <a:solidFill>
                  <a:schemeClr val="bg1"/>
                </a:solidFill>
              </a:rPr>
              <a:t>colonne</a:t>
            </a:r>
            <a:r>
              <a:rPr lang="en-US" sz="2300" dirty="0">
                <a:solidFill>
                  <a:schemeClr val="bg2"/>
                </a:solidFill>
              </a:rPr>
              <a:t> (</a:t>
            </a:r>
            <a:r>
              <a:rPr lang="en-US" sz="2300" b="1" dirty="0">
                <a:solidFill>
                  <a:schemeClr val="bg1"/>
                </a:solidFill>
              </a:rPr>
              <a:t>attributi</a:t>
            </a:r>
            <a:r>
              <a:rPr lang="en-US" sz="2300" dirty="0">
                <a:solidFill>
                  <a:schemeClr val="bg2"/>
                </a:solidFill>
              </a:rPr>
              <a:t>).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56461" y="2837180"/>
            <a:ext cx="6042357" cy="3517900"/>
          </a:xfrm>
          <a:prstGeom prst="roundRect">
            <a:avLst>
              <a:gd name="adj" fmla="val 36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Tabella annotata: dominio/tipo, attributo/colonna, tupla/record/riga, relazione/tabel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89" y="2946908"/>
            <a:ext cx="5822901" cy="32984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860040" y="2837180"/>
            <a:ext cx="1384479" cy="1418590"/>
          </a:xfrm>
          <a:prstGeom prst="roundRect">
            <a:avLst>
              <a:gd name="adj" fmla="val 9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Insieme A con elementi a, b, c, d, 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9768" y="2946908"/>
            <a:ext cx="1165023" cy="119913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598664" y="4493514"/>
            <a:ext cx="3907231" cy="807466"/>
          </a:xfrm>
          <a:prstGeom prst="roundRect">
            <a:avLst>
              <a:gd name="adj" fmla="val 15854"/>
            </a:avLst>
          </a:prstGeom>
          <a:solidFill>
            <a:schemeClr val="tx2"/>
          </a:solidFill>
          <a:ln w="15875">
            <a:solidFill>
              <a:schemeClr val="accent1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300" b="1" dirty="0">
                <a:solidFill>
                  <a:schemeClr val="accent1"/>
                </a:solidFill>
              </a:rPr>
              <a:t>Relazione</a:t>
            </a:r>
            <a:r>
              <a:rPr lang="en-US" sz="2300" dirty="0">
                <a:solidFill>
                  <a:schemeClr val="bg1"/>
                </a:solidFill>
              </a:rPr>
              <a:t> = </a:t>
            </a:r>
            <a:r>
              <a:rPr lang="en-US" sz="2300" b="1" dirty="0">
                <a:solidFill>
                  <a:schemeClr val="accent1"/>
                </a:solidFill>
              </a:rPr>
              <a:t>Insieme</a:t>
            </a:r>
            <a:r>
              <a:rPr lang="en-US" sz="2300" dirty="0">
                <a:solidFill>
                  <a:schemeClr val="bg1"/>
                </a:solidFill>
              </a:rPr>
              <a:t>.</a:t>
            </a:r>
            <a:endParaRPr lang="en-US" sz="2300" dirty="0"/>
          </a:p>
        </p:txBody>
      </p:sp>
      <p:sp>
        <p:nvSpPr>
          <p:cNvPr id="9" name="Text 5"/>
          <p:cNvSpPr txBox="1"/>
          <p:nvPr/>
        </p:nvSpPr>
        <p:spPr>
          <a:xfrm>
            <a:off x="7598664" y="5538724"/>
            <a:ext cx="3907231" cy="816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Ogni </a:t>
            </a:r>
            <a:r>
              <a:rPr lang="en-US" sz="2300" b="1" dirty="0">
                <a:solidFill>
                  <a:schemeClr val="bg1"/>
                </a:solidFill>
              </a:rPr>
              <a:t>tupla</a:t>
            </a:r>
            <a:r>
              <a:rPr lang="en-US" sz="2300" dirty="0">
                <a:solidFill>
                  <a:schemeClr val="bg2"/>
                </a:solidFill>
              </a:rPr>
              <a:t> è un </a:t>
            </a:r>
            <a:r>
              <a:rPr lang="en-US" sz="2300" b="1" dirty="0">
                <a:solidFill>
                  <a:schemeClr val="bg1"/>
                </a:solidFill>
              </a:rPr>
              <a:t>elemento</a:t>
            </a:r>
            <a:r>
              <a:rPr lang="en-US" sz="2300" dirty="0">
                <a:solidFill>
                  <a:schemeClr val="bg2"/>
                </a:solidFill>
              </a:rPr>
              <a:t> dell’insieme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Algebra Relazionale e Operazioni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4480560" cy="2788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Un DB relazionale è quindi </a:t>
            </a:r>
            <a:r>
              <a:rPr lang="en-US" sz="2300" b="1" dirty="0">
                <a:solidFill>
                  <a:schemeClr val="bg1"/>
                </a:solidFill>
              </a:rPr>
              <a:t>composto</a:t>
            </a:r>
            <a:r>
              <a:rPr lang="en-US" sz="2300" dirty="0">
                <a:solidFill>
                  <a:schemeClr val="bg2"/>
                </a:solidFill>
              </a:rPr>
              <a:t> da una serie di </a:t>
            </a:r>
            <a:r>
              <a:rPr lang="en-US" sz="2300" b="1" dirty="0">
                <a:solidFill>
                  <a:schemeClr val="bg1"/>
                </a:solidFill>
              </a:rPr>
              <a:t>relazioni</a:t>
            </a:r>
            <a:r>
              <a:rPr lang="en-US" sz="2300" dirty="0">
                <a:solidFill>
                  <a:schemeClr val="bg2"/>
                </a:solidFill>
              </a:rPr>
              <a:t> che </a:t>
            </a:r>
            <a:r>
              <a:rPr lang="en-US" sz="2300" b="1" dirty="0">
                <a:solidFill>
                  <a:schemeClr val="bg1"/>
                </a:solidFill>
              </a:rPr>
              <a:t>modellano</a:t>
            </a:r>
            <a:r>
              <a:rPr lang="en-US" sz="2300" dirty="0">
                <a:solidFill>
                  <a:schemeClr val="bg2"/>
                </a:solidFill>
              </a:rPr>
              <a:t> una certa </a:t>
            </a:r>
            <a:r>
              <a:rPr lang="en-US" sz="2300" b="1" dirty="0">
                <a:solidFill>
                  <a:schemeClr val="bg1"/>
                </a:solidFill>
              </a:rPr>
              <a:t>realtà</a:t>
            </a:r>
            <a:r>
              <a:rPr lang="en-US" sz="2300" dirty="0">
                <a:solidFill>
                  <a:schemeClr val="bg2"/>
                </a:solidFill>
              </a:rPr>
              <a:t> di interesse.</a:t>
            </a:r>
            <a:endParaRPr lang="en-US" sz="23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Le </a:t>
            </a:r>
            <a:r>
              <a:rPr lang="en-US" sz="2300" b="1" dirty="0">
                <a:solidFill>
                  <a:schemeClr val="bg1"/>
                </a:solidFill>
              </a:rPr>
              <a:t>relazioni</a:t>
            </a:r>
            <a:r>
              <a:rPr lang="en-US" sz="2300" dirty="0">
                <a:solidFill>
                  <a:schemeClr val="bg2"/>
                </a:solidFill>
              </a:rPr>
              <a:t> possono essere </a:t>
            </a:r>
            <a:r>
              <a:rPr lang="en-US" sz="2300" b="1" dirty="0">
                <a:solidFill>
                  <a:schemeClr val="bg1"/>
                </a:solidFill>
              </a:rPr>
              <a:t>trasformate</a:t>
            </a:r>
            <a:r>
              <a:rPr lang="en-US" sz="2300" dirty="0">
                <a:solidFill>
                  <a:schemeClr val="bg2"/>
                </a:solidFill>
              </a:rPr>
              <a:t> e </a:t>
            </a:r>
            <a:r>
              <a:rPr lang="en-US" sz="2300" b="1" dirty="0">
                <a:solidFill>
                  <a:schemeClr val="bg1"/>
                </a:solidFill>
              </a:rPr>
              <a:t>combinate</a:t>
            </a:r>
            <a:r>
              <a:rPr lang="en-US" sz="2300" dirty="0">
                <a:solidFill>
                  <a:schemeClr val="bg2"/>
                </a:solidFill>
              </a:rPr>
              <a:t> per ottenere nuove </a:t>
            </a:r>
            <a:r>
              <a:rPr lang="en-US" sz="2300" b="1" dirty="0">
                <a:solidFill>
                  <a:schemeClr val="bg1"/>
                </a:solidFill>
              </a:rPr>
              <a:t>informazioni</a:t>
            </a:r>
            <a:r>
              <a:rPr lang="en-US" sz="2300" dirty="0">
                <a:solidFill>
                  <a:schemeClr val="bg2"/>
                </a:solidFill>
              </a:rPr>
              <a:t>.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809490"/>
            <a:ext cx="4480560" cy="152019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5875">
            <a:solidFill>
              <a:schemeClr val="accent1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1"/>
                </a:solidFill>
              </a:rPr>
              <a:t>I </a:t>
            </a:r>
            <a:r>
              <a:rPr lang="en-US" sz="2300" b="1" dirty="0">
                <a:solidFill>
                  <a:schemeClr val="accent1"/>
                </a:solidFill>
              </a:rPr>
              <a:t>meccanismi</a:t>
            </a:r>
            <a:r>
              <a:rPr lang="en-US" sz="2300" dirty="0">
                <a:solidFill>
                  <a:schemeClr val="bg1"/>
                </a:solidFill>
              </a:rPr>
              <a:t> per la </a:t>
            </a:r>
            <a:r>
              <a:rPr lang="en-US" sz="2300" b="1" dirty="0">
                <a:solidFill>
                  <a:schemeClr val="accent1"/>
                </a:solidFill>
              </a:rPr>
              <a:t>manipolazione</a:t>
            </a:r>
            <a:r>
              <a:rPr lang="en-US" sz="2300" dirty="0">
                <a:solidFill>
                  <a:schemeClr val="bg1"/>
                </a:solidFill>
              </a:rPr>
              <a:t> delle relazioni sono descritti </a:t>
            </a:r>
            <a:r>
              <a:rPr lang="en-US" sz="2300" b="1" dirty="0">
                <a:solidFill>
                  <a:schemeClr val="accent1"/>
                </a:solidFill>
              </a:rPr>
              <a:t>dall’Algebra Relazionale</a:t>
            </a:r>
            <a:r>
              <a:rPr lang="en-US" sz="2300" dirty="0">
                <a:solidFill>
                  <a:schemeClr val="bg1"/>
                </a:solidFill>
              </a:rPr>
              <a:t>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550533" y="1783080"/>
            <a:ext cx="5900374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Operatori dell'algebra relazionale: di base (unari e binari) e derivat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0261" y="1892808"/>
            <a:ext cx="5680918" cy="43525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Algebra Relazionale e Operazioni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3489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bg2"/>
                </a:solidFill>
              </a:rPr>
              <a:t>Le operazioni si </a:t>
            </a:r>
            <a:r>
              <a:rPr lang="en-US" sz="1900" b="1" dirty="0">
                <a:solidFill>
                  <a:schemeClr val="bg1"/>
                </a:solidFill>
              </a:rPr>
              <a:t>classificano</a:t>
            </a:r>
            <a:r>
              <a:rPr lang="en-US" sz="1900" dirty="0">
                <a:solidFill>
                  <a:schemeClr val="bg2"/>
                </a:solidFill>
              </a:rPr>
              <a:t> in:</a:t>
            </a:r>
            <a:endParaRPr lang="en-US" sz="19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chemeClr val="bg1"/>
                </a:solidFill>
              </a:rPr>
              <a:t>primitive</a:t>
            </a:r>
            <a:r>
              <a:rPr lang="en-US" sz="1900" dirty="0">
                <a:solidFill>
                  <a:schemeClr val="bg2"/>
                </a:solidFill>
              </a:rPr>
              <a:t> / di base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2"/>
                </a:solidFill>
              </a:rPr>
              <a:t>non possono essere espresse in funzione di altre operazioni</a:t>
            </a:r>
            <a:endParaRPr lang="en-US" sz="19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chemeClr val="bg1"/>
                </a:solidFill>
              </a:rPr>
              <a:t>derivate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2"/>
                </a:solidFill>
              </a:rPr>
              <a:t>sono definite come combinazione di altre operazioni</a:t>
            </a:r>
            <a:endParaRPr lang="en-US" sz="19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900" dirty="0">
                <a:solidFill>
                  <a:schemeClr val="bg2"/>
                </a:solidFill>
              </a:rPr>
              <a:t>Si distinguono anche in base al </a:t>
            </a:r>
            <a:r>
              <a:rPr lang="en-US" sz="1900" b="1" dirty="0">
                <a:solidFill>
                  <a:schemeClr val="bg1"/>
                </a:solidFill>
              </a:rPr>
              <a:t>numero</a:t>
            </a:r>
            <a:r>
              <a:rPr lang="en-US" sz="1900" dirty="0">
                <a:solidFill>
                  <a:schemeClr val="bg2"/>
                </a:solidFill>
              </a:rPr>
              <a:t> di </a:t>
            </a:r>
            <a:r>
              <a:rPr lang="en-US" sz="1900" b="1" dirty="0">
                <a:solidFill>
                  <a:schemeClr val="bg1"/>
                </a:solidFill>
              </a:rPr>
              <a:t>operandi</a:t>
            </a:r>
            <a:r>
              <a:rPr lang="en-US" sz="1900" dirty="0">
                <a:solidFill>
                  <a:schemeClr val="bg2"/>
                </a:solidFill>
              </a:rPr>
              <a:t> richiesti:</a:t>
            </a:r>
            <a:endParaRPr lang="en-US" sz="19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chemeClr val="bg1"/>
                </a:solidFill>
              </a:rPr>
              <a:t>unarie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2"/>
                </a:solidFill>
              </a:rPr>
              <a:t>lavorano su una sola relazione</a:t>
            </a:r>
            <a:endParaRPr lang="en-US" sz="19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chemeClr val="bg1"/>
                </a:solidFill>
              </a:rPr>
              <a:t>binarie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2"/>
                </a:solidFill>
              </a:rPr>
              <a:t>lavorano su due relazioni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510276"/>
            <a:ext cx="10820095" cy="745490"/>
          </a:xfrm>
          <a:prstGeom prst="roundRect">
            <a:avLst>
              <a:gd name="adj" fmla="val 17172"/>
            </a:avLst>
          </a:prstGeom>
          <a:solidFill>
            <a:schemeClr val="tx2"/>
          </a:solidFill>
          <a:ln w="15875">
            <a:solidFill>
              <a:schemeClr val="accent1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bg1"/>
                </a:solidFill>
              </a:rPr>
              <a:t>Il </a:t>
            </a:r>
            <a:r>
              <a:rPr lang="en-US" sz="1900" b="1" dirty="0">
                <a:solidFill>
                  <a:schemeClr val="accent1"/>
                </a:solidFill>
              </a:rPr>
              <a:t>risultato</a:t>
            </a:r>
            <a:r>
              <a:rPr lang="en-US" sz="1900" dirty="0">
                <a:solidFill>
                  <a:schemeClr val="bg1"/>
                </a:solidFill>
              </a:rPr>
              <a:t> dell’applicazione di uno degli operatori è una </a:t>
            </a:r>
            <a:r>
              <a:rPr lang="en-US" sz="1900" b="1" dirty="0">
                <a:solidFill>
                  <a:schemeClr val="accent1"/>
                </a:solidFill>
              </a:rPr>
              <a:t>nuova relazione</a:t>
            </a:r>
            <a:r>
              <a:rPr lang="en-US" sz="1900" dirty="0">
                <a:solidFill>
                  <a:schemeClr val="bg1"/>
                </a:solidFill>
              </a:rPr>
              <a:t>!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Operazioni Primitive Unarie (Algebra Relazionale)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5120640" cy="230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Proiezione</a:t>
            </a:r>
            <a:r>
              <a:rPr lang="en-US" sz="2200" dirty="0">
                <a:solidFill>
                  <a:schemeClr val="bg2"/>
                </a:solidFill>
              </a:rPr>
              <a:t> (Π - pi)</a:t>
            </a:r>
            <a:endParaRPr lang="en-US" sz="2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bg2"/>
                </a:solidFill>
              </a:rPr>
              <a:t>presa una relazione R,</a:t>
            </a:r>
            <a:endParaRPr lang="en-US" sz="2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bg2"/>
                </a:solidFill>
              </a:rPr>
              <a:t>ed un insieme di attributi {a_1, …, a_n} ,</a:t>
            </a:r>
            <a:endParaRPr lang="en-US" sz="2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200" b="1" dirty="0">
                <a:solidFill>
                  <a:schemeClr val="bg1"/>
                </a:solidFill>
              </a:rPr>
              <a:t>restringe</a:t>
            </a:r>
            <a:r>
              <a:rPr lang="en-US" sz="2200" dirty="0">
                <a:solidFill>
                  <a:schemeClr val="bg2"/>
                </a:solidFill>
              </a:rPr>
              <a:t> le tuple di R </a:t>
            </a:r>
            <a:r>
              <a:rPr lang="en-US" sz="2200" b="1" dirty="0">
                <a:solidFill>
                  <a:schemeClr val="bg1"/>
                </a:solidFill>
              </a:rPr>
              <a:t>all’insieme</a:t>
            </a:r>
            <a:r>
              <a:rPr lang="en-US" sz="2200" dirty="0">
                <a:solidFill>
                  <a:schemeClr val="bg2"/>
                </a:solidFill>
              </a:rPr>
              <a:t> di </a:t>
            </a:r>
            <a:r>
              <a:rPr lang="en-US" sz="2200" b="1" dirty="0">
                <a:solidFill>
                  <a:schemeClr val="bg1"/>
                </a:solidFill>
              </a:rPr>
              <a:t>attributi</a:t>
            </a:r>
            <a:r>
              <a:rPr lang="en-US" sz="2200" dirty="0">
                <a:solidFill>
                  <a:schemeClr val="bg2"/>
                </a:solidFill>
              </a:rPr>
              <a:t> specificato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05416" y="4322064"/>
            <a:ext cx="2081409" cy="611632"/>
          </a:xfrm>
          <a:prstGeom prst="roundRect">
            <a:avLst>
              <a:gd name="adj" fmla="val 209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Formula della proiezi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5144" y="4431792"/>
            <a:ext cx="1861953" cy="3921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5171440"/>
            <a:ext cx="5120640" cy="1183640"/>
          </a:xfrm>
          <a:prstGeom prst="roundRect">
            <a:avLst>
              <a:gd name="adj" fmla="val 10815"/>
            </a:avLst>
          </a:prstGeom>
          <a:solidFill>
            <a:schemeClr val="tx2"/>
          </a:solidFill>
          <a:ln w="15875">
            <a:solidFill>
              <a:schemeClr val="accent1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Intuitivamente:</a:t>
            </a:r>
            <a:endParaRPr lang="en-US" sz="2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“</a:t>
            </a:r>
            <a:r>
              <a:rPr lang="en-US" sz="2200" b="1" dirty="0">
                <a:solidFill>
                  <a:schemeClr val="accent1"/>
                </a:solidFill>
              </a:rPr>
              <a:t>sezione verticale</a:t>
            </a:r>
            <a:r>
              <a:rPr lang="en-US" sz="2200" dirty="0">
                <a:solidFill>
                  <a:schemeClr val="bg1"/>
                </a:solidFill>
              </a:rPr>
              <a:t>” della tabella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609118" y="1783080"/>
            <a:ext cx="4423283" cy="3889756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Esempio di proiezione su Age e Weight della relazione Pers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846" y="1892808"/>
            <a:ext cx="4203827" cy="36703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135624" y="5910580"/>
            <a:ext cx="537027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bg2"/>
                </a:solidFill>
              </a:rPr>
              <a:t>Keyword </a:t>
            </a:r>
            <a:r>
              <a:rPr lang="en-US" sz="2200" b="1" dirty="0">
                <a:solidFill>
                  <a:schemeClr val="bg1"/>
                </a:solidFill>
              </a:rPr>
              <a:t>SQL</a:t>
            </a:r>
            <a:r>
              <a:rPr lang="en-US" sz="2200" dirty="0">
                <a:solidFill>
                  <a:schemeClr val="bg2"/>
                </a:solidFill>
              </a:rPr>
              <a:t>: </a:t>
            </a:r>
            <a:r>
              <a:rPr lang="en-US" sz="200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Operazioni Primitive Unarie (Algebra Relazionale)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4846320" cy="1882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bg1"/>
                </a:solidFill>
              </a:rPr>
              <a:t>Selezione</a:t>
            </a:r>
            <a:r>
              <a:rPr lang="en-US" sz="2100" dirty="0">
                <a:solidFill>
                  <a:schemeClr val="bg2"/>
                </a:solidFill>
              </a:rPr>
              <a:t> (σ - sigma)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presa una relazione R,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ed un’espressione logica φ (phi)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calcola il </a:t>
            </a:r>
            <a:r>
              <a:rPr lang="en-US" sz="2100" b="1" dirty="0">
                <a:solidFill>
                  <a:schemeClr val="bg1"/>
                </a:solidFill>
              </a:rPr>
              <a:t>sottoinsieme</a:t>
            </a:r>
            <a:r>
              <a:rPr lang="en-US" sz="2100" dirty="0">
                <a:solidFill>
                  <a:schemeClr val="bg2"/>
                </a:solidFill>
              </a:rPr>
              <a:t> di </a:t>
            </a:r>
            <a:r>
              <a:rPr lang="en-US" sz="2100" b="1" dirty="0">
                <a:solidFill>
                  <a:schemeClr val="bg1"/>
                </a:solidFill>
              </a:rPr>
              <a:t>tuple</a:t>
            </a:r>
            <a:r>
              <a:rPr lang="en-US" sz="2100" dirty="0">
                <a:solidFill>
                  <a:schemeClr val="bg2"/>
                </a:solidFill>
              </a:rPr>
              <a:t> di R per cui </a:t>
            </a:r>
            <a:r>
              <a:rPr lang="en-US" sz="2100" b="1" dirty="0">
                <a:solidFill>
                  <a:schemeClr val="bg1"/>
                </a:solidFill>
              </a:rPr>
              <a:t>l’espressione</a:t>
            </a:r>
            <a:r>
              <a:rPr lang="en-US" sz="2100" dirty="0">
                <a:solidFill>
                  <a:schemeClr val="bg2"/>
                </a:solidFill>
              </a:rPr>
              <a:t> φ è </a:t>
            </a:r>
            <a:r>
              <a:rPr lang="en-US" sz="2100" b="1" dirty="0">
                <a:solidFill>
                  <a:schemeClr val="bg1"/>
                </a:solidFill>
              </a:rPr>
              <a:t>vera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85800" y="3903726"/>
            <a:ext cx="4846320" cy="658465"/>
          </a:xfrm>
          <a:prstGeom prst="roundRect">
            <a:avLst>
              <a:gd name="adj" fmla="val 194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Formula della selezi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4013454"/>
            <a:ext cx="4626864" cy="43900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4799935"/>
            <a:ext cx="4846320" cy="1528826"/>
          </a:xfrm>
          <a:prstGeom prst="roundRect">
            <a:avLst>
              <a:gd name="adj" fmla="val 8373"/>
            </a:avLst>
          </a:prstGeom>
          <a:solidFill>
            <a:schemeClr val="tx2"/>
          </a:solidFill>
          <a:ln w="15875">
            <a:solidFill>
              <a:schemeClr val="accent1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chemeClr val="bg1"/>
                </a:solidFill>
              </a:rPr>
              <a:t>Intuitivamente: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b="1" dirty="0">
                <a:solidFill>
                  <a:schemeClr val="accent1"/>
                </a:solidFill>
              </a:rPr>
              <a:t>condizione</a:t>
            </a:r>
            <a:r>
              <a:rPr lang="en-US" sz="2100" dirty="0">
                <a:solidFill>
                  <a:schemeClr val="bg1"/>
                </a:solidFill>
              </a:rPr>
              <a:t> sulle tuple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“</a:t>
            </a:r>
            <a:r>
              <a:rPr lang="en-US" sz="2100" b="1" dirty="0">
                <a:solidFill>
                  <a:schemeClr val="accent1"/>
                </a:solidFill>
              </a:rPr>
              <a:t>sezione orizzontale</a:t>
            </a:r>
            <a:r>
              <a:rPr lang="en-US" sz="2100" dirty="0">
                <a:solidFill>
                  <a:schemeClr val="bg1"/>
                </a:solidFill>
              </a:rPr>
              <a:t>” della tabella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861304" y="1783080"/>
            <a:ext cx="5644591" cy="3803920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Esempio di selezione su Person con Age ≥ 30 e Weight ≤ 6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1892808"/>
            <a:ext cx="5425135" cy="3584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61304" y="5824744"/>
            <a:ext cx="5644591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chemeClr val="bg2"/>
                </a:solidFill>
              </a:rPr>
              <a:t>Keyword </a:t>
            </a:r>
            <a:r>
              <a:rPr lang="en-US" sz="2100" b="1" dirty="0">
                <a:solidFill>
                  <a:schemeClr val="bg1"/>
                </a:solidFill>
              </a:rPr>
              <a:t>SQL</a:t>
            </a:r>
            <a:r>
              <a:rPr lang="en-US" sz="2100" dirty="0">
                <a:solidFill>
                  <a:schemeClr val="bg2"/>
                </a:solidFill>
              </a:rPr>
              <a:t>: </a:t>
            </a:r>
            <a:r>
              <a:rPr lang="en-US" sz="19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Operazioni Primitive Unarie (Algebra Relazionale)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4389120" cy="216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Rinominazione</a:t>
            </a:r>
            <a:r>
              <a:rPr lang="en-US" sz="2000" dirty="0">
                <a:solidFill>
                  <a:schemeClr val="bg2"/>
                </a:solidFill>
              </a:rPr>
              <a:t> (ρ - rho)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presa una relazione R,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ed un attributo “b”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ed un nuovo nome per l’attributo “a”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rinomina</a:t>
            </a:r>
            <a:r>
              <a:rPr lang="en-US" sz="2000" dirty="0">
                <a:solidFill>
                  <a:schemeClr val="bg2"/>
                </a:solidFill>
              </a:rPr>
              <a:t> l’</a:t>
            </a:r>
            <a:r>
              <a:rPr lang="en-US" sz="2000" b="1" dirty="0">
                <a:solidFill>
                  <a:schemeClr val="bg1"/>
                </a:solidFill>
              </a:rPr>
              <a:t>attributo</a:t>
            </a:r>
            <a:r>
              <a:rPr lang="en-US" sz="2000" dirty="0">
                <a:solidFill>
                  <a:schemeClr val="bg2"/>
                </a:solidFill>
              </a:rPr>
              <a:t> “b” in “a” in tutte le tuple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970150" y="4186936"/>
            <a:ext cx="1820420" cy="808736"/>
          </a:xfrm>
          <a:prstGeom prst="roundRect">
            <a:avLst>
              <a:gd name="adj" fmla="val 158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Formula della rinominazi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9878" y="4296664"/>
            <a:ext cx="1600964" cy="589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5233416"/>
            <a:ext cx="4389120" cy="1121664"/>
          </a:xfrm>
          <a:prstGeom prst="roundRect">
            <a:avLst>
              <a:gd name="adj" fmla="val 11413"/>
            </a:avLst>
          </a:prstGeom>
          <a:solidFill>
            <a:schemeClr val="tx2"/>
          </a:solidFill>
          <a:ln w="15875">
            <a:solidFill>
              <a:schemeClr val="accent1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Intuitivamente: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cambia</a:t>
            </a:r>
            <a:r>
              <a:rPr lang="en-US" sz="2000" dirty="0">
                <a:solidFill>
                  <a:schemeClr val="bg1"/>
                </a:solidFill>
              </a:rPr>
              <a:t> il </a:t>
            </a:r>
            <a:r>
              <a:rPr lang="en-US" sz="2000" b="1" dirty="0">
                <a:solidFill>
                  <a:schemeClr val="accent1"/>
                </a:solidFill>
              </a:rPr>
              <a:t>nome</a:t>
            </a:r>
            <a:r>
              <a:rPr lang="en-US" sz="2000" dirty="0">
                <a:solidFill>
                  <a:schemeClr val="bg1"/>
                </a:solidFill>
              </a:rPr>
              <a:t> di una </a:t>
            </a:r>
            <a:r>
              <a:rPr lang="en-US" sz="2000" b="1" dirty="0">
                <a:solidFill>
                  <a:schemeClr val="accent1"/>
                </a:solidFill>
              </a:rPr>
              <a:t>colonna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04104" y="1783080"/>
            <a:ext cx="6101791" cy="2394080"/>
          </a:xfrm>
          <a:prstGeom prst="roundRect">
            <a:avLst>
              <a:gd name="adj" fmla="val 53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Esempio di rinominazione di Name in EmployeeNa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32" y="1892808"/>
            <a:ext cx="5882335" cy="21746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04104" y="4414904"/>
            <a:ext cx="6101791" cy="41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Keyword </a:t>
            </a:r>
            <a:r>
              <a:rPr lang="en-US" sz="2000" b="1" dirty="0">
                <a:solidFill>
                  <a:schemeClr val="bg1"/>
                </a:solidFill>
              </a:rPr>
              <a:t>SQL</a:t>
            </a:r>
            <a:r>
              <a:rPr lang="en-US" sz="2000" dirty="0">
                <a:solidFill>
                  <a:schemeClr val="bg2"/>
                </a:solidFill>
              </a:rPr>
              <a:t>: </a:t>
            </a:r>
            <a:r>
              <a:rPr lang="en-US" sz="18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Operazioni Primitive Binarie (Algebra Relazionale)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54864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Unione</a:t>
            </a:r>
            <a:r>
              <a:rPr lang="en-US" sz="2000" dirty="0">
                <a:solidFill>
                  <a:schemeClr val="bg2"/>
                </a:solidFill>
              </a:rPr>
              <a:t> (∪):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date due </a:t>
            </a:r>
            <a:r>
              <a:rPr lang="en-US" sz="2000" b="1" dirty="0">
                <a:solidFill>
                  <a:schemeClr val="bg1"/>
                </a:solidFill>
              </a:rPr>
              <a:t>relazioni</a:t>
            </a:r>
            <a:r>
              <a:rPr lang="en-US" sz="2000" dirty="0">
                <a:solidFill>
                  <a:schemeClr val="bg2"/>
                </a:solidFill>
              </a:rPr>
              <a:t> A e B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implementa </a:t>
            </a:r>
            <a:r>
              <a:rPr lang="en-US" sz="2000" b="1" dirty="0">
                <a:solidFill>
                  <a:schemeClr val="bg1"/>
                </a:solidFill>
              </a:rPr>
              <a:t>l’unione insiemistica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A e B devono essere “</a:t>
            </a:r>
            <a:r>
              <a:rPr lang="en-US" sz="2000" b="1" dirty="0">
                <a:solidFill>
                  <a:schemeClr val="bg1"/>
                </a:solidFill>
              </a:rPr>
              <a:t>compatibili</a:t>
            </a:r>
            <a:r>
              <a:rPr lang="en-US" sz="2000" dirty="0">
                <a:solidFill>
                  <a:schemeClr val="bg2"/>
                </a:solidFill>
              </a:rPr>
              <a:t>”</a:t>
            </a:r>
            <a:endParaRPr lang="en-US" sz="20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700" dirty="0">
                <a:solidFill>
                  <a:schemeClr val="bg2"/>
                </a:solidFill>
              </a:rPr>
              <a:t>stessi attributi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89390" y="3830574"/>
            <a:ext cx="5079219" cy="609881"/>
          </a:xfrm>
          <a:prstGeom prst="roundRect">
            <a:avLst>
              <a:gd name="adj" fmla="val 209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Formula dell'uni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118" y="3940302"/>
            <a:ext cx="4859763" cy="3904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4678199"/>
            <a:ext cx="1554480" cy="1205128"/>
          </a:xfrm>
          <a:prstGeom prst="roundRect">
            <a:avLst>
              <a:gd name="adj" fmla="val 106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Diagramma di Venn dell'uni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787927"/>
            <a:ext cx="1335024" cy="9856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69464" y="4678199"/>
            <a:ext cx="3602736" cy="1766824"/>
          </a:xfrm>
          <a:prstGeom prst="roundRect">
            <a:avLst>
              <a:gd name="adj" fmla="val 7246"/>
            </a:avLst>
          </a:prstGeom>
          <a:solidFill>
            <a:schemeClr val="tx2"/>
          </a:solidFill>
          <a:ln w="15875">
            <a:solidFill>
              <a:schemeClr val="accent1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|AUB| = |A|+|B|-|A∩B|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|A| indica la </a:t>
            </a:r>
            <a:r>
              <a:rPr lang="en-US" sz="2000" b="1" dirty="0">
                <a:solidFill>
                  <a:schemeClr val="accent1"/>
                </a:solidFill>
              </a:rPr>
              <a:t>cardinalità</a:t>
            </a:r>
            <a:r>
              <a:rPr lang="en-US" sz="2000" dirty="0">
                <a:solidFill>
                  <a:schemeClr val="bg1"/>
                </a:solidFill>
              </a:rPr>
              <a:t> dell’insieme, cioè il # di elementi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993774" y="1783080"/>
            <a:ext cx="4019732" cy="3920744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2" descr="Esempio di unione tra Course_1 e Course_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502" y="1892808"/>
            <a:ext cx="3800276" cy="370128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501384" y="5941568"/>
            <a:ext cx="5004511" cy="41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Keyword </a:t>
            </a:r>
            <a:r>
              <a:rPr lang="en-US" sz="2000" b="1" dirty="0">
                <a:solidFill>
                  <a:schemeClr val="bg1"/>
                </a:solidFill>
              </a:rPr>
              <a:t>SQL</a:t>
            </a:r>
            <a:r>
              <a:rPr lang="en-US" sz="2000" dirty="0">
                <a:solidFill>
                  <a:schemeClr val="bg2"/>
                </a:solidFill>
              </a:rPr>
              <a:t>: </a:t>
            </a:r>
            <a:r>
              <a:rPr lang="en-US" sz="18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Operazioni Primitive Binarie (Algebra Relazionale)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5852160" cy="2119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Differenza</a:t>
            </a:r>
            <a:r>
              <a:rPr lang="en-US" sz="2000" dirty="0">
                <a:solidFill>
                  <a:schemeClr val="bg2"/>
                </a:solidFill>
              </a:rPr>
              <a:t> ( \ oppure -):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date due </a:t>
            </a:r>
            <a:r>
              <a:rPr lang="en-US" sz="2000" b="1" dirty="0">
                <a:solidFill>
                  <a:schemeClr val="bg1"/>
                </a:solidFill>
              </a:rPr>
              <a:t>relazioni</a:t>
            </a:r>
            <a:r>
              <a:rPr lang="en-US" sz="2000" dirty="0">
                <a:solidFill>
                  <a:schemeClr val="bg2"/>
                </a:solidFill>
              </a:rPr>
              <a:t> A e B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implementa </a:t>
            </a:r>
            <a:r>
              <a:rPr lang="en-US" sz="2000" b="1" dirty="0">
                <a:solidFill>
                  <a:schemeClr val="bg1"/>
                </a:solidFill>
              </a:rPr>
              <a:t>la differenza (complemento) insiemistica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A e B devono essere “</a:t>
            </a:r>
            <a:r>
              <a:rPr lang="en-US" sz="2000" b="1" dirty="0">
                <a:solidFill>
                  <a:schemeClr val="bg1"/>
                </a:solidFill>
              </a:rPr>
              <a:t>compatibili</a:t>
            </a:r>
            <a:r>
              <a:rPr lang="en-US" sz="2000" dirty="0">
                <a:solidFill>
                  <a:schemeClr val="bg2"/>
                </a:solidFill>
              </a:rPr>
              <a:t>”</a:t>
            </a:r>
            <a:endParaRPr lang="en-US" sz="20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700" dirty="0">
                <a:solidFill>
                  <a:schemeClr val="bg2"/>
                </a:solidFill>
              </a:rPr>
              <a:t>stessi attributi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131808" y="4140454"/>
            <a:ext cx="4960144" cy="660796"/>
          </a:xfrm>
          <a:prstGeom prst="roundRect">
            <a:avLst>
              <a:gd name="adj" fmla="val 193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Formula della differenz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1536" y="4250182"/>
            <a:ext cx="4740688" cy="4413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5038994"/>
            <a:ext cx="1554480" cy="1199290"/>
          </a:xfrm>
          <a:prstGeom prst="roundRect">
            <a:avLst>
              <a:gd name="adj" fmla="val 106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Diagramma di Venn della differenz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5148722"/>
            <a:ext cx="1335024" cy="97983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69464" y="5038994"/>
            <a:ext cx="3968496" cy="1456944"/>
          </a:xfrm>
          <a:prstGeom prst="roundRect">
            <a:avLst>
              <a:gd name="adj" fmla="val 8787"/>
            </a:avLst>
          </a:prstGeom>
          <a:solidFill>
            <a:schemeClr val="tx2"/>
          </a:solidFill>
          <a:ln w="15875">
            <a:solidFill>
              <a:schemeClr val="accent1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|B \ A| = |B|-|A∩B|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|A| indica la </a:t>
            </a:r>
            <a:r>
              <a:rPr lang="en-US" sz="2000" b="1" dirty="0">
                <a:solidFill>
                  <a:schemeClr val="accent1"/>
                </a:solidFill>
              </a:rPr>
              <a:t>cardinalità</a:t>
            </a:r>
            <a:r>
              <a:rPr lang="en-US" sz="2000" dirty="0">
                <a:solidFill>
                  <a:schemeClr val="bg1"/>
                </a:solidFill>
              </a:rPr>
              <a:t> dell’insieme, cioè il # di elementi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7411422" y="1783080"/>
            <a:ext cx="3550196" cy="3199384"/>
          </a:xfrm>
          <a:prstGeom prst="roundRect">
            <a:avLst>
              <a:gd name="adj" fmla="val 400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2" descr="Esempio di differenza tra Course_1 e Course_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1150" y="1892808"/>
            <a:ext cx="3330740" cy="297992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867144" y="5220208"/>
            <a:ext cx="4638751" cy="113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Keyword </a:t>
            </a:r>
            <a:r>
              <a:rPr lang="en-US" sz="2000" b="1" dirty="0">
                <a:solidFill>
                  <a:schemeClr val="bg1"/>
                </a:solidFill>
              </a:rPr>
              <a:t>SQL</a:t>
            </a:r>
            <a:r>
              <a:rPr lang="en-US" sz="2000" dirty="0">
                <a:solidFill>
                  <a:schemeClr val="bg2"/>
                </a:solidFill>
              </a:rPr>
              <a:t>: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EXCEPT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IN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Operazioni Primitive Binarie (Algebra Relazionale)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Prodotto cartesiano</a:t>
            </a:r>
            <a:r>
              <a:rPr lang="en-US" sz="1800" dirty="0">
                <a:solidFill>
                  <a:schemeClr val="bg2"/>
                </a:solidFill>
              </a:rPr>
              <a:t> ( x ):</a:t>
            </a:r>
            <a:endParaRPr lang="en-US" sz="18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date due </a:t>
            </a:r>
            <a:r>
              <a:rPr lang="en-US" sz="1800" b="1" dirty="0">
                <a:solidFill>
                  <a:schemeClr val="bg1"/>
                </a:solidFill>
              </a:rPr>
              <a:t>relazioni</a:t>
            </a:r>
            <a:r>
              <a:rPr lang="en-US" sz="1800" dirty="0">
                <a:solidFill>
                  <a:schemeClr val="bg2"/>
                </a:solidFill>
              </a:rPr>
              <a:t> A e B</a:t>
            </a:r>
            <a:endParaRPr lang="en-US" sz="18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implementa </a:t>
            </a:r>
            <a:r>
              <a:rPr lang="en-US" sz="1800" b="1" dirty="0">
                <a:solidFill>
                  <a:schemeClr val="bg1"/>
                </a:solidFill>
              </a:rPr>
              <a:t>il prodotto insiemistico</a:t>
            </a:r>
            <a:endParaRPr lang="en-US" sz="18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crea nuove tuple </a:t>
            </a:r>
            <a:r>
              <a:rPr lang="en-US" sz="1800" b="1" dirty="0">
                <a:solidFill>
                  <a:schemeClr val="bg1"/>
                </a:solidFill>
              </a:rPr>
              <a:t>combinando</a:t>
            </a:r>
            <a:r>
              <a:rPr lang="en-US" sz="1800" dirty="0">
                <a:solidFill>
                  <a:schemeClr val="bg2"/>
                </a:solidFill>
              </a:rPr>
              <a:t> gli </a:t>
            </a:r>
            <a:r>
              <a:rPr lang="en-US" sz="1800" b="1" dirty="0">
                <a:solidFill>
                  <a:schemeClr val="bg1"/>
                </a:solidFill>
              </a:rPr>
              <a:t>attributi</a:t>
            </a:r>
            <a:r>
              <a:rPr lang="en-US" sz="1800" dirty="0">
                <a:solidFill>
                  <a:schemeClr val="bg2"/>
                </a:solidFill>
              </a:rPr>
              <a:t> di A e B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3392424"/>
            <a:ext cx="5394960" cy="560957"/>
          </a:xfrm>
          <a:prstGeom prst="roundRect">
            <a:avLst>
              <a:gd name="adj" fmla="val 228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Formula del prodotto cartesia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3502152"/>
            <a:ext cx="5175504" cy="3415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4191125"/>
            <a:ext cx="2377440" cy="1829616"/>
          </a:xfrm>
          <a:prstGeom prst="roundRect">
            <a:avLst>
              <a:gd name="adj" fmla="val 69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Griglia del prodotto cartesiano A×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300853"/>
            <a:ext cx="2157984" cy="16101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392424" y="4191125"/>
            <a:ext cx="2688336" cy="2086864"/>
          </a:xfrm>
          <a:prstGeom prst="roundRect">
            <a:avLst>
              <a:gd name="adj" fmla="val 6134"/>
            </a:avLst>
          </a:prstGeom>
          <a:solidFill>
            <a:schemeClr val="tx2"/>
          </a:solidFill>
          <a:ln w="15875">
            <a:solidFill>
              <a:schemeClr val="accent1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Intuitivamente:</a:t>
            </a:r>
            <a:endParaRPr lang="en-US" sz="18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combina</a:t>
            </a:r>
            <a:r>
              <a:rPr lang="en-US" sz="1800" dirty="0">
                <a:solidFill>
                  <a:schemeClr val="bg1"/>
                </a:solidFill>
              </a:rPr>
              <a:t> tutti gli elementi di A con tutti quelli di B</a:t>
            </a:r>
            <a:endParaRPr lang="en-US" sz="18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|A x B| = |A|*|B|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6534369" y="1783080"/>
            <a:ext cx="4847101" cy="3951732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2" descr="Esempio di prodotto cartesiano Student X Cour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097" y="1892808"/>
            <a:ext cx="4627645" cy="373227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409944" y="5972556"/>
            <a:ext cx="5095951" cy="382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Keyword </a:t>
            </a:r>
            <a:r>
              <a:rPr lang="en-US" sz="1800" b="1" dirty="0">
                <a:solidFill>
                  <a:schemeClr val="bg1"/>
                </a:solidFill>
              </a:rPr>
              <a:t>SQL</a:t>
            </a:r>
            <a:r>
              <a:rPr lang="en-US" sz="1800" dirty="0">
                <a:solidFill>
                  <a:schemeClr val="bg2"/>
                </a:solidFill>
              </a:rPr>
              <a:t>: </a:t>
            </a:r>
            <a:r>
              <a:rPr lang="en-US" sz="16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&lt;RelA&gt;,&lt;RelB&gt;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Operazioni Derivate Binarie (Algebra Relazionale)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5669280" cy="3341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Intersezione</a:t>
            </a:r>
            <a:r>
              <a:rPr lang="en-US" sz="2200" dirty="0">
                <a:solidFill>
                  <a:schemeClr val="bg2"/>
                </a:solidFill>
              </a:rPr>
              <a:t> (∩):</a:t>
            </a:r>
            <a:endParaRPr lang="en-US" sz="2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bg2"/>
                </a:solidFill>
              </a:rPr>
              <a:t>date due </a:t>
            </a:r>
            <a:r>
              <a:rPr lang="en-US" sz="2200" b="1" dirty="0">
                <a:solidFill>
                  <a:schemeClr val="bg1"/>
                </a:solidFill>
              </a:rPr>
              <a:t>relazioni</a:t>
            </a:r>
            <a:r>
              <a:rPr lang="en-US" sz="2200" dirty="0">
                <a:solidFill>
                  <a:schemeClr val="bg2"/>
                </a:solidFill>
              </a:rPr>
              <a:t> A e B</a:t>
            </a:r>
            <a:endParaRPr lang="en-US" sz="2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bg2"/>
                </a:solidFill>
              </a:rPr>
              <a:t>implementa </a:t>
            </a:r>
            <a:r>
              <a:rPr lang="en-US" sz="2200" b="1" dirty="0">
                <a:solidFill>
                  <a:schemeClr val="bg1"/>
                </a:solidFill>
              </a:rPr>
              <a:t>l’intersezione insiemistica</a:t>
            </a:r>
            <a:endParaRPr lang="en-US" sz="2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bg2"/>
                </a:solidFill>
              </a:rPr>
              <a:t>A e B devono essere </a:t>
            </a:r>
            <a:r>
              <a:rPr lang="en-US" sz="2200" b="1" dirty="0">
                <a:solidFill>
                  <a:schemeClr val="bg1"/>
                </a:solidFill>
              </a:rPr>
              <a:t>“compatibili”</a:t>
            </a:r>
            <a:endParaRPr lang="en-US" sz="22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900" dirty="0">
                <a:solidFill>
                  <a:schemeClr val="bg2"/>
                </a:solidFill>
              </a:rPr>
              <a:t>stessi attributi</a:t>
            </a:r>
            <a:endParaRPr lang="en-US" sz="2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200" b="1" dirty="0">
                <a:solidFill>
                  <a:schemeClr val="bg1"/>
                </a:solidFill>
              </a:rPr>
              <a:t>non</a:t>
            </a:r>
            <a:r>
              <a:rPr lang="en-US" sz="2200" dirty="0">
                <a:solidFill>
                  <a:schemeClr val="bg2"/>
                </a:solidFill>
              </a:rPr>
              <a:t> primitiva</a:t>
            </a:r>
            <a:endParaRPr lang="en-US" sz="22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900" dirty="0">
                <a:solidFill>
                  <a:schemeClr val="bg2"/>
                </a:solidFill>
              </a:rPr>
              <a:t>può essere espressa in funzione di altri operatori</a:t>
            </a:r>
            <a:endParaRPr lang="en-US" sz="22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900" dirty="0">
                <a:solidFill>
                  <a:schemeClr val="bg2"/>
                </a:solidFill>
              </a:rPr>
              <a:t>A∩B = ( (A U B) \ (A \ B) ) \ (B \ 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5361940"/>
            <a:ext cx="1278181" cy="993140"/>
          </a:xfrm>
          <a:prstGeom prst="roundRect">
            <a:avLst>
              <a:gd name="adj" fmla="val 128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Diagramma di Venn dell'intersezi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5471668"/>
            <a:ext cx="1058725" cy="7736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84264" y="1783080"/>
            <a:ext cx="4821631" cy="2901193"/>
          </a:xfrm>
          <a:prstGeom prst="roundRect">
            <a:avLst>
              <a:gd name="adj" fmla="val 44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Esempio di intersezione tra Course_1 e Course_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892808"/>
            <a:ext cx="4602175" cy="268173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684264" y="4922017"/>
            <a:ext cx="4821631" cy="1227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bg2"/>
                </a:solidFill>
              </a:rPr>
              <a:t>Keyword </a:t>
            </a:r>
            <a:r>
              <a:rPr lang="en-US" sz="2200" b="1" dirty="0">
                <a:solidFill>
                  <a:schemeClr val="bg1"/>
                </a:solidFill>
              </a:rPr>
              <a:t>SQL</a:t>
            </a:r>
            <a:r>
              <a:rPr lang="en-US" sz="2200" dirty="0">
                <a:solidFill>
                  <a:schemeClr val="bg2"/>
                </a:solidFill>
              </a:rPr>
              <a:t>:</a:t>
            </a:r>
            <a:endParaRPr lang="en-US" sz="2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INTERSECT</a:t>
            </a:r>
            <a:endParaRPr lang="en-US" sz="2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Operazioni Derivate Binarie (Algebra Relazionale)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5303520" cy="2647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bg2"/>
                </a:solidFill>
              </a:rPr>
              <a:t>Join (⋈):</a:t>
            </a:r>
            <a:endParaRPr lang="en-US" sz="19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chemeClr val="bg2"/>
                </a:solidFill>
              </a:rPr>
              <a:t>date due </a:t>
            </a:r>
            <a:r>
              <a:rPr lang="en-US" sz="1900" b="1" dirty="0">
                <a:solidFill>
                  <a:schemeClr val="bg1"/>
                </a:solidFill>
              </a:rPr>
              <a:t>relazioni</a:t>
            </a:r>
            <a:r>
              <a:rPr lang="en-US" sz="1900" dirty="0">
                <a:solidFill>
                  <a:schemeClr val="bg2"/>
                </a:solidFill>
              </a:rPr>
              <a:t> A e B</a:t>
            </a:r>
            <a:endParaRPr lang="en-US" sz="19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chemeClr val="bg2"/>
                </a:solidFill>
              </a:rPr>
              <a:t>ed un </a:t>
            </a:r>
            <a:r>
              <a:rPr lang="en-US" sz="1900" b="1" dirty="0">
                <a:solidFill>
                  <a:schemeClr val="bg1"/>
                </a:solidFill>
              </a:rPr>
              <a:t>attributo</a:t>
            </a:r>
            <a:r>
              <a:rPr lang="en-US" sz="1900" dirty="0">
                <a:solidFill>
                  <a:schemeClr val="bg2"/>
                </a:solidFill>
              </a:rPr>
              <a:t> “x” </a:t>
            </a:r>
            <a:r>
              <a:rPr lang="en-US" sz="1900" b="1" dirty="0">
                <a:solidFill>
                  <a:schemeClr val="bg1"/>
                </a:solidFill>
              </a:rPr>
              <a:t>in comune</a:t>
            </a:r>
            <a:r>
              <a:rPr lang="en-US" sz="1900" dirty="0">
                <a:solidFill>
                  <a:schemeClr val="bg2"/>
                </a:solidFill>
              </a:rPr>
              <a:t> con entrambe</a:t>
            </a:r>
            <a:endParaRPr lang="en-US" sz="19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chemeClr val="bg2"/>
                </a:solidFill>
              </a:rPr>
              <a:t>ne implementa </a:t>
            </a:r>
            <a:r>
              <a:rPr lang="en-US" sz="1900" b="1" dirty="0">
                <a:solidFill>
                  <a:schemeClr val="bg1"/>
                </a:solidFill>
              </a:rPr>
              <a:t>la “giunzione”</a:t>
            </a:r>
            <a:r>
              <a:rPr lang="en-US" sz="1900" dirty="0">
                <a:solidFill>
                  <a:schemeClr val="bg2"/>
                </a:solidFill>
              </a:rPr>
              <a:t> sull’attributo “x”</a:t>
            </a:r>
            <a:endParaRPr lang="en-US" sz="19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chemeClr val="bg1"/>
                </a:solidFill>
              </a:rPr>
              <a:t>non</a:t>
            </a:r>
            <a:r>
              <a:rPr lang="en-US" sz="1900" dirty="0">
                <a:solidFill>
                  <a:schemeClr val="bg2"/>
                </a:solidFill>
              </a:rPr>
              <a:t> primitiva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2"/>
                </a:solidFill>
              </a:rPr>
              <a:t>può essere espressa in funzione di altri operatori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2"/>
                </a:solidFill>
              </a:rPr>
              <a:t>prodotto cartesiano seguito da proiezione e selezione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668139"/>
            <a:ext cx="5303520" cy="1524762"/>
          </a:xfrm>
          <a:prstGeom prst="roundRect">
            <a:avLst>
              <a:gd name="adj" fmla="val 8396"/>
            </a:avLst>
          </a:prstGeom>
          <a:solidFill>
            <a:schemeClr val="tx2"/>
          </a:solidFill>
          <a:ln w="15875">
            <a:solidFill>
              <a:schemeClr val="accent1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bg1"/>
                </a:solidFill>
              </a:rPr>
              <a:t>“</a:t>
            </a:r>
            <a:r>
              <a:rPr lang="en-US" sz="1900" b="1" dirty="0">
                <a:solidFill>
                  <a:schemeClr val="accent1"/>
                </a:solidFill>
              </a:rPr>
              <a:t>Combina</a:t>
            </a:r>
            <a:r>
              <a:rPr lang="en-US" sz="1900" dirty="0">
                <a:solidFill>
                  <a:schemeClr val="bg1"/>
                </a:solidFill>
              </a:rPr>
              <a:t>” in maniera più </a:t>
            </a:r>
            <a:r>
              <a:rPr lang="en-US" sz="1900" b="1" dirty="0">
                <a:solidFill>
                  <a:schemeClr val="accent1"/>
                </a:solidFill>
              </a:rPr>
              <a:t>efficiente</a:t>
            </a:r>
            <a:r>
              <a:rPr lang="en-US" sz="1900" dirty="0">
                <a:solidFill>
                  <a:schemeClr val="bg1"/>
                </a:solidFill>
              </a:rPr>
              <a:t> del prodotto cartesiano!</a:t>
            </a:r>
            <a:endParaRPr lang="en-US" sz="19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900" dirty="0">
                <a:solidFill>
                  <a:schemeClr val="bg1"/>
                </a:solidFill>
              </a:rPr>
              <a:t>Non genera righe e colonne inutili.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614880" y="1783080"/>
            <a:ext cx="4594639" cy="3936238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Esempio di join tra Customers e Ord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4608" y="1892808"/>
            <a:ext cx="4375183" cy="37167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318504" y="5957062"/>
            <a:ext cx="5187391" cy="398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bg2"/>
                </a:solidFill>
              </a:rPr>
              <a:t>Keyword </a:t>
            </a:r>
            <a:r>
              <a:rPr lang="en-US" sz="1900" b="1" dirty="0">
                <a:solidFill>
                  <a:schemeClr val="bg1"/>
                </a:solidFill>
              </a:rPr>
              <a:t>SQL</a:t>
            </a:r>
            <a:r>
              <a:rPr lang="en-US" sz="1900" dirty="0">
                <a:solidFill>
                  <a:schemeClr val="bg2"/>
                </a:solidFill>
              </a:rPr>
              <a:t>: </a:t>
            </a:r>
            <a:r>
              <a:rPr lang="en-US" sz="17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JOIN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chemeClr val="accent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INFORMATICA  ·  BASI DI DATI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1732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9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85800" y="388620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chemeClr val="bg1"/>
                </a:solidFill>
              </a:rPr>
              <a:t>Progettazione Concettuale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Progettazione Concettuale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2712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Processo volto alla </a:t>
            </a:r>
            <a:r>
              <a:rPr lang="en-US" sz="2300" b="1" dirty="0">
                <a:solidFill>
                  <a:schemeClr val="bg1"/>
                </a:solidFill>
              </a:rPr>
              <a:t>realizzazione</a:t>
            </a:r>
            <a:r>
              <a:rPr lang="en-US" sz="2300" dirty="0">
                <a:solidFill>
                  <a:schemeClr val="bg2"/>
                </a:solidFill>
              </a:rPr>
              <a:t> del </a:t>
            </a:r>
            <a:r>
              <a:rPr lang="en-US" sz="2300" b="1" dirty="0">
                <a:solidFill>
                  <a:schemeClr val="bg1"/>
                </a:solidFill>
              </a:rPr>
              <a:t>modello</a:t>
            </a:r>
            <a:r>
              <a:rPr lang="en-US" sz="2300" dirty="0">
                <a:solidFill>
                  <a:schemeClr val="bg2"/>
                </a:solidFill>
              </a:rPr>
              <a:t> concettuale, sfruttando diverse </a:t>
            </a:r>
            <a:r>
              <a:rPr lang="en-US" sz="2300" b="1" dirty="0">
                <a:solidFill>
                  <a:schemeClr val="bg1"/>
                </a:solidFill>
              </a:rPr>
              <a:t>fonti</a:t>
            </a:r>
            <a:r>
              <a:rPr lang="en-US" sz="2300" dirty="0">
                <a:solidFill>
                  <a:schemeClr val="bg2"/>
                </a:solidFill>
              </a:rPr>
              <a:t> del </a:t>
            </a:r>
            <a:r>
              <a:rPr lang="en-US" sz="2300" b="1" dirty="0">
                <a:solidFill>
                  <a:schemeClr val="bg1"/>
                </a:solidFill>
              </a:rPr>
              <a:t>sistema informativo</a:t>
            </a:r>
            <a:r>
              <a:rPr lang="en-US" sz="2300" dirty="0">
                <a:solidFill>
                  <a:schemeClr val="bg2"/>
                </a:solidFill>
              </a:rPr>
              <a:t> in esame: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interviste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documentazione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prodotta appositamente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già esistente (normative, regolamenti, processi aziendali, ecc…)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modulistica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733544"/>
            <a:ext cx="10820095" cy="1163828"/>
          </a:xfrm>
          <a:prstGeom prst="roundRect">
            <a:avLst>
              <a:gd name="adj" fmla="val 11000"/>
            </a:avLst>
          </a:prstGeom>
          <a:solidFill>
            <a:schemeClr val="tx2"/>
          </a:solidFill>
          <a:ln w="15875">
            <a:solidFill>
              <a:schemeClr val="accent2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1"/>
                </a:solidFill>
              </a:rPr>
              <a:t>Queste informazioni vengono tipicamente </a:t>
            </a:r>
            <a:r>
              <a:rPr lang="en-US" sz="2300" b="1" dirty="0">
                <a:solidFill>
                  <a:schemeClr val="accent2"/>
                </a:solidFill>
              </a:rPr>
              <a:t>raccolte</a:t>
            </a:r>
            <a:r>
              <a:rPr lang="en-US" sz="2300" dirty="0">
                <a:solidFill>
                  <a:schemeClr val="bg1"/>
                </a:solidFill>
              </a:rPr>
              <a:t> in una </a:t>
            </a:r>
            <a:r>
              <a:rPr lang="en-US" sz="2300" b="1" dirty="0">
                <a:solidFill>
                  <a:schemeClr val="accent2"/>
                </a:solidFill>
              </a:rPr>
              <a:t>fase iniziale</a:t>
            </a:r>
            <a:r>
              <a:rPr lang="en-US" sz="2300" dirty="0">
                <a:solidFill>
                  <a:schemeClr val="bg1"/>
                </a:solidFill>
              </a:rPr>
              <a:t> detta “</a:t>
            </a:r>
            <a:r>
              <a:rPr lang="en-US" sz="2300" b="1" dirty="0">
                <a:solidFill>
                  <a:schemeClr val="accent2"/>
                </a:solidFill>
              </a:rPr>
              <a:t>analisi dei requisiti</a:t>
            </a:r>
            <a:r>
              <a:rPr lang="en-US" sz="2300" dirty="0">
                <a:solidFill>
                  <a:schemeClr val="bg1"/>
                </a:solidFill>
              </a:rPr>
              <a:t>”.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Modello Concettuale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2996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È una </a:t>
            </a:r>
            <a:r>
              <a:rPr lang="en-US" sz="2300" b="1" dirty="0">
                <a:solidFill>
                  <a:schemeClr val="bg1"/>
                </a:solidFill>
              </a:rPr>
              <a:t>rappresentazione astratta</a:t>
            </a:r>
            <a:r>
              <a:rPr lang="en-US" sz="2300" dirty="0">
                <a:solidFill>
                  <a:schemeClr val="bg2"/>
                </a:solidFill>
              </a:rPr>
              <a:t> e </a:t>
            </a:r>
            <a:r>
              <a:rPr lang="en-US" sz="2300" b="1" dirty="0">
                <a:solidFill>
                  <a:schemeClr val="bg1"/>
                </a:solidFill>
              </a:rPr>
              <a:t>formale</a:t>
            </a:r>
            <a:r>
              <a:rPr lang="en-US" sz="2300" dirty="0">
                <a:solidFill>
                  <a:schemeClr val="bg2"/>
                </a:solidFill>
              </a:rPr>
              <a:t> del dominio di applicazione.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punto di incontro tra il </a:t>
            </a:r>
            <a:r>
              <a:rPr lang="en-US" sz="2300" b="1" dirty="0">
                <a:solidFill>
                  <a:schemeClr val="bg1"/>
                </a:solidFill>
              </a:rPr>
              <a:t>progettista</a:t>
            </a:r>
            <a:r>
              <a:rPr lang="en-US" sz="2300" dirty="0">
                <a:solidFill>
                  <a:schemeClr val="bg2"/>
                </a:solidFill>
              </a:rPr>
              <a:t> del DB e il “</a:t>
            </a:r>
            <a:r>
              <a:rPr lang="en-US" sz="2300" b="1" dirty="0">
                <a:solidFill>
                  <a:schemeClr val="bg1"/>
                </a:solidFill>
              </a:rPr>
              <a:t>cliente</a:t>
            </a:r>
            <a:r>
              <a:rPr lang="en-US" sz="2300" dirty="0">
                <a:solidFill>
                  <a:schemeClr val="bg2"/>
                </a:solidFill>
              </a:rPr>
              <a:t>”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indipendente</a:t>
            </a:r>
            <a:r>
              <a:rPr lang="en-US" sz="2300" dirty="0">
                <a:solidFill>
                  <a:schemeClr val="bg2"/>
                </a:solidFill>
              </a:rPr>
              <a:t> dal sistema di </a:t>
            </a:r>
            <a:r>
              <a:rPr lang="en-US" sz="2300" b="1" dirty="0">
                <a:solidFill>
                  <a:schemeClr val="bg1"/>
                </a:solidFill>
              </a:rPr>
              <a:t>memorizzazione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si vuole </a:t>
            </a:r>
            <a:r>
              <a:rPr lang="en-US" sz="2000" b="1" dirty="0">
                <a:solidFill>
                  <a:schemeClr val="bg1"/>
                </a:solidFill>
              </a:rPr>
              <a:t>ragionare</a:t>
            </a:r>
            <a:r>
              <a:rPr lang="en-US" sz="2000" dirty="0">
                <a:solidFill>
                  <a:schemeClr val="bg2"/>
                </a:solidFill>
              </a:rPr>
              <a:t> sui </a:t>
            </a:r>
            <a:r>
              <a:rPr lang="en-US" sz="2000" b="1" dirty="0">
                <a:solidFill>
                  <a:schemeClr val="bg1"/>
                </a:solidFill>
              </a:rPr>
              <a:t>dati</a:t>
            </a:r>
            <a:r>
              <a:rPr lang="en-US" sz="2000" dirty="0">
                <a:solidFill>
                  <a:schemeClr val="bg2"/>
                </a:solidFill>
              </a:rPr>
              <a:t> e sulle loro </a:t>
            </a:r>
            <a:r>
              <a:rPr lang="en-US" sz="2000" b="1" dirty="0">
                <a:solidFill>
                  <a:schemeClr val="bg1"/>
                </a:solidFill>
              </a:rPr>
              <a:t>correlazioni</a:t>
            </a:r>
            <a:endParaRPr lang="en-US" sz="23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Si utilizzano </a:t>
            </a:r>
            <a:r>
              <a:rPr lang="en-US" sz="2300" b="1" dirty="0">
                <a:solidFill>
                  <a:schemeClr val="bg1"/>
                </a:solidFill>
              </a:rPr>
              <a:t>formalismi grafici</a:t>
            </a:r>
            <a:r>
              <a:rPr lang="en-US" sz="2300" dirty="0">
                <a:solidFill>
                  <a:schemeClr val="bg2"/>
                </a:solidFill>
              </a:rPr>
              <a:t> standard come: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accent2"/>
                </a:solidFill>
              </a:rPr>
              <a:t>Entity Relationship</a:t>
            </a:r>
            <a:r>
              <a:rPr lang="en-US" sz="2300" dirty="0">
                <a:solidFill>
                  <a:schemeClr val="accent2"/>
                </a:solidFill>
              </a:rPr>
              <a:t> diagram (diagramma entità associazioni)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Unified Modeling Language (UML)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Entità e Associazioni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6558991" cy="4418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Si compone di due blocchi fondamentali: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accent2"/>
                </a:solidFill>
              </a:rPr>
              <a:t>entità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b="1" dirty="0">
                <a:solidFill>
                  <a:schemeClr val="bg1"/>
                </a:solidFill>
              </a:rPr>
              <a:t>classe</a:t>
            </a:r>
            <a:r>
              <a:rPr lang="en-US" sz="2000" dirty="0">
                <a:solidFill>
                  <a:schemeClr val="bg2"/>
                </a:solidFill>
              </a:rPr>
              <a:t> di oggetti (concreti o astratti) che ha </a:t>
            </a:r>
            <a:r>
              <a:rPr lang="en-US" sz="2000" b="1" dirty="0">
                <a:solidFill>
                  <a:schemeClr val="bg1"/>
                </a:solidFill>
              </a:rPr>
              <a:t>senso</a:t>
            </a:r>
            <a:r>
              <a:rPr lang="en-US" sz="2000" dirty="0">
                <a:solidFill>
                  <a:schemeClr val="bg2"/>
                </a:solidFill>
              </a:rPr>
              <a:t> anche se “</a:t>
            </a:r>
            <a:r>
              <a:rPr lang="en-US" sz="2000" b="1" dirty="0">
                <a:solidFill>
                  <a:schemeClr val="bg1"/>
                </a:solidFill>
              </a:rPr>
              <a:t>isolata</a:t>
            </a:r>
            <a:r>
              <a:rPr lang="en-US" sz="2000" dirty="0">
                <a:solidFill>
                  <a:schemeClr val="bg2"/>
                </a:solidFill>
              </a:rPr>
              <a:t>” dal resto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b="1" dirty="0">
                <a:solidFill>
                  <a:schemeClr val="bg1"/>
                </a:solidFill>
              </a:rPr>
              <a:t>insieme</a:t>
            </a:r>
            <a:r>
              <a:rPr lang="en-US" sz="2000" dirty="0">
                <a:solidFill>
                  <a:schemeClr val="bg2"/>
                </a:solidFill>
              </a:rPr>
              <a:t> di </a:t>
            </a:r>
            <a:r>
              <a:rPr lang="en-US" sz="2000" b="1" dirty="0">
                <a:solidFill>
                  <a:schemeClr val="bg1"/>
                </a:solidFill>
              </a:rPr>
              <a:t>oggetti simili</a:t>
            </a:r>
            <a:r>
              <a:rPr lang="en-US" sz="2000" dirty="0">
                <a:solidFill>
                  <a:schemeClr val="bg2"/>
                </a:solidFill>
              </a:rPr>
              <a:t> (dati dello stesso tipo, o con caratteristiche simili, raccolti insieme)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è di </a:t>
            </a:r>
            <a:r>
              <a:rPr lang="en-US" sz="2000" b="1" dirty="0">
                <a:solidFill>
                  <a:schemeClr val="bg1"/>
                </a:solidFill>
              </a:rPr>
              <a:t>interesse</a:t>
            </a:r>
            <a:r>
              <a:rPr lang="en-US" sz="2000" dirty="0">
                <a:solidFill>
                  <a:schemeClr val="bg2"/>
                </a:solidFill>
              </a:rPr>
              <a:t> per la </a:t>
            </a:r>
            <a:r>
              <a:rPr lang="en-US" sz="2000" b="1" dirty="0">
                <a:solidFill>
                  <a:schemeClr val="bg1"/>
                </a:solidFill>
              </a:rPr>
              <a:t>realtà</a:t>
            </a:r>
            <a:r>
              <a:rPr lang="en-US" sz="2000" dirty="0">
                <a:solidFill>
                  <a:schemeClr val="bg2"/>
                </a:solidFill>
              </a:rPr>
              <a:t> da modellare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termini (</a:t>
            </a:r>
            <a:r>
              <a:rPr lang="en-US" sz="2000" b="1" dirty="0">
                <a:solidFill>
                  <a:schemeClr val="bg1"/>
                </a:solidFill>
              </a:rPr>
              <a:t>nomi</a:t>
            </a:r>
            <a:r>
              <a:rPr lang="en-US" sz="2000" dirty="0">
                <a:solidFill>
                  <a:schemeClr val="bg2"/>
                </a:solidFill>
              </a:rPr>
              <a:t>/sostantivi) scelti al </a:t>
            </a:r>
            <a:r>
              <a:rPr lang="en-US" sz="2000" b="1" dirty="0">
                <a:solidFill>
                  <a:schemeClr val="bg1"/>
                </a:solidFill>
              </a:rPr>
              <a:t>singolare</a:t>
            </a:r>
            <a:r>
              <a:rPr lang="en-US" sz="2000" dirty="0">
                <a:solidFill>
                  <a:schemeClr val="bg2"/>
                </a:solidFill>
              </a:rPr>
              <a:t>!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accent3"/>
                </a:solidFill>
              </a:rPr>
              <a:t>associazioni</a:t>
            </a:r>
            <a:r>
              <a:rPr lang="en-US" sz="2300" dirty="0">
                <a:solidFill>
                  <a:schemeClr val="bg2"/>
                </a:solidFill>
              </a:rPr>
              <a:t> (relationships)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b="1" dirty="0">
                <a:solidFill>
                  <a:schemeClr val="bg1"/>
                </a:solidFill>
              </a:rPr>
              <a:t>legame</a:t>
            </a:r>
            <a:r>
              <a:rPr lang="en-US" sz="2000" dirty="0">
                <a:solidFill>
                  <a:schemeClr val="bg2"/>
                </a:solidFill>
              </a:rPr>
              <a:t> tra </a:t>
            </a:r>
            <a:r>
              <a:rPr lang="en-US" sz="2000" b="1" dirty="0">
                <a:solidFill>
                  <a:schemeClr val="bg1"/>
                </a:solidFill>
              </a:rPr>
              <a:t>entità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da </a:t>
            </a:r>
            <a:r>
              <a:rPr lang="en-US" sz="2000" b="1" dirty="0">
                <a:solidFill>
                  <a:schemeClr val="bg1"/>
                </a:solidFill>
              </a:rPr>
              <a:t>non confondere</a:t>
            </a:r>
            <a:r>
              <a:rPr lang="en-US" sz="2000" dirty="0">
                <a:solidFill>
                  <a:schemeClr val="bg2"/>
                </a:solidFill>
              </a:rPr>
              <a:t> con “</a:t>
            </a:r>
            <a:r>
              <a:rPr lang="en-US" sz="2000" b="1" dirty="0">
                <a:solidFill>
                  <a:schemeClr val="bg1"/>
                </a:solidFill>
              </a:rPr>
              <a:t>relation</a:t>
            </a:r>
            <a:r>
              <a:rPr lang="en-US" sz="2000" dirty="0">
                <a:solidFill>
                  <a:schemeClr val="bg2"/>
                </a:solidFill>
              </a:rPr>
              <a:t>” (relazione)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termini (</a:t>
            </a:r>
            <a:r>
              <a:rPr lang="en-US" sz="2000" b="1" dirty="0">
                <a:solidFill>
                  <a:schemeClr val="bg1"/>
                </a:solidFill>
              </a:rPr>
              <a:t>verbi</a:t>
            </a:r>
            <a:r>
              <a:rPr lang="en-US" sz="2000" dirty="0">
                <a:solidFill>
                  <a:schemeClr val="bg2"/>
                </a:solidFill>
              </a:rPr>
              <a:t>) scelti </a:t>
            </a:r>
            <a:r>
              <a:rPr lang="en-US" sz="2000" b="1" dirty="0">
                <a:solidFill>
                  <a:schemeClr val="bg1"/>
                </a:solidFill>
              </a:rPr>
              <a:t>all’infinito</a:t>
            </a:r>
            <a:r>
              <a:rPr lang="en-US" sz="2000" dirty="0">
                <a:solidFill>
                  <a:schemeClr val="bg2"/>
                </a:solidFill>
              </a:rPr>
              <a:t> o al </a:t>
            </a:r>
            <a:r>
              <a:rPr lang="en-US" sz="2000" b="1" dirty="0">
                <a:solidFill>
                  <a:schemeClr val="bg1"/>
                </a:solidFill>
              </a:rPr>
              <a:t>presente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7573975" y="1783080"/>
            <a:ext cx="3931920" cy="3772916"/>
          </a:xfrm>
          <a:prstGeom prst="roundRect">
            <a:avLst>
              <a:gd name="adj" fmla="val 3393"/>
            </a:avLst>
          </a:prstGeom>
          <a:solidFill>
            <a:schemeClr val="tx2"/>
          </a:solidFill>
          <a:ln w="15875">
            <a:solidFill>
              <a:schemeClr val="accent2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1"/>
                </a:solidFill>
              </a:rPr>
              <a:t>Ad esempio, nel S.I. scuola, volendo </a:t>
            </a:r>
            <a:r>
              <a:rPr lang="en-US" sz="2300" b="1" dirty="0">
                <a:solidFill>
                  <a:schemeClr val="accent2"/>
                </a:solidFill>
              </a:rPr>
              <a:t>rappresentare</a:t>
            </a:r>
            <a:r>
              <a:rPr lang="en-US" sz="2300" dirty="0">
                <a:solidFill>
                  <a:schemeClr val="bg1"/>
                </a:solidFill>
              </a:rPr>
              <a:t> i </a:t>
            </a:r>
            <a:r>
              <a:rPr lang="en-US" sz="2300" b="1" dirty="0">
                <a:solidFill>
                  <a:schemeClr val="accent2"/>
                </a:solidFill>
              </a:rPr>
              <a:t>prof</a:t>
            </a:r>
            <a:r>
              <a:rPr lang="en-US" sz="2300" dirty="0">
                <a:solidFill>
                  <a:schemeClr val="bg1"/>
                </a:solidFill>
              </a:rPr>
              <a:t>, e le relative </a:t>
            </a:r>
            <a:r>
              <a:rPr lang="en-US" sz="2300" b="1" dirty="0">
                <a:solidFill>
                  <a:schemeClr val="accent2"/>
                </a:solidFill>
              </a:rPr>
              <a:t>materie insegnate</a:t>
            </a:r>
            <a:r>
              <a:rPr lang="en-US" sz="2300" dirty="0">
                <a:solidFill>
                  <a:schemeClr val="bg1"/>
                </a:solidFill>
              </a:rPr>
              <a:t>, si ha: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accent2"/>
                </a:solidFill>
              </a:rPr>
              <a:t>entità</a:t>
            </a:r>
            <a:r>
              <a:rPr lang="en-US" sz="2300" dirty="0">
                <a:solidFill>
                  <a:schemeClr val="bg1"/>
                </a:solidFill>
              </a:rPr>
              <a:t>: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1"/>
                </a:solidFill>
              </a:rPr>
              <a:t>professore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1"/>
                </a:solidFill>
              </a:rPr>
              <a:t>materia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accent2"/>
                </a:solidFill>
              </a:rPr>
              <a:t>associazioni</a:t>
            </a:r>
            <a:r>
              <a:rPr lang="en-US" sz="2300" dirty="0">
                <a:solidFill>
                  <a:schemeClr val="bg1"/>
                </a:solidFill>
              </a:rPr>
              <a:t>: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1"/>
                </a:solidFill>
              </a:rPr>
              <a:t>insegna/insegnare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Entità e Associazioni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4206240" cy="3214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accent2"/>
                </a:solidFill>
              </a:rPr>
              <a:t>entità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sono composte da </a:t>
            </a:r>
            <a:r>
              <a:rPr lang="en-US" sz="2000" b="1" dirty="0">
                <a:solidFill>
                  <a:schemeClr val="bg1"/>
                </a:solidFill>
              </a:rPr>
              <a:t>attributi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ogni riga è </a:t>
            </a:r>
            <a:r>
              <a:rPr lang="en-US" sz="2000" b="1" dirty="0">
                <a:solidFill>
                  <a:schemeClr val="bg1"/>
                </a:solidFill>
              </a:rPr>
              <a:t>un’istanza</a:t>
            </a:r>
            <a:r>
              <a:rPr lang="en-US" sz="2000" dirty="0">
                <a:solidFill>
                  <a:schemeClr val="bg2"/>
                </a:solidFill>
              </a:rPr>
              <a:t> dell’entità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sinonimi: tabella, classe, </a:t>
            </a:r>
            <a:r>
              <a:rPr lang="en-US" sz="2000" b="1" dirty="0">
                <a:solidFill>
                  <a:schemeClr val="accent2"/>
                </a:solidFill>
              </a:rPr>
              <a:t>relazione</a:t>
            </a:r>
            <a:r>
              <a:rPr lang="en-US" sz="2000" dirty="0">
                <a:solidFill>
                  <a:schemeClr val="bg2"/>
                </a:solidFill>
              </a:rPr>
              <a:t>(!!)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accent3"/>
                </a:solidFill>
              </a:rPr>
              <a:t>associazioni</a:t>
            </a:r>
            <a:r>
              <a:rPr lang="en-US" sz="2300" dirty="0">
                <a:solidFill>
                  <a:schemeClr val="bg2"/>
                </a:solidFill>
              </a:rPr>
              <a:t> (relationships)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b="1" dirty="0">
                <a:solidFill>
                  <a:schemeClr val="bg1"/>
                </a:solidFill>
              </a:rPr>
              <a:t>collegano</a:t>
            </a:r>
            <a:r>
              <a:rPr lang="en-US" sz="2000" dirty="0">
                <a:solidFill>
                  <a:schemeClr val="bg2"/>
                </a:solidFill>
              </a:rPr>
              <a:t> le </a:t>
            </a:r>
            <a:r>
              <a:rPr lang="en-US" sz="2000" b="1" dirty="0">
                <a:solidFill>
                  <a:schemeClr val="bg1"/>
                </a:solidFill>
              </a:rPr>
              <a:t>istanze</a:t>
            </a:r>
            <a:r>
              <a:rPr lang="en-US" sz="2000" dirty="0">
                <a:solidFill>
                  <a:schemeClr val="bg2"/>
                </a:solidFill>
              </a:rPr>
              <a:t> di un’</a:t>
            </a:r>
            <a:r>
              <a:rPr lang="en-US" sz="2000" b="1" dirty="0">
                <a:solidFill>
                  <a:schemeClr val="bg1"/>
                </a:solidFill>
              </a:rPr>
              <a:t>entità</a:t>
            </a:r>
            <a:r>
              <a:rPr lang="en-US" sz="2000" dirty="0">
                <a:solidFill>
                  <a:schemeClr val="bg2"/>
                </a:solidFill>
              </a:rPr>
              <a:t> a quelle di </a:t>
            </a:r>
            <a:r>
              <a:rPr lang="en-US" sz="2000" b="1" dirty="0">
                <a:solidFill>
                  <a:schemeClr val="bg1"/>
                </a:solidFill>
              </a:rPr>
              <a:t>un’altra</a:t>
            </a:r>
            <a:r>
              <a:rPr lang="en-US" sz="2000" dirty="0">
                <a:solidFill>
                  <a:schemeClr val="bg2"/>
                </a:solidFill>
              </a:rPr>
              <a:t> entità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23902" y="1783080"/>
            <a:ext cx="5879316" cy="1118429"/>
          </a:xfrm>
          <a:prstGeom prst="roundRect">
            <a:avLst>
              <a:gd name="adj" fmla="val 114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ofessore – Insegna – Mater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3630" y="1892808"/>
            <a:ext cx="5659860" cy="89897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221224" y="3139253"/>
            <a:ext cx="6284671" cy="89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Se entità = relazione …</a:t>
            </a:r>
            <a:endParaRPr lang="en-US" sz="23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… entità = insieme di tuple!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04537" y="4269553"/>
            <a:ext cx="5918045" cy="2085527"/>
          </a:xfrm>
          <a:prstGeom prst="roundRect">
            <a:avLst>
              <a:gd name="adj" fmla="val 6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Istanze di Professore collegate a istanze di Mater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265" y="4379281"/>
            <a:ext cx="5698589" cy="186607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Esempi di Entità e Associazioni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3931920" cy="352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Ogni studente appartiene alla rispettiva classe…</a:t>
            </a:r>
            <a:endParaRPr lang="en-US" sz="23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Ogni persona può possedere delle automobili…</a:t>
            </a:r>
            <a:endParaRPr lang="en-US" sz="23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Ogni impiegato ha la propria città di residenza…</a:t>
            </a:r>
            <a:endParaRPr lang="en-US" sz="23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Ogni ministro è susseguito da un nuovo ministro…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51196" y="1783080"/>
            <a:ext cx="6350407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Studente–Appartiene–Classe, Persona–Possiede–Automobile, Impiegato–Risiede–Città, Ministro–Succede (associazione ricorsiva: successore, predecessor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0924" y="1892808"/>
            <a:ext cx="6130951" cy="43525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Entità e Associazioni Multiple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1414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Tra due entità possono esserci </a:t>
            </a:r>
            <a:r>
              <a:rPr lang="en-US" sz="2300" b="1" dirty="0">
                <a:solidFill>
                  <a:schemeClr val="bg1"/>
                </a:solidFill>
              </a:rPr>
              <a:t>più associazioni</a:t>
            </a:r>
            <a:r>
              <a:rPr lang="en-US" sz="2300" dirty="0">
                <a:solidFill>
                  <a:schemeClr val="bg2"/>
                </a:solidFill>
              </a:rPr>
              <a:t>.</a:t>
            </a:r>
            <a:endParaRPr lang="en-US" sz="23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Ad esempio: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Ogni impiegato ha una città di residenza ed una città dove lavora.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328771" y="3434842"/>
            <a:ext cx="9534153" cy="2920238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Impiegato collegato a Città dalle associazioni Lavora e Risie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8499" y="3544570"/>
            <a:ext cx="9314697" cy="270078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Cardinalità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3485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Come si possono “</a:t>
            </a:r>
            <a:r>
              <a:rPr lang="en-US" sz="2000" b="1" dirty="0">
                <a:solidFill>
                  <a:schemeClr val="bg1"/>
                </a:solidFill>
              </a:rPr>
              <a:t>quantificare</a:t>
            </a:r>
            <a:r>
              <a:rPr lang="en-US" sz="2000" dirty="0">
                <a:solidFill>
                  <a:schemeClr val="bg2"/>
                </a:solidFill>
              </a:rPr>
              <a:t>” le associazioni?</a:t>
            </a:r>
            <a:endParaRPr lang="en-US" sz="20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Date due relazioni A e B, ci si chiede: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data </a:t>
            </a:r>
            <a:r>
              <a:rPr lang="en-US" sz="2000" b="1" dirty="0">
                <a:solidFill>
                  <a:schemeClr val="bg1"/>
                </a:solidFill>
              </a:rPr>
              <a:t>un’istanza</a:t>
            </a:r>
            <a:r>
              <a:rPr lang="en-US" sz="2000" dirty="0">
                <a:solidFill>
                  <a:schemeClr val="bg2"/>
                </a:solidFill>
              </a:rPr>
              <a:t> di </a:t>
            </a:r>
            <a:r>
              <a:rPr lang="en-US" sz="2000" b="1" dirty="0">
                <a:solidFill>
                  <a:schemeClr val="bg1"/>
                </a:solidFill>
              </a:rPr>
              <a:t>A</a:t>
            </a:r>
            <a:r>
              <a:rPr lang="en-US" sz="2000" dirty="0">
                <a:solidFill>
                  <a:schemeClr val="bg2"/>
                </a:solidFill>
              </a:rPr>
              <a:t>, </a:t>
            </a:r>
            <a:r>
              <a:rPr lang="en-US" sz="2000" b="1" dirty="0">
                <a:solidFill>
                  <a:schemeClr val="bg1"/>
                </a:solidFill>
              </a:rPr>
              <a:t>quante istanze</a:t>
            </a:r>
            <a:r>
              <a:rPr lang="en-US" sz="2000" dirty="0">
                <a:solidFill>
                  <a:schemeClr val="bg2"/>
                </a:solidFill>
              </a:rPr>
              <a:t> di </a:t>
            </a:r>
            <a:r>
              <a:rPr lang="en-US" sz="2000" b="1" dirty="0">
                <a:solidFill>
                  <a:schemeClr val="bg1"/>
                </a:solidFill>
              </a:rPr>
              <a:t>B</a:t>
            </a:r>
            <a:r>
              <a:rPr lang="en-US" sz="2000" dirty="0">
                <a:solidFill>
                  <a:schemeClr val="bg2"/>
                </a:solidFill>
              </a:rPr>
              <a:t> sono associate ad essa?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data </a:t>
            </a:r>
            <a:r>
              <a:rPr lang="en-US" sz="2000" b="1" dirty="0">
                <a:solidFill>
                  <a:schemeClr val="bg1"/>
                </a:solidFill>
              </a:rPr>
              <a:t>un’istanza</a:t>
            </a:r>
            <a:r>
              <a:rPr lang="en-US" sz="2000" dirty="0">
                <a:solidFill>
                  <a:schemeClr val="bg2"/>
                </a:solidFill>
              </a:rPr>
              <a:t> di </a:t>
            </a:r>
            <a:r>
              <a:rPr lang="en-US" sz="2000" b="1" dirty="0">
                <a:solidFill>
                  <a:schemeClr val="bg1"/>
                </a:solidFill>
              </a:rPr>
              <a:t>B</a:t>
            </a:r>
            <a:r>
              <a:rPr lang="en-US" sz="2000" dirty="0">
                <a:solidFill>
                  <a:schemeClr val="bg2"/>
                </a:solidFill>
              </a:rPr>
              <a:t>, </a:t>
            </a:r>
            <a:r>
              <a:rPr lang="en-US" sz="2000" b="1" dirty="0">
                <a:solidFill>
                  <a:schemeClr val="bg1"/>
                </a:solidFill>
              </a:rPr>
              <a:t>quante istanze</a:t>
            </a:r>
            <a:r>
              <a:rPr lang="en-US" sz="2000" dirty="0">
                <a:solidFill>
                  <a:schemeClr val="bg2"/>
                </a:solidFill>
              </a:rPr>
              <a:t> di </a:t>
            </a:r>
            <a:r>
              <a:rPr lang="en-US" sz="2000" b="1" dirty="0">
                <a:solidFill>
                  <a:schemeClr val="bg1"/>
                </a:solidFill>
              </a:rPr>
              <a:t>A</a:t>
            </a:r>
            <a:r>
              <a:rPr lang="en-US" sz="2000" dirty="0">
                <a:solidFill>
                  <a:schemeClr val="bg2"/>
                </a:solidFill>
              </a:rPr>
              <a:t> sono associate ad essa?</a:t>
            </a:r>
            <a:endParaRPr lang="en-US" sz="20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Si considerano quindi: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il </a:t>
            </a:r>
            <a:r>
              <a:rPr lang="en-US" sz="2000" b="1" dirty="0">
                <a:solidFill>
                  <a:schemeClr val="bg1"/>
                </a:solidFill>
              </a:rPr>
              <a:t>minimo</a:t>
            </a:r>
            <a:r>
              <a:rPr lang="en-US" sz="2000" dirty="0">
                <a:solidFill>
                  <a:schemeClr val="bg2"/>
                </a:solidFill>
              </a:rPr>
              <a:t> ed il </a:t>
            </a:r>
            <a:r>
              <a:rPr lang="en-US" sz="2000" b="1" dirty="0">
                <a:solidFill>
                  <a:schemeClr val="bg1"/>
                </a:solidFill>
              </a:rPr>
              <a:t>massimo</a:t>
            </a:r>
            <a:r>
              <a:rPr lang="en-US" sz="2000" dirty="0">
                <a:solidFill>
                  <a:schemeClr val="bg2"/>
                </a:solidFill>
              </a:rPr>
              <a:t> numero di collegamenti </a:t>
            </a:r>
            <a:r>
              <a:rPr lang="en-US" sz="2000" b="1" dirty="0">
                <a:solidFill>
                  <a:schemeClr val="bg1"/>
                </a:solidFill>
              </a:rPr>
              <a:t>da</a:t>
            </a:r>
            <a:r>
              <a:rPr lang="en-US" sz="2000" dirty="0">
                <a:solidFill>
                  <a:schemeClr val="bg2"/>
                </a:solidFill>
              </a:rPr>
              <a:t> un’istanza di </a:t>
            </a:r>
            <a:r>
              <a:rPr lang="en-US" sz="2000" b="1" dirty="0">
                <a:solidFill>
                  <a:schemeClr val="bg1"/>
                </a:solidFill>
              </a:rPr>
              <a:t>A</a:t>
            </a:r>
            <a:r>
              <a:rPr lang="en-US" sz="2000" dirty="0">
                <a:solidFill>
                  <a:schemeClr val="bg2"/>
                </a:solidFill>
              </a:rPr>
              <a:t> ad una di </a:t>
            </a:r>
            <a:r>
              <a:rPr lang="en-US" sz="2000" b="1" dirty="0">
                <a:solidFill>
                  <a:schemeClr val="bg1"/>
                </a:solidFill>
              </a:rPr>
              <a:t>B</a:t>
            </a:r>
            <a:endParaRPr lang="en-US" sz="20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700" dirty="0">
                <a:solidFill>
                  <a:schemeClr val="bg2"/>
                </a:solidFill>
              </a:rPr>
              <a:t>cardinalità minima e massima da A a B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il </a:t>
            </a:r>
            <a:r>
              <a:rPr lang="en-US" sz="2000" b="1" dirty="0">
                <a:solidFill>
                  <a:schemeClr val="bg1"/>
                </a:solidFill>
              </a:rPr>
              <a:t>minimo</a:t>
            </a:r>
            <a:r>
              <a:rPr lang="en-US" sz="2000" dirty="0">
                <a:solidFill>
                  <a:schemeClr val="bg2"/>
                </a:solidFill>
              </a:rPr>
              <a:t> ed il </a:t>
            </a:r>
            <a:r>
              <a:rPr lang="en-US" sz="2000" b="1" dirty="0">
                <a:solidFill>
                  <a:schemeClr val="bg1"/>
                </a:solidFill>
              </a:rPr>
              <a:t>massimo</a:t>
            </a:r>
            <a:r>
              <a:rPr lang="en-US" sz="2000" dirty="0">
                <a:solidFill>
                  <a:schemeClr val="bg2"/>
                </a:solidFill>
              </a:rPr>
              <a:t> numero di collegamenti </a:t>
            </a:r>
            <a:r>
              <a:rPr lang="en-US" sz="2000" b="1" dirty="0">
                <a:solidFill>
                  <a:schemeClr val="bg1"/>
                </a:solidFill>
              </a:rPr>
              <a:t>da</a:t>
            </a:r>
            <a:r>
              <a:rPr lang="en-US" sz="2000" dirty="0">
                <a:solidFill>
                  <a:schemeClr val="bg2"/>
                </a:solidFill>
              </a:rPr>
              <a:t> un’istanza di </a:t>
            </a:r>
            <a:r>
              <a:rPr lang="en-US" sz="2000" b="1" dirty="0">
                <a:solidFill>
                  <a:schemeClr val="bg1"/>
                </a:solidFill>
              </a:rPr>
              <a:t>B</a:t>
            </a:r>
            <a:r>
              <a:rPr lang="en-US" sz="2000" dirty="0">
                <a:solidFill>
                  <a:schemeClr val="bg2"/>
                </a:solidFill>
              </a:rPr>
              <a:t> ad una di </a:t>
            </a: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700" dirty="0">
                <a:solidFill>
                  <a:schemeClr val="bg2"/>
                </a:solidFill>
              </a:rPr>
              <a:t>cardinalità minima e massima da B ad 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506212"/>
            <a:ext cx="10820095" cy="760984"/>
          </a:xfrm>
          <a:prstGeom prst="roundRect">
            <a:avLst>
              <a:gd name="adj" fmla="val 16822"/>
            </a:avLst>
          </a:prstGeom>
          <a:solidFill>
            <a:schemeClr val="tx2"/>
          </a:solidFill>
          <a:ln w="15875">
            <a:solidFill>
              <a:schemeClr val="accent2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Ad </a:t>
            </a:r>
            <a:r>
              <a:rPr lang="en-US" sz="2000" b="1" dirty="0">
                <a:solidFill>
                  <a:schemeClr val="accent2"/>
                </a:solidFill>
              </a:rPr>
              <a:t>ogni associazione</a:t>
            </a:r>
            <a:r>
              <a:rPr lang="en-US" sz="2000" dirty="0">
                <a:solidFill>
                  <a:schemeClr val="bg1"/>
                </a:solidFill>
              </a:rPr>
              <a:t> corrispondono </a:t>
            </a:r>
            <a:r>
              <a:rPr lang="en-US" sz="2000" b="1" dirty="0">
                <a:solidFill>
                  <a:schemeClr val="accent2"/>
                </a:solidFill>
              </a:rPr>
              <a:t>due coppie</a:t>
            </a:r>
            <a:r>
              <a:rPr lang="en-US" sz="2000" dirty="0">
                <a:solidFill>
                  <a:schemeClr val="bg1"/>
                </a:solidFill>
              </a:rPr>
              <a:t> di valori!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Cardinalità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85800" y="1783080"/>
            <a:ext cx="6766560" cy="2363384"/>
          </a:xfrm>
          <a:prstGeom prst="roundRect">
            <a:avLst>
              <a:gd name="adj" fmla="val 5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Istanze di Professore collegate a istanze di Mater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92808"/>
            <a:ext cx="6547104" cy="2143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4384208"/>
            <a:ext cx="6766560" cy="1302636"/>
          </a:xfrm>
          <a:prstGeom prst="roundRect">
            <a:avLst>
              <a:gd name="adj" fmla="val 98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1" descr="Professore (1,2) Insegna (1,3) Mater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493936"/>
            <a:ext cx="6547104" cy="10831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81544" y="1783080"/>
            <a:ext cx="3724351" cy="3348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cardinalità da </a:t>
            </a:r>
            <a:r>
              <a:rPr lang="en-US" sz="2300" b="1" dirty="0">
                <a:solidFill>
                  <a:schemeClr val="bg1"/>
                </a:solidFill>
              </a:rPr>
              <a:t>Professore</a:t>
            </a:r>
            <a:r>
              <a:rPr lang="en-US" sz="2300" dirty="0">
                <a:solidFill>
                  <a:schemeClr val="bg2"/>
                </a:solidFill>
              </a:rPr>
              <a:t> a </a:t>
            </a:r>
            <a:r>
              <a:rPr lang="en-US" sz="2300" b="1" dirty="0">
                <a:solidFill>
                  <a:schemeClr val="bg1"/>
                </a:solidFill>
              </a:rPr>
              <a:t>Materia</a:t>
            </a:r>
            <a:r>
              <a:rPr lang="en-US" sz="2300" dirty="0">
                <a:solidFill>
                  <a:schemeClr val="bg2"/>
                </a:solidFill>
              </a:rPr>
              <a:t>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minima: 1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massima: 2</a:t>
            </a:r>
            <a:endParaRPr lang="en-US" sz="23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cardinalità da </a:t>
            </a:r>
            <a:r>
              <a:rPr lang="en-US" sz="2300" b="1" dirty="0">
                <a:solidFill>
                  <a:schemeClr val="bg1"/>
                </a:solidFill>
              </a:rPr>
              <a:t>Materia</a:t>
            </a:r>
            <a:r>
              <a:rPr lang="en-US" sz="2300" dirty="0">
                <a:solidFill>
                  <a:schemeClr val="bg2"/>
                </a:solidFill>
              </a:rPr>
              <a:t> a </a:t>
            </a:r>
            <a:r>
              <a:rPr lang="en-US" sz="2300" b="1" dirty="0">
                <a:solidFill>
                  <a:schemeClr val="bg1"/>
                </a:solidFill>
              </a:rPr>
              <a:t>Professore</a:t>
            </a:r>
            <a:r>
              <a:rPr lang="en-US" sz="2300" dirty="0">
                <a:solidFill>
                  <a:schemeClr val="bg2"/>
                </a:solidFill>
              </a:rPr>
              <a:t>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minima: 1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massima: 3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Cardinalità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Per ovvie ragioni, sarebbe </a:t>
            </a:r>
            <a:r>
              <a:rPr lang="en-US" sz="1800" b="1" dirty="0">
                <a:solidFill>
                  <a:schemeClr val="bg1"/>
                </a:solidFill>
              </a:rPr>
              <a:t>proibitivo</a:t>
            </a:r>
            <a:r>
              <a:rPr lang="en-US" sz="1800" dirty="0">
                <a:solidFill>
                  <a:schemeClr val="bg2"/>
                </a:solidFill>
              </a:rPr>
              <a:t> “</a:t>
            </a:r>
            <a:r>
              <a:rPr lang="en-US" sz="1800" b="1" dirty="0">
                <a:solidFill>
                  <a:schemeClr val="bg1"/>
                </a:solidFill>
              </a:rPr>
              <a:t>contare</a:t>
            </a:r>
            <a:r>
              <a:rPr lang="en-US" sz="1800" dirty="0">
                <a:solidFill>
                  <a:schemeClr val="bg2"/>
                </a:solidFill>
              </a:rPr>
              <a:t>” </a:t>
            </a:r>
            <a:r>
              <a:rPr lang="en-US" sz="1800" b="1" dirty="0">
                <a:solidFill>
                  <a:schemeClr val="bg1"/>
                </a:solidFill>
              </a:rPr>
              <a:t>manualmente</a:t>
            </a:r>
            <a:r>
              <a:rPr lang="en-US" sz="1800" dirty="0">
                <a:solidFill>
                  <a:schemeClr val="bg2"/>
                </a:solidFill>
              </a:rPr>
              <a:t> tutte le </a:t>
            </a:r>
            <a:r>
              <a:rPr lang="en-US" sz="1800" b="1" dirty="0">
                <a:solidFill>
                  <a:schemeClr val="bg1"/>
                </a:solidFill>
              </a:rPr>
              <a:t>occorrenze</a:t>
            </a:r>
            <a:r>
              <a:rPr lang="en-US" sz="1800" dirty="0">
                <a:solidFill>
                  <a:schemeClr val="bg2"/>
                </a:solidFill>
              </a:rPr>
              <a:t> di </a:t>
            </a:r>
            <a:r>
              <a:rPr lang="en-US" sz="1800" b="1" dirty="0">
                <a:solidFill>
                  <a:schemeClr val="bg1"/>
                </a:solidFill>
              </a:rPr>
              <a:t>ogni associazione</a:t>
            </a:r>
            <a:r>
              <a:rPr lang="en-US" sz="1800" dirty="0">
                <a:solidFill>
                  <a:schemeClr val="bg2"/>
                </a:solidFill>
              </a:rPr>
              <a:t> dello schema concettuale.</a:t>
            </a:r>
            <a:endParaRPr lang="en-US" sz="18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Quindi, a meno che questi numeri non siano esplicitati da qualche parte nel S.I. in esame, le </a:t>
            </a:r>
            <a:r>
              <a:rPr lang="en-US" sz="1800" b="1" dirty="0">
                <a:solidFill>
                  <a:schemeClr val="bg1"/>
                </a:solidFill>
              </a:rPr>
              <a:t>cardinalità</a:t>
            </a:r>
            <a:r>
              <a:rPr lang="en-US" sz="1800" dirty="0">
                <a:solidFill>
                  <a:schemeClr val="bg2"/>
                </a:solidFill>
              </a:rPr>
              <a:t> si </a:t>
            </a:r>
            <a:r>
              <a:rPr lang="en-US" sz="1800" b="1" dirty="0">
                <a:solidFill>
                  <a:schemeClr val="bg1"/>
                </a:solidFill>
              </a:rPr>
              <a:t>indicano</a:t>
            </a:r>
            <a:r>
              <a:rPr lang="en-US" sz="1800" dirty="0">
                <a:solidFill>
                  <a:schemeClr val="bg2"/>
                </a:solidFill>
              </a:rPr>
              <a:t> in maniera “</a:t>
            </a:r>
            <a:r>
              <a:rPr lang="en-US" sz="1800" b="1" dirty="0">
                <a:solidFill>
                  <a:schemeClr val="bg1"/>
                </a:solidFill>
              </a:rPr>
              <a:t>generica</a:t>
            </a:r>
            <a:r>
              <a:rPr lang="en-US" sz="1800" dirty="0">
                <a:solidFill>
                  <a:schemeClr val="bg2"/>
                </a:solidFill>
              </a:rPr>
              <a:t>”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430524"/>
            <a:ext cx="4206240" cy="185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cardinalità </a:t>
            </a:r>
            <a:r>
              <a:rPr lang="en-US" sz="1800" b="1" dirty="0">
                <a:solidFill>
                  <a:schemeClr val="bg1"/>
                </a:solidFill>
              </a:rPr>
              <a:t>minima</a:t>
            </a:r>
            <a:endParaRPr lang="en-US" sz="18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50" dirty="0">
                <a:solidFill>
                  <a:schemeClr val="bg2"/>
                </a:solidFill>
              </a:rPr>
              <a:t>0: corrispondenza </a:t>
            </a:r>
            <a:r>
              <a:rPr lang="en-US" sz="1550" b="1" dirty="0">
                <a:solidFill>
                  <a:schemeClr val="bg1"/>
                </a:solidFill>
              </a:rPr>
              <a:t>opzionale</a:t>
            </a:r>
            <a:endParaRPr lang="en-US" sz="18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50" dirty="0">
                <a:solidFill>
                  <a:schemeClr val="bg2"/>
                </a:solidFill>
              </a:rPr>
              <a:t>1: corrispondenza </a:t>
            </a:r>
            <a:r>
              <a:rPr lang="en-US" sz="1550" b="1" dirty="0">
                <a:solidFill>
                  <a:schemeClr val="bg1"/>
                </a:solidFill>
              </a:rPr>
              <a:t>obbligatoria</a:t>
            </a:r>
            <a:endParaRPr lang="en-US" sz="18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cardinalità massima</a:t>
            </a:r>
            <a:endParaRPr lang="en-US" sz="18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50" dirty="0">
                <a:solidFill>
                  <a:schemeClr val="bg2"/>
                </a:solidFill>
              </a:rPr>
              <a:t>1: corrispondenza </a:t>
            </a:r>
            <a:r>
              <a:rPr lang="en-US" sz="1550" b="1" dirty="0">
                <a:solidFill>
                  <a:schemeClr val="bg1"/>
                </a:solidFill>
              </a:rPr>
              <a:t>bi</a:t>
            </a:r>
            <a:r>
              <a:rPr lang="en-US" sz="1550" dirty="0">
                <a:solidFill>
                  <a:schemeClr val="bg2"/>
                </a:solidFill>
              </a:rPr>
              <a:t>-</a:t>
            </a:r>
            <a:r>
              <a:rPr lang="en-US" sz="1550" b="1" dirty="0">
                <a:solidFill>
                  <a:schemeClr val="bg1"/>
                </a:solidFill>
              </a:rPr>
              <a:t>univoca</a:t>
            </a:r>
            <a:endParaRPr lang="en-US" sz="18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50" dirty="0">
                <a:solidFill>
                  <a:schemeClr val="bg2"/>
                </a:solidFill>
              </a:rPr>
              <a:t>N: corrispondenza </a:t>
            </a:r>
            <a:r>
              <a:rPr lang="en-US" sz="1550" b="1" dirty="0">
                <a:solidFill>
                  <a:schemeClr val="bg1"/>
                </a:solidFill>
              </a:rPr>
              <a:t>multipla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221224" y="3781917"/>
            <a:ext cx="6284671" cy="1147857"/>
          </a:xfrm>
          <a:prstGeom prst="roundRect">
            <a:avLst>
              <a:gd name="adj" fmla="val 111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ofessore (1,N) Insegna (1,N) Mater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0952" y="3891645"/>
            <a:ext cx="6065215" cy="92840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5518912"/>
            <a:ext cx="10820095" cy="729996"/>
          </a:xfrm>
          <a:prstGeom prst="roundRect">
            <a:avLst>
              <a:gd name="adj" fmla="val 17537"/>
            </a:avLst>
          </a:prstGeom>
          <a:solidFill>
            <a:schemeClr val="tx2"/>
          </a:solidFill>
          <a:ln w="15875">
            <a:solidFill>
              <a:schemeClr val="accent2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Quante </a:t>
            </a:r>
            <a:r>
              <a:rPr lang="en-US" sz="1800" b="1" dirty="0">
                <a:solidFill>
                  <a:schemeClr val="accent2"/>
                </a:solidFill>
              </a:rPr>
              <a:t>combinazioni possibili</a:t>
            </a:r>
            <a:r>
              <a:rPr lang="en-US" sz="1800" dirty="0">
                <a:solidFill>
                  <a:schemeClr val="bg1"/>
                </a:solidFill>
              </a:rPr>
              <a:t> esistono?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Cardinalità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85800" y="1783080"/>
            <a:ext cx="3840480" cy="1110047"/>
          </a:xfrm>
          <a:prstGeom prst="roundRect">
            <a:avLst>
              <a:gd name="adj" fmla="val 115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A (1,1) R (1,1) 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92808"/>
            <a:ext cx="3621024" cy="89059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855464" y="1914525"/>
            <a:ext cx="6650431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bg2"/>
                </a:solidFill>
              </a:rPr>
              <a:t>Associazione </a:t>
            </a:r>
            <a:r>
              <a:rPr lang="en-US" sz="1900" b="1" dirty="0">
                <a:solidFill>
                  <a:schemeClr val="bg1"/>
                </a:solidFill>
              </a:rPr>
              <a:t>bi-univoca (1-1)</a:t>
            </a:r>
            <a:r>
              <a:rPr lang="en-US" sz="1900" dirty="0">
                <a:solidFill>
                  <a:schemeClr val="bg2"/>
                </a:solidFill>
              </a:rPr>
              <a:t>: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bg2"/>
                </a:solidFill>
              </a:rPr>
              <a:t>ogni istanza della prima entità è associata ad una sola istanza della seconda, e viceversa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685800" y="3346704"/>
            <a:ext cx="3840480" cy="1126045"/>
          </a:xfrm>
          <a:prstGeom prst="roundRect">
            <a:avLst>
              <a:gd name="adj" fmla="val 113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A (1,N) R (1,1) 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3456432"/>
            <a:ext cx="3621024" cy="90658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855464" y="3346704"/>
            <a:ext cx="6650431" cy="1357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bg2"/>
                </a:solidFill>
              </a:rPr>
              <a:t>Associazione </a:t>
            </a:r>
            <a:r>
              <a:rPr lang="en-US" sz="1900" b="1" dirty="0">
                <a:solidFill>
                  <a:schemeClr val="bg1"/>
                </a:solidFill>
              </a:rPr>
              <a:t>semplice (1-N)</a:t>
            </a:r>
            <a:r>
              <a:rPr lang="en-US" sz="1900" dirty="0">
                <a:solidFill>
                  <a:schemeClr val="bg2"/>
                </a:solidFill>
              </a:rPr>
              <a:t>: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bg2"/>
                </a:solidFill>
              </a:rPr>
              <a:t>ogni istanza della prima entità è associata ad una o più istanze della seconda, mentre ogni istanza della seconda ad una sola della prima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685800" y="4910328"/>
            <a:ext cx="3840480" cy="1131378"/>
          </a:xfrm>
          <a:prstGeom prst="roundRect">
            <a:avLst>
              <a:gd name="adj" fmla="val 113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2" descr="A (1,N) R (1,N) 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5020056"/>
            <a:ext cx="3621024" cy="91192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55464" y="5041773"/>
            <a:ext cx="6650431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bg2"/>
                </a:solidFill>
              </a:rPr>
              <a:t>Associazione </a:t>
            </a:r>
            <a:r>
              <a:rPr lang="en-US" sz="1900" b="1" dirty="0">
                <a:solidFill>
                  <a:schemeClr val="bg1"/>
                </a:solidFill>
              </a:rPr>
              <a:t>Complessa (N-N)</a:t>
            </a:r>
            <a:r>
              <a:rPr lang="en-US" sz="1900" dirty="0">
                <a:solidFill>
                  <a:schemeClr val="bg2"/>
                </a:solidFill>
              </a:rPr>
              <a:t>: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bg2"/>
                </a:solidFill>
              </a:rPr>
              <a:t>ogni istanza della prima entità è associata ad una o più istanze della seconda, e viceversa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Molteplicità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2177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Nonostante la </a:t>
            </a:r>
            <a:r>
              <a:rPr lang="en-US" sz="2300" b="1" dirty="0">
                <a:solidFill>
                  <a:schemeClr val="bg1"/>
                </a:solidFill>
              </a:rPr>
              <a:t>cardinalità</a:t>
            </a:r>
            <a:r>
              <a:rPr lang="en-US" sz="2300" dirty="0">
                <a:solidFill>
                  <a:schemeClr val="bg2"/>
                </a:solidFill>
              </a:rPr>
              <a:t> derivi direttamente dall’interpretazione </a:t>
            </a:r>
            <a:r>
              <a:rPr lang="en-US" sz="2300" b="1" dirty="0">
                <a:solidFill>
                  <a:schemeClr val="bg1"/>
                </a:solidFill>
              </a:rPr>
              <a:t>insiemistica</a:t>
            </a:r>
            <a:r>
              <a:rPr lang="en-US" sz="2300" dirty="0">
                <a:solidFill>
                  <a:schemeClr val="bg2"/>
                </a:solidFill>
              </a:rPr>
              <a:t> delle </a:t>
            </a:r>
            <a:r>
              <a:rPr lang="en-US" sz="2300" b="1" dirty="0">
                <a:solidFill>
                  <a:schemeClr val="bg1"/>
                </a:solidFill>
              </a:rPr>
              <a:t>relazioni</a:t>
            </a:r>
            <a:r>
              <a:rPr lang="en-US" sz="2300" dirty="0">
                <a:solidFill>
                  <a:schemeClr val="bg2"/>
                </a:solidFill>
              </a:rPr>
              <a:t> e </a:t>
            </a:r>
            <a:r>
              <a:rPr lang="en-US" sz="2300" b="1" dirty="0">
                <a:solidFill>
                  <a:schemeClr val="bg1"/>
                </a:solidFill>
              </a:rPr>
              <a:t>associazioni</a:t>
            </a:r>
            <a:r>
              <a:rPr lang="en-US" sz="2300" dirty="0">
                <a:solidFill>
                  <a:schemeClr val="bg2"/>
                </a:solidFill>
              </a:rPr>
              <a:t>, talvolta sono considerate: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poco “</a:t>
            </a:r>
            <a:r>
              <a:rPr lang="en-US" sz="2300" b="1" dirty="0">
                <a:solidFill>
                  <a:schemeClr val="bg1"/>
                </a:solidFill>
              </a:rPr>
              <a:t>compatte</a:t>
            </a:r>
            <a:r>
              <a:rPr lang="en-US" sz="2300" dirty="0">
                <a:solidFill>
                  <a:schemeClr val="bg2"/>
                </a:solidFill>
              </a:rPr>
              <a:t>”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poco </a:t>
            </a:r>
            <a:r>
              <a:rPr lang="en-US" sz="2300" b="1" dirty="0">
                <a:solidFill>
                  <a:schemeClr val="bg1"/>
                </a:solidFill>
              </a:rPr>
              <a:t>intuitive</a:t>
            </a:r>
            <a:r>
              <a:rPr lang="en-US" sz="2300" dirty="0">
                <a:solidFill>
                  <a:schemeClr val="bg2"/>
                </a:solidFill>
              </a:rPr>
              <a:t> nella </a:t>
            </a:r>
            <a:r>
              <a:rPr lang="en-US" sz="2300" b="1" dirty="0">
                <a:solidFill>
                  <a:schemeClr val="bg1"/>
                </a:solidFill>
              </a:rPr>
              <a:t>lettura</a:t>
            </a:r>
            <a:r>
              <a:rPr lang="en-US" sz="2300" dirty="0">
                <a:solidFill>
                  <a:schemeClr val="bg2"/>
                </a:solidFill>
              </a:rPr>
              <a:t> dello schema concettuale</a:t>
            </a:r>
            <a:endParaRPr lang="en-US" sz="23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Per questi motivi, a partire dalla </a:t>
            </a:r>
            <a:r>
              <a:rPr lang="en-US" sz="2300" b="1" dirty="0">
                <a:solidFill>
                  <a:schemeClr val="bg1"/>
                </a:solidFill>
              </a:rPr>
              <a:t>cardinalità massima</a:t>
            </a:r>
            <a:r>
              <a:rPr lang="en-US" sz="2300" dirty="0">
                <a:solidFill>
                  <a:schemeClr val="bg2"/>
                </a:solidFill>
              </a:rPr>
              <a:t> si ricava la </a:t>
            </a:r>
            <a:r>
              <a:rPr lang="en-US" sz="2300" b="1" dirty="0">
                <a:solidFill>
                  <a:schemeClr val="bg1"/>
                </a:solidFill>
              </a:rPr>
              <a:t>molteplicità</a:t>
            </a:r>
            <a:r>
              <a:rPr lang="en-US" sz="2300" dirty="0">
                <a:solidFill>
                  <a:schemeClr val="bg2"/>
                </a:solidFill>
              </a:rPr>
              <a:t>: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05870" y="4198366"/>
            <a:ext cx="6779956" cy="755142"/>
          </a:xfrm>
          <a:prstGeom prst="roundRect">
            <a:avLst>
              <a:gd name="adj" fmla="val 169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Tre associazioni A–R–B con cardinalità (1,1)(1,1), (1,N)(1,1), (1,N)(1,N) e molteplicità 1-1, 1-N, N-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598" y="4308094"/>
            <a:ext cx="6560500" cy="5356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5191252"/>
            <a:ext cx="10820095" cy="1163828"/>
          </a:xfrm>
          <a:prstGeom prst="roundRect">
            <a:avLst>
              <a:gd name="adj" fmla="val 11000"/>
            </a:avLst>
          </a:prstGeom>
          <a:solidFill>
            <a:schemeClr val="tx2"/>
          </a:solidFill>
          <a:ln w="15875">
            <a:solidFill>
              <a:schemeClr val="accent2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1"/>
                </a:solidFill>
              </a:rPr>
              <a:t>Si indicano in maniera “</a:t>
            </a:r>
            <a:r>
              <a:rPr lang="en-US" sz="2300" b="1" dirty="0">
                <a:solidFill>
                  <a:schemeClr val="accent2"/>
                </a:solidFill>
              </a:rPr>
              <a:t>invertita</a:t>
            </a:r>
            <a:r>
              <a:rPr lang="en-US" sz="2300" dirty="0">
                <a:solidFill>
                  <a:schemeClr val="bg1"/>
                </a:solidFill>
              </a:rPr>
              <a:t>” rispetto alla cardinalità per </a:t>
            </a:r>
            <a:r>
              <a:rPr lang="en-US" sz="2300" b="1" dirty="0">
                <a:solidFill>
                  <a:schemeClr val="accent2"/>
                </a:solidFill>
              </a:rPr>
              <a:t>favorire</a:t>
            </a:r>
            <a:r>
              <a:rPr lang="en-US" sz="2300" dirty="0">
                <a:solidFill>
                  <a:schemeClr val="bg1"/>
                </a:solidFill>
              </a:rPr>
              <a:t> la </a:t>
            </a:r>
            <a:r>
              <a:rPr lang="en-US" sz="2300" b="1" dirty="0">
                <a:solidFill>
                  <a:schemeClr val="accent2"/>
                </a:solidFill>
              </a:rPr>
              <a:t>leggibilità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Cardinalità vs Molteplicità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80844"/>
            <a:ext cx="3108960" cy="1427226"/>
          </a:xfrm>
          <a:prstGeom prst="roundRect">
            <a:avLst>
              <a:gd name="adj" fmla="val 8970"/>
            </a:avLst>
          </a:prstGeom>
          <a:solidFill>
            <a:schemeClr val="tx2"/>
          </a:solidFill>
          <a:ln w="15875">
            <a:solidFill>
              <a:schemeClr val="accent2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chemeClr val="bg1"/>
                </a:solidFill>
              </a:rPr>
              <a:t>Con le molteplicità le associazioni si </a:t>
            </a:r>
            <a:r>
              <a:rPr lang="en-US" sz="2100" b="1" dirty="0">
                <a:solidFill>
                  <a:schemeClr val="accent2"/>
                </a:solidFill>
              </a:rPr>
              <a:t>leggono facilmente…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501487" y="1783080"/>
            <a:ext cx="4626866" cy="1205230"/>
          </a:xfrm>
          <a:prstGeom prst="roundRect">
            <a:avLst>
              <a:gd name="adj" fmla="val 106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ersona (0,N) Possiede (1,1) Automobile, molteplicità 1 – 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1215" y="1892808"/>
            <a:ext cx="4407410" cy="9857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123944" y="3226054"/>
            <a:ext cx="7381951" cy="779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Da sx a dx: 1 Persona possiede N Automibili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Da dx a sx: N Automobili sono possedute da N Persone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243578"/>
            <a:ext cx="10820095" cy="2111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chemeClr val="bg2"/>
                </a:solidFill>
              </a:rPr>
              <a:t>A parte una miglior compattezza e leggibilità, la </a:t>
            </a:r>
            <a:r>
              <a:rPr lang="en-US" sz="2100" b="1" dirty="0">
                <a:solidFill>
                  <a:schemeClr val="bg1"/>
                </a:solidFill>
              </a:rPr>
              <a:t>molteplicità non considera</a:t>
            </a:r>
            <a:r>
              <a:rPr lang="en-US" sz="2100" dirty="0">
                <a:solidFill>
                  <a:schemeClr val="bg2"/>
                </a:solidFill>
              </a:rPr>
              <a:t> le cardinalità </a:t>
            </a:r>
            <a:r>
              <a:rPr lang="en-US" sz="2100" b="1" dirty="0">
                <a:solidFill>
                  <a:schemeClr val="bg1"/>
                </a:solidFill>
              </a:rPr>
              <a:t>minime…</a:t>
            </a:r>
            <a:endParaRPr lang="en-US" sz="21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chemeClr val="bg2"/>
                </a:solidFill>
              </a:rPr>
              <a:t>L’importante è </a:t>
            </a:r>
            <a:r>
              <a:rPr lang="en-US" sz="2100" b="1" dirty="0">
                <a:solidFill>
                  <a:schemeClr val="bg1"/>
                </a:solidFill>
              </a:rPr>
              <a:t>sceglierne</a:t>
            </a:r>
            <a:r>
              <a:rPr lang="en-US" sz="2100" dirty="0">
                <a:solidFill>
                  <a:schemeClr val="bg2"/>
                </a:solidFill>
              </a:rPr>
              <a:t> una ed essere </a:t>
            </a:r>
            <a:r>
              <a:rPr lang="en-US" sz="2100" b="1" dirty="0">
                <a:solidFill>
                  <a:schemeClr val="bg1"/>
                </a:solidFill>
              </a:rPr>
              <a:t>coerenti</a:t>
            </a:r>
            <a:r>
              <a:rPr lang="en-US" sz="2100" dirty="0">
                <a:solidFill>
                  <a:schemeClr val="bg2"/>
                </a:solidFill>
              </a:rPr>
              <a:t>!</a:t>
            </a:r>
            <a:endParaRPr lang="en-US" sz="21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chemeClr val="accent2"/>
                </a:solidFill>
              </a:rPr>
              <a:t>Noi utilizzeremo le </a:t>
            </a:r>
            <a:r>
              <a:rPr lang="en-US" sz="2100" b="1" dirty="0">
                <a:solidFill>
                  <a:schemeClr val="accent2"/>
                </a:solidFill>
              </a:rPr>
              <a:t>cardinalità</a:t>
            </a:r>
            <a:r>
              <a:rPr lang="en-US" sz="2100" dirty="0">
                <a:solidFill>
                  <a:schemeClr val="accent2"/>
                </a:solidFill>
              </a:rPr>
              <a:t> perché </a:t>
            </a:r>
            <a:r>
              <a:rPr lang="en-US" sz="2100" b="1" dirty="0">
                <a:solidFill>
                  <a:schemeClr val="accent2"/>
                </a:solidFill>
              </a:rPr>
              <a:t>meno ambigue</a:t>
            </a:r>
            <a:r>
              <a:rPr lang="en-US" sz="2100" dirty="0">
                <a:solidFill>
                  <a:schemeClr val="accent2"/>
                </a:solidFill>
              </a:rPr>
              <a:t> e vicine all’interpretazione </a:t>
            </a:r>
            <a:r>
              <a:rPr lang="en-US" sz="2100" b="1" dirty="0">
                <a:solidFill>
                  <a:schemeClr val="accent2"/>
                </a:solidFill>
              </a:rPr>
              <a:t>insiemistica</a:t>
            </a:r>
            <a:r>
              <a:rPr lang="en-US" sz="2100" dirty="0">
                <a:solidFill>
                  <a:schemeClr val="accent2"/>
                </a:solidFill>
              </a:rPr>
              <a:t>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Attributi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6650431" cy="4516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chemeClr val="bg2"/>
                </a:solidFill>
              </a:rPr>
              <a:t>Le </a:t>
            </a:r>
            <a:r>
              <a:rPr lang="en-US" sz="2100" b="1" dirty="0">
                <a:solidFill>
                  <a:schemeClr val="bg1"/>
                </a:solidFill>
              </a:rPr>
              <a:t>proprietà elementari</a:t>
            </a:r>
            <a:r>
              <a:rPr lang="en-US" sz="2100" dirty="0">
                <a:solidFill>
                  <a:schemeClr val="bg2"/>
                </a:solidFill>
              </a:rPr>
              <a:t> di </a:t>
            </a:r>
            <a:r>
              <a:rPr lang="en-US" sz="2100" b="1" dirty="0">
                <a:solidFill>
                  <a:schemeClr val="bg1"/>
                </a:solidFill>
              </a:rPr>
              <a:t>entità</a:t>
            </a:r>
            <a:r>
              <a:rPr lang="en-US" sz="2100" dirty="0">
                <a:solidFill>
                  <a:schemeClr val="bg2"/>
                </a:solidFill>
              </a:rPr>
              <a:t> ed </a:t>
            </a:r>
            <a:r>
              <a:rPr lang="en-US" sz="2100" b="1" dirty="0">
                <a:solidFill>
                  <a:schemeClr val="bg1"/>
                </a:solidFill>
              </a:rPr>
              <a:t>associazioni</a:t>
            </a:r>
            <a:r>
              <a:rPr lang="en-US" sz="2100" dirty="0">
                <a:solidFill>
                  <a:schemeClr val="bg2"/>
                </a:solidFill>
              </a:rPr>
              <a:t> vengono descritte dagli </a:t>
            </a:r>
            <a:r>
              <a:rPr lang="en-US" sz="2100" b="1" dirty="0">
                <a:solidFill>
                  <a:schemeClr val="bg1"/>
                </a:solidFill>
              </a:rPr>
              <a:t>attributi</a:t>
            </a:r>
            <a:r>
              <a:rPr lang="en-US" sz="2100" dirty="0">
                <a:solidFill>
                  <a:schemeClr val="bg2"/>
                </a:solidFill>
              </a:rPr>
              <a:t>: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b="1" dirty="0">
                <a:solidFill>
                  <a:schemeClr val="bg1"/>
                </a:solidFill>
              </a:rPr>
              <a:t>formato</a:t>
            </a:r>
            <a:r>
              <a:rPr lang="en-US" sz="2100" dirty="0">
                <a:solidFill>
                  <a:schemeClr val="bg2"/>
                </a:solidFill>
              </a:rPr>
              <a:t> (o dominio)</a:t>
            </a:r>
            <a:endParaRPr lang="en-US" sz="21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800" b="1" dirty="0">
                <a:solidFill>
                  <a:schemeClr val="bg1"/>
                </a:solidFill>
              </a:rPr>
              <a:t>cardinalità</a:t>
            </a:r>
            <a:r>
              <a:rPr lang="en-US" sz="1800" dirty="0">
                <a:solidFill>
                  <a:schemeClr val="bg2"/>
                </a:solidFill>
              </a:rPr>
              <a:t> (# di valori che può assumere nel dominio)</a:t>
            </a:r>
            <a:endParaRPr lang="en-US" sz="2100" dirty="0"/>
          </a:p>
          <a:p>
            <a:pPr lvl="2" marL="685800" indent="-228600">
              <a:spcAft>
                <a:spcPts val="400"/>
              </a:spcAft>
              <a:buSzPct val="100000"/>
              <a:buChar char="–"/>
            </a:pPr>
            <a:r>
              <a:rPr lang="en-US" sz="1800" dirty="0">
                <a:solidFill>
                  <a:schemeClr val="bg2"/>
                </a:solidFill>
              </a:rPr>
              <a:t>da non confondere con quella delle associazioni!</a:t>
            </a:r>
            <a:endParaRPr lang="en-US" sz="2100" dirty="0"/>
          </a:p>
          <a:p>
            <a:pPr lvl="2" marL="685800" indent="-228600">
              <a:spcAft>
                <a:spcPts val="400"/>
              </a:spcAft>
              <a:buSzPct val="100000"/>
              <a:buChar char="–"/>
            </a:pPr>
            <a:r>
              <a:rPr lang="en-US" sz="1800" dirty="0">
                <a:solidFill>
                  <a:schemeClr val="bg2"/>
                </a:solidFill>
              </a:rPr>
              <a:t>esempio: il genere (M/F)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b="1" dirty="0">
                <a:solidFill>
                  <a:schemeClr val="bg1"/>
                </a:solidFill>
              </a:rPr>
              <a:t>dimensione</a:t>
            </a:r>
            <a:r>
              <a:rPr lang="en-US" sz="2100" dirty="0">
                <a:solidFill>
                  <a:schemeClr val="bg2"/>
                </a:solidFill>
              </a:rPr>
              <a:t> (# di caratteri, # di cifre, …)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b="1" dirty="0">
                <a:solidFill>
                  <a:schemeClr val="bg1"/>
                </a:solidFill>
              </a:rPr>
              <a:t>opzionalità</a:t>
            </a:r>
            <a:r>
              <a:rPr lang="en-US" sz="2100" dirty="0">
                <a:solidFill>
                  <a:schemeClr val="bg2"/>
                </a:solidFill>
              </a:rPr>
              <a:t> (obbligatorio o no, “nullable”)</a:t>
            </a:r>
            <a:endParaRPr lang="en-US" sz="21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chemeClr val="bg2"/>
                </a:solidFill>
              </a:rPr>
              <a:t>Sinonimi: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campi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proprietà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caratteristiche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7665415" y="3164967"/>
            <a:ext cx="3840480" cy="1752600"/>
          </a:xfrm>
          <a:prstGeom prst="roundRect">
            <a:avLst>
              <a:gd name="adj" fmla="val 7304"/>
            </a:avLst>
          </a:prstGeom>
          <a:solidFill>
            <a:schemeClr val="tx2"/>
          </a:solidFill>
          <a:ln w="15875">
            <a:solidFill>
              <a:schemeClr val="accent2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chemeClr val="bg1"/>
                </a:solidFill>
              </a:rPr>
              <a:t>Considerando relazioni ed associazioni in forma </a:t>
            </a:r>
            <a:r>
              <a:rPr lang="en-US" sz="2100" b="1" dirty="0">
                <a:solidFill>
                  <a:schemeClr val="accent2"/>
                </a:solidFill>
              </a:rPr>
              <a:t>tabulare</a:t>
            </a:r>
            <a:r>
              <a:rPr lang="en-US" sz="2100" dirty="0">
                <a:solidFill>
                  <a:schemeClr val="bg1"/>
                </a:solidFill>
              </a:rPr>
              <a:t>, gli </a:t>
            </a:r>
            <a:r>
              <a:rPr lang="en-US" sz="2100" b="1" dirty="0">
                <a:solidFill>
                  <a:schemeClr val="accent2"/>
                </a:solidFill>
              </a:rPr>
              <a:t>attributi</a:t>
            </a:r>
            <a:r>
              <a:rPr lang="en-US" sz="2100" dirty="0">
                <a:solidFill>
                  <a:schemeClr val="bg1"/>
                </a:solidFill>
              </a:rPr>
              <a:t> diventano </a:t>
            </a:r>
            <a:r>
              <a:rPr lang="en-US" sz="2100" b="1" dirty="0">
                <a:solidFill>
                  <a:schemeClr val="accent2"/>
                </a:solidFill>
              </a:rPr>
              <a:t>colonne</a:t>
            </a:r>
            <a:r>
              <a:rPr lang="en-US" sz="2100" dirty="0">
                <a:solidFill>
                  <a:schemeClr val="bg1"/>
                </a:solidFill>
              </a:rPr>
              <a:t>!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Attributi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816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b="1" dirty="0">
                <a:solidFill>
                  <a:schemeClr val="bg1"/>
                </a:solidFill>
              </a:rPr>
              <a:t>Graficamente</a:t>
            </a:r>
            <a:r>
              <a:rPr lang="en-US" sz="2300" dirty="0">
                <a:solidFill>
                  <a:schemeClr val="bg2"/>
                </a:solidFill>
              </a:rPr>
              <a:t>, ogni attributo viene indicato con un </a:t>
            </a:r>
            <a:r>
              <a:rPr lang="en-US" sz="2300" b="1" dirty="0">
                <a:solidFill>
                  <a:schemeClr val="bg1"/>
                </a:solidFill>
              </a:rPr>
              <a:t>cerchio</a:t>
            </a:r>
            <a:r>
              <a:rPr lang="en-US" sz="2300" dirty="0">
                <a:solidFill>
                  <a:schemeClr val="bg2"/>
                </a:solidFill>
              </a:rPr>
              <a:t> collegato alla rispettiva entità o associazione. Il </a:t>
            </a:r>
            <a:r>
              <a:rPr lang="en-US" sz="2300" b="1" dirty="0">
                <a:solidFill>
                  <a:schemeClr val="bg1"/>
                </a:solidFill>
              </a:rPr>
              <a:t>colore</a:t>
            </a:r>
            <a:r>
              <a:rPr lang="en-US" sz="2300" dirty="0">
                <a:solidFill>
                  <a:schemeClr val="bg2"/>
                </a:solidFill>
              </a:rPr>
              <a:t> ne indica il </a:t>
            </a:r>
            <a:r>
              <a:rPr lang="en-US" sz="2300" b="1" dirty="0">
                <a:solidFill>
                  <a:schemeClr val="bg1"/>
                </a:solidFill>
              </a:rPr>
              <a:t>ruolo</a:t>
            </a:r>
            <a:r>
              <a:rPr lang="en-US" sz="2300" dirty="0">
                <a:solidFill>
                  <a:schemeClr val="bg2"/>
                </a:solidFill>
              </a:rPr>
              <a:t>: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837180"/>
            <a:ext cx="2743200" cy="2284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bianco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descrittivo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informativo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nero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chiave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identificatore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758184" y="2837180"/>
            <a:ext cx="7747711" cy="2741668"/>
          </a:xfrm>
          <a:prstGeom prst="roundRect">
            <a:avLst>
              <a:gd name="adj" fmla="val 46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ersona–Possiede–Automobile con attributi: Nome, Cognome, Codice Fiscale, Prezzo Acquisto, Data Acquisto, N. Telaio, Modello, Anno Prod., Casa Pro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7912" y="2946908"/>
            <a:ext cx="7528255" cy="25222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Attributo chiave o Identificatore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5852160" cy="3116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bg2"/>
                </a:solidFill>
              </a:rPr>
              <a:t>Ogni </a:t>
            </a:r>
            <a:r>
              <a:rPr lang="en-US" sz="1700" b="1" dirty="0">
                <a:solidFill>
                  <a:schemeClr val="bg1"/>
                </a:solidFill>
              </a:rPr>
              <a:t>tupla</a:t>
            </a:r>
            <a:r>
              <a:rPr lang="en-US" sz="1700" dirty="0">
                <a:solidFill>
                  <a:schemeClr val="bg2"/>
                </a:solidFill>
              </a:rPr>
              <a:t> deve poter essere </a:t>
            </a:r>
            <a:r>
              <a:rPr lang="en-US" sz="1700" b="1" dirty="0">
                <a:solidFill>
                  <a:schemeClr val="bg1"/>
                </a:solidFill>
              </a:rPr>
              <a:t>distinta univocamente</a:t>
            </a:r>
            <a:r>
              <a:rPr lang="en-US" sz="1700" dirty="0">
                <a:solidFill>
                  <a:schemeClr val="bg2"/>
                </a:solidFill>
              </a:rPr>
              <a:t> dalle altre.</a:t>
            </a:r>
            <a:endParaRPr lang="en-US" sz="17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700" dirty="0">
                <a:solidFill>
                  <a:schemeClr val="bg2"/>
                </a:solidFill>
              </a:rPr>
              <a:t>Per questo motivo, occorre </a:t>
            </a:r>
            <a:r>
              <a:rPr lang="en-US" sz="1700" b="1" dirty="0">
                <a:solidFill>
                  <a:schemeClr val="bg1"/>
                </a:solidFill>
              </a:rPr>
              <a:t>individuare</a:t>
            </a:r>
            <a:r>
              <a:rPr lang="en-US" sz="1700" dirty="0">
                <a:solidFill>
                  <a:schemeClr val="bg2"/>
                </a:solidFill>
              </a:rPr>
              <a:t> un </a:t>
            </a:r>
            <a:r>
              <a:rPr lang="en-US" sz="1700" b="1" dirty="0">
                <a:solidFill>
                  <a:schemeClr val="bg1"/>
                </a:solidFill>
              </a:rPr>
              <a:t>insieme</a:t>
            </a:r>
            <a:r>
              <a:rPr lang="en-US" sz="1700" dirty="0">
                <a:solidFill>
                  <a:schemeClr val="bg2"/>
                </a:solidFill>
              </a:rPr>
              <a:t> di </a:t>
            </a:r>
            <a:r>
              <a:rPr lang="en-US" sz="1700" b="1" dirty="0">
                <a:solidFill>
                  <a:schemeClr val="bg1"/>
                </a:solidFill>
              </a:rPr>
              <a:t>attributi</a:t>
            </a:r>
            <a:r>
              <a:rPr lang="en-US" sz="1700" dirty="0">
                <a:solidFill>
                  <a:schemeClr val="bg2"/>
                </a:solidFill>
              </a:rPr>
              <a:t> che permette di </a:t>
            </a:r>
            <a:r>
              <a:rPr lang="en-US" sz="1700" b="1" dirty="0">
                <a:solidFill>
                  <a:schemeClr val="bg1"/>
                </a:solidFill>
              </a:rPr>
              <a:t>identificare</a:t>
            </a:r>
            <a:r>
              <a:rPr lang="en-US" sz="1700" dirty="0">
                <a:solidFill>
                  <a:schemeClr val="bg2"/>
                </a:solidFill>
              </a:rPr>
              <a:t> le istanze delle entità: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bg1"/>
                </a:solidFill>
              </a:rPr>
              <a:t>chiave primaria</a:t>
            </a:r>
            <a:r>
              <a:rPr lang="en-US" sz="1700" dirty="0">
                <a:solidFill>
                  <a:schemeClr val="bg2"/>
                </a:solidFill>
              </a:rPr>
              <a:t> o </a:t>
            </a:r>
            <a:r>
              <a:rPr lang="en-US" sz="1700" b="1" dirty="0">
                <a:solidFill>
                  <a:schemeClr val="bg1"/>
                </a:solidFill>
              </a:rPr>
              <a:t>identificatore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bg1"/>
                </a:solidFill>
              </a:rPr>
              <a:t>insieme</a:t>
            </a:r>
            <a:r>
              <a:rPr lang="en-US" sz="1700" dirty="0">
                <a:solidFill>
                  <a:schemeClr val="bg2"/>
                </a:solidFill>
              </a:rPr>
              <a:t> minimale di </a:t>
            </a:r>
            <a:r>
              <a:rPr lang="en-US" sz="1700" b="1" dirty="0">
                <a:solidFill>
                  <a:schemeClr val="bg1"/>
                </a:solidFill>
              </a:rPr>
              <a:t>attributi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450" dirty="0">
                <a:solidFill>
                  <a:schemeClr val="bg2"/>
                </a:solidFill>
              </a:rPr>
              <a:t>tipicamente uno solo!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chemeClr val="bg1"/>
                </a:solidFill>
              </a:rPr>
              <a:t>graficamente</a:t>
            </a:r>
            <a:r>
              <a:rPr lang="en-US" sz="1700" dirty="0">
                <a:solidFill>
                  <a:schemeClr val="bg2"/>
                </a:solidFill>
              </a:rPr>
              <a:t> si usa un </a:t>
            </a:r>
            <a:r>
              <a:rPr lang="en-US" sz="1700" b="1" dirty="0">
                <a:solidFill>
                  <a:schemeClr val="bg1"/>
                </a:solidFill>
              </a:rPr>
              <a:t>cerchio nero</a:t>
            </a:r>
            <a:r>
              <a:rPr lang="en-US" sz="1700" dirty="0">
                <a:solidFill>
                  <a:schemeClr val="bg2"/>
                </a:solidFill>
              </a:rPr>
              <a:t>: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450" b="1" dirty="0">
                <a:solidFill>
                  <a:schemeClr val="bg1"/>
                </a:solidFill>
              </a:rPr>
              <a:t>collegato</a:t>
            </a:r>
            <a:r>
              <a:rPr lang="en-US" sz="1450" dirty="0">
                <a:solidFill>
                  <a:schemeClr val="bg2"/>
                </a:solidFill>
              </a:rPr>
              <a:t> all’</a:t>
            </a:r>
            <a:r>
              <a:rPr lang="en-US" sz="1450" b="1" dirty="0">
                <a:solidFill>
                  <a:schemeClr val="bg1"/>
                </a:solidFill>
              </a:rPr>
              <a:t>entità</a:t>
            </a:r>
            <a:r>
              <a:rPr lang="en-US" sz="1450" dirty="0">
                <a:solidFill>
                  <a:schemeClr val="bg2"/>
                </a:solidFill>
              </a:rPr>
              <a:t> a cui si riferisce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450" b="1" dirty="0">
                <a:solidFill>
                  <a:schemeClr val="bg1"/>
                </a:solidFill>
              </a:rPr>
              <a:t>collegato</a:t>
            </a:r>
            <a:r>
              <a:rPr lang="en-US" sz="1450" dirty="0">
                <a:solidFill>
                  <a:schemeClr val="bg2"/>
                </a:solidFill>
              </a:rPr>
              <a:t> agli </a:t>
            </a:r>
            <a:r>
              <a:rPr lang="en-US" sz="1450" b="1" dirty="0">
                <a:solidFill>
                  <a:schemeClr val="bg1"/>
                </a:solidFill>
              </a:rPr>
              <a:t>attributi</a:t>
            </a:r>
            <a:r>
              <a:rPr lang="en-US" sz="1450" dirty="0">
                <a:solidFill>
                  <a:schemeClr val="bg2"/>
                </a:solidFill>
              </a:rPr>
              <a:t> che compongono la chiave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55235"/>
            <a:ext cx="5852160" cy="977900"/>
          </a:xfrm>
          <a:prstGeom prst="roundRect">
            <a:avLst>
              <a:gd name="adj" fmla="val 13091"/>
            </a:avLst>
          </a:prstGeom>
          <a:solidFill>
            <a:schemeClr val="tx2"/>
          </a:solidFill>
          <a:ln w="15875">
            <a:solidFill>
              <a:schemeClr val="accent2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Nel modello ER, le associazioni non hanno attributi chiave!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784848" y="1783080"/>
            <a:ext cx="4721047" cy="3945241"/>
          </a:xfrm>
          <a:prstGeom prst="roundRect">
            <a:avLst>
              <a:gd name="adj" fmla="val 32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ersona con chiave composta (Nome, Cognome, Data Nascita, Luogo Nascita) e Automobile con chiave N. Tela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892808"/>
            <a:ext cx="4501591" cy="372578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Identificatore interno ed esterno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1363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Tuttavia, alcuni </a:t>
            </a:r>
            <a:r>
              <a:rPr lang="en-US" sz="2300" b="1" dirty="0">
                <a:solidFill>
                  <a:schemeClr val="bg1"/>
                </a:solidFill>
              </a:rPr>
              <a:t>attributi</a:t>
            </a:r>
            <a:r>
              <a:rPr lang="en-US" sz="2300" dirty="0">
                <a:solidFill>
                  <a:schemeClr val="bg2"/>
                </a:solidFill>
              </a:rPr>
              <a:t> hanno senso come </a:t>
            </a:r>
            <a:r>
              <a:rPr lang="en-US" sz="2300" b="1" dirty="0">
                <a:solidFill>
                  <a:schemeClr val="bg1"/>
                </a:solidFill>
              </a:rPr>
              <a:t>chiave</a:t>
            </a:r>
            <a:r>
              <a:rPr lang="en-US" sz="2300" dirty="0">
                <a:solidFill>
                  <a:schemeClr val="bg2"/>
                </a:solidFill>
              </a:rPr>
              <a:t> soltanto se </a:t>
            </a:r>
            <a:r>
              <a:rPr lang="en-US" sz="2300" b="1" dirty="0">
                <a:solidFill>
                  <a:schemeClr val="bg1"/>
                </a:solidFill>
              </a:rPr>
              <a:t>considerati</a:t>
            </a:r>
            <a:r>
              <a:rPr lang="en-US" sz="2300" dirty="0">
                <a:solidFill>
                  <a:schemeClr val="bg2"/>
                </a:solidFill>
              </a:rPr>
              <a:t> nel contesto di </a:t>
            </a:r>
            <a:r>
              <a:rPr lang="en-US" sz="2300" b="1" dirty="0">
                <a:solidFill>
                  <a:schemeClr val="bg1"/>
                </a:solidFill>
              </a:rPr>
              <a:t>un’associazione</a:t>
            </a:r>
            <a:r>
              <a:rPr lang="en-US" sz="2300" dirty="0">
                <a:solidFill>
                  <a:schemeClr val="bg2"/>
                </a:solidFill>
              </a:rPr>
              <a:t>.</a:t>
            </a:r>
            <a:endParaRPr lang="en-US" sz="23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Ad esempio, nel caso di </a:t>
            </a:r>
            <a:r>
              <a:rPr lang="en-US" sz="2300" b="1" dirty="0">
                <a:solidFill>
                  <a:schemeClr val="bg1"/>
                </a:solidFill>
              </a:rPr>
              <a:t>studenti iscritti all’università</a:t>
            </a:r>
            <a:r>
              <a:rPr lang="en-US" sz="2300" dirty="0">
                <a:solidFill>
                  <a:schemeClr val="bg2"/>
                </a:solidFill>
              </a:rPr>
              <a:t>, si avrebbe: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479673"/>
            <a:ext cx="3566160" cy="2779776"/>
          </a:xfrm>
          <a:prstGeom prst="roundRect">
            <a:avLst>
              <a:gd name="adj" fmla="val 4605"/>
            </a:avLst>
          </a:prstGeom>
          <a:solidFill>
            <a:schemeClr val="tx2"/>
          </a:solidFill>
          <a:ln w="15875">
            <a:solidFill>
              <a:schemeClr val="accent2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1"/>
                </a:solidFill>
              </a:rPr>
              <a:t>Che </a:t>
            </a:r>
            <a:r>
              <a:rPr lang="en-US" sz="2300" b="1" dirty="0">
                <a:solidFill>
                  <a:schemeClr val="accent2"/>
                </a:solidFill>
              </a:rPr>
              <a:t>problema</a:t>
            </a:r>
            <a:r>
              <a:rPr lang="en-US" sz="2300" dirty="0">
                <a:solidFill>
                  <a:schemeClr val="bg1"/>
                </a:solidFill>
              </a:rPr>
              <a:t> si avrebbe considerando soltanto “</a:t>
            </a:r>
            <a:r>
              <a:rPr lang="en-US" sz="2300" b="1" dirty="0">
                <a:solidFill>
                  <a:schemeClr val="accent2"/>
                </a:solidFill>
              </a:rPr>
              <a:t>matricola</a:t>
            </a:r>
            <a:r>
              <a:rPr lang="en-US" sz="2300" dirty="0">
                <a:solidFill>
                  <a:schemeClr val="bg1"/>
                </a:solidFill>
              </a:rPr>
              <a:t>” come </a:t>
            </a:r>
            <a:r>
              <a:rPr lang="en-US" sz="2300" b="1" dirty="0">
                <a:solidFill>
                  <a:schemeClr val="accent2"/>
                </a:solidFill>
              </a:rPr>
              <a:t>chiave</a:t>
            </a:r>
            <a:r>
              <a:rPr lang="en-US" sz="2300" dirty="0">
                <a:solidFill>
                  <a:schemeClr val="bg1"/>
                </a:solidFill>
              </a:rPr>
              <a:t>?</a:t>
            </a:r>
            <a:endParaRPr lang="en-US" sz="23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chemeClr val="bg1"/>
                </a:solidFill>
              </a:rPr>
              <a:t>Tra università </a:t>
            </a:r>
            <a:r>
              <a:rPr lang="en-US" sz="2300" b="1" dirty="0">
                <a:solidFill>
                  <a:schemeClr val="accent2"/>
                </a:solidFill>
              </a:rPr>
              <a:t>diverse</a:t>
            </a:r>
            <a:r>
              <a:rPr lang="en-US" sz="2300" dirty="0">
                <a:solidFill>
                  <a:schemeClr val="bg1"/>
                </a:solidFill>
              </a:rPr>
              <a:t> si può avere </a:t>
            </a:r>
            <a:r>
              <a:rPr lang="en-US" sz="2300" b="1" dirty="0">
                <a:solidFill>
                  <a:schemeClr val="accent2"/>
                </a:solidFill>
              </a:rPr>
              <a:t>stessa matricola</a:t>
            </a:r>
            <a:r>
              <a:rPr lang="en-US" sz="2300" dirty="0">
                <a:solidFill>
                  <a:schemeClr val="bg1"/>
                </a:solidFill>
              </a:rPr>
              <a:t>!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576402" y="3384042"/>
            <a:ext cx="4934236" cy="1925828"/>
          </a:xfrm>
          <a:prstGeom prst="roundRect">
            <a:avLst>
              <a:gd name="adj" fmla="val 6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Studente (1,1) Iscritto (1,N) Università, con identificatore esterno su Stud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6130" y="3493770"/>
            <a:ext cx="4714780" cy="17063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81144" y="5547614"/>
            <a:ext cx="6924751" cy="807466"/>
          </a:xfrm>
          <a:prstGeom prst="roundRect">
            <a:avLst>
              <a:gd name="adj" fmla="val 15854"/>
            </a:avLst>
          </a:prstGeom>
          <a:solidFill>
            <a:schemeClr val="tx2"/>
          </a:solidFill>
          <a:ln w="15875">
            <a:solidFill>
              <a:schemeClr val="accent2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1"/>
                </a:solidFill>
              </a:rPr>
              <a:t>Applicabile se c’è </a:t>
            </a:r>
            <a:r>
              <a:rPr lang="en-US" sz="2300" b="1" dirty="0">
                <a:solidFill>
                  <a:schemeClr val="accent2"/>
                </a:solidFill>
              </a:rPr>
              <a:t>cardinalità</a:t>
            </a:r>
            <a:r>
              <a:rPr lang="en-US" sz="2300" dirty="0">
                <a:solidFill>
                  <a:schemeClr val="bg1"/>
                </a:solidFill>
              </a:rPr>
              <a:t> 1,1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Entità deboli e Chiavi artificiali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6284671" cy="425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Entità </a:t>
            </a:r>
            <a:r>
              <a:rPr lang="en-US" sz="2300" b="1" dirty="0">
                <a:solidFill>
                  <a:schemeClr val="bg1"/>
                </a:solidFill>
              </a:rPr>
              <a:t>forti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è </a:t>
            </a:r>
            <a:r>
              <a:rPr lang="en-US" sz="2300" b="1" dirty="0">
                <a:solidFill>
                  <a:schemeClr val="bg1"/>
                </a:solidFill>
              </a:rPr>
              <a:t>possibile</a:t>
            </a:r>
            <a:r>
              <a:rPr lang="en-US" sz="2300" dirty="0">
                <a:solidFill>
                  <a:schemeClr val="bg2"/>
                </a:solidFill>
              </a:rPr>
              <a:t> trovare una </a:t>
            </a:r>
            <a:r>
              <a:rPr lang="en-US" sz="2300" b="1" dirty="0">
                <a:solidFill>
                  <a:schemeClr val="bg1"/>
                </a:solidFill>
              </a:rPr>
              <a:t>chiave</a:t>
            </a:r>
            <a:endParaRPr lang="en-US" sz="23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Entità </a:t>
            </a:r>
            <a:r>
              <a:rPr lang="en-US" sz="2300" b="1" dirty="0">
                <a:solidFill>
                  <a:schemeClr val="bg1"/>
                </a:solidFill>
              </a:rPr>
              <a:t>deboli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non</a:t>
            </a:r>
            <a:r>
              <a:rPr lang="en-US" sz="2300" dirty="0">
                <a:solidFill>
                  <a:schemeClr val="bg2"/>
                </a:solidFill>
              </a:rPr>
              <a:t> è </a:t>
            </a:r>
            <a:r>
              <a:rPr lang="en-US" sz="2300" b="1" dirty="0">
                <a:solidFill>
                  <a:schemeClr val="bg1"/>
                </a:solidFill>
              </a:rPr>
              <a:t>possibile</a:t>
            </a:r>
            <a:r>
              <a:rPr lang="en-US" sz="2300" dirty="0">
                <a:solidFill>
                  <a:schemeClr val="bg2"/>
                </a:solidFill>
              </a:rPr>
              <a:t> trovare una </a:t>
            </a:r>
            <a:r>
              <a:rPr lang="en-US" sz="2300" b="1" dirty="0">
                <a:solidFill>
                  <a:schemeClr val="bg1"/>
                </a:solidFill>
              </a:rPr>
              <a:t>chiave</a:t>
            </a:r>
            <a:endParaRPr lang="en-US" sz="23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In quest’ultimo caso, si devono </a:t>
            </a:r>
            <a:r>
              <a:rPr lang="en-US" sz="2300" b="1" dirty="0">
                <a:solidFill>
                  <a:schemeClr val="bg1"/>
                </a:solidFill>
              </a:rPr>
              <a:t>introdurre chiavi</a:t>
            </a:r>
            <a:r>
              <a:rPr lang="en-US" sz="2300" dirty="0">
                <a:solidFill>
                  <a:schemeClr val="bg2"/>
                </a:solidFill>
              </a:rPr>
              <a:t> “</a:t>
            </a:r>
            <a:r>
              <a:rPr lang="en-US" sz="2300" b="1" dirty="0">
                <a:solidFill>
                  <a:schemeClr val="bg1"/>
                </a:solidFill>
              </a:rPr>
              <a:t>artificiali</a:t>
            </a:r>
            <a:r>
              <a:rPr lang="en-US" sz="2300" dirty="0">
                <a:solidFill>
                  <a:schemeClr val="bg2"/>
                </a:solidFill>
              </a:rPr>
              <a:t>” ottenute inserendo un </a:t>
            </a:r>
            <a:r>
              <a:rPr lang="en-US" sz="2300" b="1" dirty="0">
                <a:solidFill>
                  <a:schemeClr val="bg1"/>
                </a:solidFill>
              </a:rPr>
              <a:t>attributo fittizio</a:t>
            </a:r>
            <a:r>
              <a:rPr lang="en-US" sz="2300" dirty="0">
                <a:solidFill>
                  <a:schemeClr val="bg2"/>
                </a:solidFill>
              </a:rPr>
              <a:t>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chiamato </a:t>
            </a:r>
            <a:r>
              <a:rPr lang="en-US" sz="2300" b="1" dirty="0">
                <a:solidFill>
                  <a:schemeClr val="bg1"/>
                </a:solidFill>
              </a:rPr>
              <a:t>“ID”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contatore</a:t>
            </a:r>
            <a:r>
              <a:rPr lang="en-US" sz="2300" dirty="0">
                <a:solidFill>
                  <a:schemeClr val="bg2"/>
                </a:solidFill>
              </a:rPr>
              <a:t> progressivo incrementato ad ogni </a:t>
            </a:r>
            <a:r>
              <a:rPr lang="en-US" sz="2300" b="1" dirty="0">
                <a:solidFill>
                  <a:schemeClr val="bg1"/>
                </a:solidFill>
              </a:rPr>
              <a:t>nuova tupla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7299655" y="1783080"/>
            <a:ext cx="4206240" cy="152019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5875">
            <a:solidFill>
              <a:schemeClr val="accent2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1"/>
                </a:solidFill>
              </a:rPr>
              <a:t>A volte, si </a:t>
            </a:r>
            <a:r>
              <a:rPr lang="en-US" sz="2300" b="1" dirty="0">
                <a:solidFill>
                  <a:schemeClr val="accent2"/>
                </a:solidFill>
              </a:rPr>
              <a:t>inserisce</a:t>
            </a:r>
            <a:r>
              <a:rPr lang="en-US" sz="2300" dirty="0">
                <a:solidFill>
                  <a:schemeClr val="bg1"/>
                </a:solidFill>
              </a:rPr>
              <a:t> anche su entità </a:t>
            </a:r>
            <a:r>
              <a:rPr lang="en-US" sz="2300" b="1" dirty="0">
                <a:solidFill>
                  <a:schemeClr val="accent2"/>
                </a:solidFill>
              </a:rPr>
              <a:t>forti</a:t>
            </a:r>
            <a:r>
              <a:rPr lang="en-US" sz="2300" dirty="0">
                <a:solidFill>
                  <a:schemeClr val="bg1"/>
                </a:solidFill>
              </a:rPr>
              <a:t> per questioni di </a:t>
            </a:r>
            <a:r>
              <a:rPr lang="en-US" sz="2300" b="1" dirty="0">
                <a:solidFill>
                  <a:schemeClr val="accent2"/>
                </a:solidFill>
              </a:rPr>
              <a:t>comodità</a:t>
            </a:r>
            <a:r>
              <a:rPr lang="en-US" sz="2300" dirty="0">
                <a:solidFill>
                  <a:schemeClr val="bg1"/>
                </a:solidFill>
              </a:rPr>
              <a:t>!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7299655" y="3541014"/>
            <a:ext cx="4206240" cy="1876552"/>
          </a:xfrm>
          <a:prstGeom prst="roundRect">
            <a:avLst>
              <a:gd name="adj" fmla="val 6822"/>
            </a:avLst>
          </a:prstGeom>
          <a:solidFill>
            <a:schemeClr val="tx2"/>
          </a:solidFill>
          <a:ln w="15875">
            <a:solidFill>
              <a:schemeClr val="accent2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1"/>
                </a:solidFill>
              </a:rPr>
              <a:t>Se la chiave è </a:t>
            </a:r>
            <a:r>
              <a:rPr lang="en-US" sz="2300" b="1" dirty="0">
                <a:solidFill>
                  <a:schemeClr val="accent2"/>
                </a:solidFill>
              </a:rPr>
              <a:t>composta</a:t>
            </a:r>
            <a:r>
              <a:rPr lang="en-US" sz="2300" dirty="0">
                <a:solidFill>
                  <a:schemeClr val="bg1"/>
                </a:solidFill>
              </a:rPr>
              <a:t> da </a:t>
            </a:r>
            <a:r>
              <a:rPr lang="en-US" sz="2300" b="1" dirty="0">
                <a:solidFill>
                  <a:schemeClr val="accent2"/>
                </a:solidFill>
              </a:rPr>
              <a:t>più attributi</a:t>
            </a:r>
            <a:r>
              <a:rPr lang="en-US" sz="2300" dirty="0">
                <a:solidFill>
                  <a:schemeClr val="bg1"/>
                </a:solidFill>
              </a:rPr>
              <a:t>, potrebbe comunque </a:t>
            </a:r>
            <a:r>
              <a:rPr lang="en-US" sz="2300" b="1" dirty="0">
                <a:solidFill>
                  <a:schemeClr val="accent2"/>
                </a:solidFill>
              </a:rPr>
              <a:t>convenire</a:t>
            </a:r>
            <a:r>
              <a:rPr lang="en-US" sz="2300" dirty="0">
                <a:solidFill>
                  <a:schemeClr val="bg1"/>
                </a:solidFill>
              </a:rPr>
              <a:t> introdurre una </a:t>
            </a:r>
            <a:r>
              <a:rPr lang="en-US" sz="2300" b="1" dirty="0">
                <a:solidFill>
                  <a:schemeClr val="accent2"/>
                </a:solidFill>
              </a:rPr>
              <a:t>chiave artificiale</a:t>
            </a:r>
            <a:r>
              <a:rPr lang="en-US" sz="2300" dirty="0">
                <a:solidFill>
                  <a:schemeClr val="bg1"/>
                </a:solidFill>
              </a:rPr>
              <a:t>!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Attributi Composti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4389120" cy="441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bg2"/>
                </a:solidFill>
              </a:rPr>
              <a:t>Attributi costituiti da due o più “</a:t>
            </a:r>
            <a:r>
              <a:rPr lang="en-US" sz="2200" b="1" dirty="0">
                <a:solidFill>
                  <a:schemeClr val="bg1"/>
                </a:solidFill>
              </a:rPr>
              <a:t>sotto</a:t>
            </a:r>
            <a:r>
              <a:rPr lang="en-US" sz="2200" dirty="0">
                <a:solidFill>
                  <a:schemeClr val="bg2"/>
                </a:solidFill>
              </a:rPr>
              <a:t>-</a:t>
            </a:r>
            <a:r>
              <a:rPr lang="en-US" sz="2200" b="1" dirty="0">
                <a:solidFill>
                  <a:schemeClr val="bg1"/>
                </a:solidFill>
              </a:rPr>
              <a:t>campi</a:t>
            </a:r>
            <a:r>
              <a:rPr lang="en-US" sz="2200" dirty="0">
                <a:solidFill>
                  <a:schemeClr val="bg2"/>
                </a:solidFill>
              </a:rPr>
              <a:t>”.</a:t>
            </a:r>
            <a:endParaRPr lang="en-US" sz="22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200" dirty="0">
                <a:solidFill>
                  <a:schemeClr val="bg2"/>
                </a:solidFill>
              </a:rPr>
              <a:t>Ad esempio:</a:t>
            </a:r>
            <a:endParaRPr lang="en-US" sz="2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bg2"/>
                </a:solidFill>
              </a:rPr>
              <a:t>l’attributo “</a:t>
            </a:r>
            <a:r>
              <a:rPr lang="en-US" sz="2200" b="1" dirty="0">
                <a:solidFill>
                  <a:schemeClr val="bg1"/>
                </a:solidFill>
              </a:rPr>
              <a:t>indirizzo</a:t>
            </a:r>
            <a:r>
              <a:rPr lang="en-US" sz="2200" dirty="0">
                <a:solidFill>
                  <a:schemeClr val="bg2"/>
                </a:solidFill>
              </a:rPr>
              <a:t>”</a:t>
            </a:r>
            <a:endParaRPr lang="en-US" sz="22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900" dirty="0">
                <a:solidFill>
                  <a:schemeClr val="bg2"/>
                </a:solidFill>
              </a:rPr>
              <a:t>potrebbe essere una generica stringa, ma…</a:t>
            </a:r>
            <a:endParaRPr lang="en-US" sz="22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900" dirty="0">
                <a:solidFill>
                  <a:schemeClr val="bg2"/>
                </a:solidFill>
              </a:rPr>
              <a:t>… in realtà è composto da</a:t>
            </a:r>
            <a:endParaRPr lang="en-US" sz="2200" dirty="0"/>
          </a:p>
          <a:p>
            <a:pPr lvl="2" marL="685800" indent="-228600">
              <a:spcAft>
                <a:spcPts val="400"/>
              </a:spcAft>
              <a:buSzPct val="100000"/>
              <a:buChar char="–"/>
            </a:pPr>
            <a:r>
              <a:rPr lang="en-US" sz="1900" dirty="0">
                <a:solidFill>
                  <a:schemeClr val="bg2"/>
                </a:solidFill>
              </a:rPr>
              <a:t>nazione</a:t>
            </a:r>
            <a:endParaRPr lang="en-US" sz="2200" dirty="0"/>
          </a:p>
          <a:p>
            <a:pPr lvl="2" marL="685800" indent="-228600">
              <a:spcAft>
                <a:spcPts val="400"/>
              </a:spcAft>
              <a:buSzPct val="100000"/>
              <a:buChar char="–"/>
            </a:pPr>
            <a:r>
              <a:rPr lang="en-US" sz="1900" dirty="0">
                <a:solidFill>
                  <a:schemeClr val="bg2"/>
                </a:solidFill>
              </a:rPr>
              <a:t>città</a:t>
            </a:r>
            <a:endParaRPr lang="en-US" sz="2200" dirty="0"/>
          </a:p>
          <a:p>
            <a:pPr lvl="2" marL="685800" indent="-228600">
              <a:spcAft>
                <a:spcPts val="400"/>
              </a:spcAft>
              <a:buSzPct val="100000"/>
              <a:buChar char="–"/>
            </a:pPr>
            <a:r>
              <a:rPr lang="en-US" sz="1900" dirty="0">
                <a:solidFill>
                  <a:schemeClr val="bg2"/>
                </a:solidFill>
              </a:rPr>
              <a:t>cap</a:t>
            </a:r>
            <a:endParaRPr lang="en-US" sz="2200" dirty="0"/>
          </a:p>
          <a:p>
            <a:pPr lvl="2" marL="685800" indent="-228600">
              <a:spcAft>
                <a:spcPts val="400"/>
              </a:spcAft>
              <a:buSzPct val="100000"/>
              <a:buChar char="–"/>
            </a:pPr>
            <a:r>
              <a:rPr lang="en-US" sz="1900" dirty="0">
                <a:solidFill>
                  <a:schemeClr val="bg2"/>
                </a:solidFill>
              </a:rPr>
              <a:t>via</a:t>
            </a:r>
            <a:endParaRPr lang="en-US" sz="2200" dirty="0"/>
          </a:p>
          <a:p>
            <a:pPr lvl="2" marL="685800" indent="-228600">
              <a:spcAft>
                <a:spcPts val="400"/>
              </a:spcAft>
              <a:buSzPct val="100000"/>
              <a:buChar char="–"/>
            </a:pPr>
            <a:r>
              <a:rPr lang="en-US" sz="1900" dirty="0">
                <a:solidFill>
                  <a:schemeClr val="bg2"/>
                </a:solidFill>
              </a:rPr>
              <a:t>civico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04104" y="1783080"/>
            <a:ext cx="6101791" cy="3282347"/>
          </a:xfrm>
          <a:prstGeom prst="roundRect">
            <a:avLst>
              <a:gd name="adj" fmla="val 39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ersona con attributo composto Indirizzo: Città, Via, Civico, CAP, Nazi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3832" y="1892808"/>
            <a:ext cx="5882335" cy="306289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Generalizzazione/Specializzazione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4114800" cy="186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bg2"/>
                </a:solidFill>
              </a:rPr>
              <a:t>Come rappresentare </a:t>
            </a:r>
            <a:r>
              <a:rPr lang="en-US" sz="2200" b="1" dirty="0">
                <a:solidFill>
                  <a:schemeClr val="bg1"/>
                </a:solidFill>
              </a:rPr>
              <a:t>entità simili</a:t>
            </a:r>
            <a:r>
              <a:rPr lang="en-US" sz="2200" dirty="0">
                <a:solidFill>
                  <a:schemeClr val="bg2"/>
                </a:solidFill>
              </a:rPr>
              <a:t>?</a:t>
            </a:r>
            <a:endParaRPr lang="en-US" sz="2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bg2"/>
                </a:solidFill>
              </a:rPr>
              <a:t>concettualmente </a:t>
            </a:r>
            <a:r>
              <a:rPr lang="en-US" sz="2200" b="1" dirty="0">
                <a:solidFill>
                  <a:schemeClr val="bg1"/>
                </a:solidFill>
              </a:rPr>
              <a:t>collegate</a:t>
            </a:r>
            <a:endParaRPr lang="en-US" sz="2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bg2"/>
                </a:solidFill>
              </a:rPr>
              <a:t>con </a:t>
            </a:r>
            <a:r>
              <a:rPr lang="en-US" sz="2200" b="1" dirty="0">
                <a:solidFill>
                  <a:schemeClr val="bg1"/>
                </a:solidFill>
              </a:rPr>
              <a:t>attributi simili</a:t>
            </a:r>
            <a:endParaRPr lang="en-US" sz="22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900" dirty="0">
                <a:solidFill>
                  <a:schemeClr val="bg2"/>
                </a:solidFill>
              </a:rPr>
              <a:t>senza doverli duplicare ogni volta…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88232"/>
            <a:ext cx="4114800" cy="2005076"/>
          </a:xfrm>
          <a:prstGeom prst="roundRect">
            <a:avLst>
              <a:gd name="adj" fmla="val 6385"/>
            </a:avLst>
          </a:prstGeom>
          <a:solidFill>
            <a:schemeClr val="tx2"/>
          </a:solidFill>
          <a:ln w="15875">
            <a:solidFill>
              <a:schemeClr val="accent2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Analogia con </a:t>
            </a:r>
            <a:r>
              <a:rPr lang="en-US" sz="2200" b="1" dirty="0">
                <a:solidFill>
                  <a:schemeClr val="accent2"/>
                </a:solidFill>
              </a:rPr>
              <a:t>Ereditarietà</a:t>
            </a:r>
            <a:r>
              <a:rPr lang="en-US" sz="2200" dirty="0">
                <a:solidFill>
                  <a:schemeClr val="bg1"/>
                </a:solidFill>
              </a:rPr>
              <a:t> OOP!</a:t>
            </a:r>
            <a:endParaRPr lang="en-US" sz="22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Le </a:t>
            </a:r>
            <a:r>
              <a:rPr lang="en-US" sz="2200" b="1" dirty="0">
                <a:solidFill>
                  <a:schemeClr val="accent2"/>
                </a:solidFill>
              </a:rPr>
              <a:t>proprietà</a:t>
            </a:r>
            <a:r>
              <a:rPr lang="en-US" sz="2200" dirty="0">
                <a:solidFill>
                  <a:schemeClr val="bg1"/>
                </a:solidFill>
              </a:rPr>
              <a:t> del </a:t>
            </a:r>
            <a:r>
              <a:rPr lang="en-US" sz="2200" b="1" dirty="0">
                <a:solidFill>
                  <a:schemeClr val="accent2"/>
                </a:solidFill>
              </a:rPr>
              <a:t>genitore</a:t>
            </a:r>
            <a:r>
              <a:rPr lang="en-US" sz="2200" dirty="0">
                <a:solidFill>
                  <a:schemeClr val="bg1"/>
                </a:solidFill>
              </a:rPr>
              <a:t> sono </a:t>
            </a:r>
            <a:r>
              <a:rPr lang="en-US" sz="2200" b="1" dirty="0">
                <a:solidFill>
                  <a:schemeClr val="accent2"/>
                </a:solidFill>
              </a:rPr>
              <a:t>ereditate</a:t>
            </a:r>
            <a:r>
              <a:rPr lang="en-US" sz="2200" dirty="0">
                <a:solidFill>
                  <a:schemeClr val="bg1"/>
                </a:solidFill>
              </a:rPr>
              <a:t> dai </a:t>
            </a:r>
            <a:r>
              <a:rPr lang="en-US" sz="2200" b="1" dirty="0">
                <a:solidFill>
                  <a:schemeClr val="accent2"/>
                </a:solidFill>
              </a:rPr>
              <a:t>figli</a:t>
            </a:r>
            <a:r>
              <a:rPr lang="en-US" sz="2200" dirty="0">
                <a:solidFill>
                  <a:schemeClr val="bg1"/>
                </a:solidFill>
              </a:rPr>
              <a:t>, senza indicarle esplicitamente!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381600" y="1783080"/>
            <a:ext cx="5872480" cy="3125216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ersona (Nome, Cognome, Codice Fiscale) generalizza Lavoratore (Stipendio) e Studente (Scuol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1328" y="1892808"/>
            <a:ext cx="5653024" cy="290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129784" y="5146040"/>
            <a:ext cx="6376111" cy="1209040"/>
          </a:xfrm>
          <a:prstGeom prst="roundRect">
            <a:avLst>
              <a:gd name="adj" fmla="val 10588"/>
            </a:avLst>
          </a:prstGeom>
          <a:solidFill>
            <a:schemeClr val="tx2"/>
          </a:solidFill>
          <a:ln w="15875">
            <a:solidFill>
              <a:schemeClr val="accent2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Persona </a:t>
            </a:r>
            <a:r>
              <a:rPr lang="en-US" sz="2200" b="1" dirty="0">
                <a:solidFill>
                  <a:schemeClr val="accent2"/>
                </a:solidFill>
              </a:rPr>
              <a:t>generalizza</a:t>
            </a:r>
            <a:r>
              <a:rPr lang="en-US" sz="2200" dirty="0">
                <a:solidFill>
                  <a:schemeClr val="bg1"/>
                </a:solidFill>
              </a:rPr>
              <a:t> Lavoratore e Studente</a:t>
            </a:r>
            <a:endParaRPr lang="en-US" sz="2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Lavoratore e Studente </a:t>
            </a:r>
            <a:r>
              <a:rPr lang="en-US" sz="2200" b="1" dirty="0">
                <a:solidFill>
                  <a:schemeClr val="accent2"/>
                </a:solidFill>
              </a:rPr>
              <a:t>specializzano</a:t>
            </a:r>
            <a:r>
              <a:rPr lang="en-US" sz="2200" dirty="0">
                <a:solidFill>
                  <a:schemeClr val="bg1"/>
                </a:solidFill>
              </a:rPr>
              <a:t> Persona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Generalizzazione/Specializzazione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1995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Si suddividono in diverse tipologie: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totale</a:t>
            </a:r>
            <a:r>
              <a:rPr lang="en-US" sz="2300" dirty="0">
                <a:solidFill>
                  <a:schemeClr val="bg2"/>
                </a:solidFill>
              </a:rPr>
              <a:t>/</a:t>
            </a:r>
            <a:r>
              <a:rPr lang="en-US" sz="2300" b="1" dirty="0">
                <a:solidFill>
                  <a:schemeClr val="bg1"/>
                </a:solidFill>
              </a:rPr>
              <a:t>parziale</a:t>
            </a:r>
            <a:r>
              <a:rPr lang="en-US" sz="2300" dirty="0">
                <a:solidFill>
                  <a:schemeClr val="bg2"/>
                </a:solidFill>
              </a:rPr>
              <a:t>: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esistono occorrenze del genitore che non sono occorrenza di nessuna delle figlie?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esclusiva</a:t>
            </a:r>
            <a:r>
              <a:rPr lang="en-US" sz="2300" dirty="0">
                <a:solidFill>
                  <a:schemeClr val="bg2"/>
                </a:solidFill>
              </a:rPr>
              <a:t>/</a:t>
            </a:r>
            <a:r>
              <a:rPr lang="en-US" sz="2300" b="1" dirty="0">
                <a:solidFill>
                  <a:schemeClr val="bg1"/>
                </a:solidFill>
              </a:rPr>
              <a:t>sovrapposta</a:t>
            </a:r>
            <a:r>
              <a:rPr lang="en-US" sz="2300" dirty="0">
                <a:solidFill>
                  <a:schemeClr val="bg2"/>
                </a:solidFill>
              </a:rPr>
              <a:t>: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esistono occorrenze del genitore che sono occorrenze di più figlie?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657959" y="4016502"/>
            <a:ext cx="8875778" cy="2338578"/>
          </a:xfrm>
          <a:prstGeom prst="roundRect">
            <a:avLst>
              <a:gd name="adj" fmla="val 54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ersona → Lavoratore, Studente (parziale); Persona → Uomo, Donna (total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687" y="4126230"/>
            <a:ext cx="8656322" cy="211912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Analisi e ipotesi aggiuntive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6650431" cy="3301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La </a:t>
            </a:r>
            <a:r>
              <a:rPr lang="en-US" sz="2300" b="1" dirty="0">
                <a:solidFill>
                  <a:schemeClr val="bg1"/>
                </a:solidFill>
              </a:rPr>
              <a:t>descrizione</a:t>
            </a:r>
            <a:r>
              <a:rPr lang="en-US" sz="2300" dirty="0">
                <a:solidFill>
                  <a:schemeClr val="bg2"/>
                </a:solidFill>
              </a:rPr>
              <a:t> di un certo </a:t>
            </a:r>
            <a:r>
              <a:rPr lang="en-US" sz="2300" b="1" dirty="0">
                <a:solidFill>
                  <a:schemeClr val="bg1"/>
                </a:solidFill>
              </a:rPr>
              <a:t>dominio</a:t>
            </a:r>
            <a:r>
              <a:rPr lang="en-US" sz="2300" dirty="0">
                <a:solidFill>
                  <a:schemeClr val="bg2"/>
                </a:solidFill>
              </a:rPr>
              <a:t> di applicazione non è </a:t>
            </a:r>
            <a:r>
              <a:rPr lang="en-US" sz="2300" b="1" dirty="0">
                <a:solidFill>
                  <a:schemeClr val="bg1"/>
                </a:solidFill>
              </a:rPr>
              <a:t>mai chiara</a:t>
            </a:r>
            <a:r>
              <a:rPr lang="en-US" sz="2300" dirty="0">
                <a:solidFill>
                  <a:schemeClr val="bg2"/>
                </a:solidFill>
              </a:rPr>
              <a:t> ed </a:t>
            </a:r>
            <a:r>
              <a:rPr lang="en-US" sz="2300" b="1" dirty="0">
                <a:solidFill>
                  <a:schemeClr val="bg1"/>
                </a:solidFill>
              </a:rPr>
              <a:t>esaustiva</a:t>
            </a:r>
            <a:r>
              <a:rPr lang="en-US" sz="2300" dirty="0">
                <a:solidFill>
                  <a:schemeClr val="bg2"/>
                </a:solidFill>
              </a:rPr>
              <a:t> al </a:t>
            </a:r>
            <a:r>
              <a:rPr lang="en-US" sz="2300" b="1" dirty="0">
                <a:solidFill>
                  <a:schemeClr val="bg1"/>
                </a:solidFill>
              </a:rPr>
              <a:t>100</a:t>
            </a:r>
            <a:r>
              <a:rPr lang="en-US" sz="2300" dirty="0">
                <a:solidFill>
                  <a:schemeClr val="bg2"/>
                </a:solidFill>
              </a:rPr>
              <a:t>%: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ipotesi aggiuntive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scelte di </a:t>
            </a:r>
            <a:r>
              <a:rPr lang="en-US" sz="2000" b="1" dirty="0">
                <a:solidFill>
                  <a:schemeClr val="bg1"/>
                </a:solidFill>
              </a:rPr>
              <a:t>progettazione</a:t>
            </a:r>
            <a:r>
              <a:rPr lang="en-US" sz="2000" dirty="0">
                <a:solidFill>
                  <a:schemeClr val="bg2"/>
                </a:solidFill>
              </a:rPr>
              <a:t> per </a:t>
            </a:r>
            <a:r>
              <a:rPr lang="en-US" sz="2000" b="1" dirty="0">
                <a:solidFill>
                  <a:schemeClr val="bg1"/>
                </a:solidFill>
              </a:rPr>
              <a:t>colmare</a:t>
            </a:r>
            <a:r>
              <a:rPr lang="en-US" sz="2000" dirty="0">
                <a:solidFill>
                  <a:schemeClr val="bg2"/>
                </a:solidFill>
              </a:rPr>
              <a:t> eventuali “buchi”</a:t>
            </a:r>
            <a:endParaRPr lang="en-US" sz="23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Quindi è </a:t>
            </a:r>
            <a:r>
              <a:rPr lang="en-US" sz="2300" b="1" dirty="0">
                <a:solidFill>
                  <a:schemeClr val="bg1"/>
                </a:solidFill>
              </a:rPr>
              <a:t>necessaria</a:t>
            </a:r>
            <a:r>
              <a:rPr lang="en-US" sz="2300" dirty="0">
                <a:solidFill>
                  <a:schemeClr val="bg2"/>
                </a:solidFill>
              </a:rPr>
              <a:t> la fase di </a:t>
            </a:r>
            <a:r>
              <a:rPr lang="en-US" sz="2300" b="1" dirty="0">
                <a:solidFill>
                  <a:schemeClr val="bg1"/>
                </a:solidFill>
              </a:rPr>
              <a:t>analisi</a:t>
            </a:r>
            <a:r>
              <a:rPr lang="en-US" sz="2300" dirty="0">
                <a:solidFill>
                  <a:schemeClr val="bg2"/>
                </a:solidFill>
              </a:rPr>
              <a:t>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non è una “ripetizione” dello schema concettuale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accent2"/>
                </a:solidFill>
              </a:rPr>
              <a:t>è la </a:t>
            </a:r>
            <a:r>
              <a:rPr lang="en-US" sz="2300" b="1" dirty="0">
                <a:solidFill>
                  <a:schemeClr val="accent2"/>
                </a:solidFill>
              </a:rPr>
              <a:t>descrizione motivata</a:t>
            </a:r>
            <a:r>
              <a:rPr lang="en-US" sz="2300" dirty="0">
                <a:solidFill>
                  <a:schemeClr val="accent2"/>
                </a:solidFill>
              </a:rPr>
              <a:t> delle </a:t>
            </a:r>
            <a:r>
              <a:rPr lang="en-US" sz="2300" b="1" dirty="0">
                <a:solidFill>
                  <a:schemeClr val="accent2"/>
                </a:solidFill>
              </a:rPr>
              <a:t>scelte</a:t>
            </a:r>
            <a:r>
              <a:rPr lang="en-US" sz="2300" dirty="0">
                <a:solidFill>
                  <a:schemeClr val="accent2"/>
                </a:solidFill>
              </a:rPr>
              <a:t> di progettazione </a:t>
            </a:r>
            <a:r>
              <a:rPr lang="en-US" sz="2300" b="1" dirty="0">
                <a:solidFill>
                  <a:schemeClr val="accent2"/>
                </a:solidFill>
              </a:rPr>
              <a:t>non scontate</a:t>
            </a:r>
            <a:r>
              <a:rPr lang="en-US" sz="2300" dirty="0">
                <a:solidFill>
                  <a:schemeClr val="accent2"/>
                </a:solidFill>
              </a:rPr>
              <a:t>!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8421973" y="1783080"/>
            <a:ext cx="2327365" cy="261861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Vignetta dell'altalena: cosa ha chiesto l'utente, come l'ha visto l'analista, come è stato progettato, come l'ha scritto il programmatore, cosa voleva davvero l'utente, come funzio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1701" y="1892808"/>
            <a:ext cx="2107909" cy="239915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69443" y="4639437"/>
            <a:ext cx="2632424" cy="1715643"/>
          </a:xfrm>
          <a:prstGeom prst="roundRect">
            <a:avLst>
              <a:gd name="adj" fmla="val 7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Vignetta: requisiti non funzionali e requisiti funzional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9171" y="4749165"/>
            <a:ext cx="2412968" cy="149618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chemeClr val="accent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INFORMATICA  ·  BASI DI DATI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1732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9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85800" y="388620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chemeClr val="bg1"/>
                </a:solidFill>
              </a:rPr>
              <a:t>Progettazione Logica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Schema Logico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6010351" cy="2788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Il modello concettuale (schema ER) </a:t>
            </a:r>
            <a:r>
              <a:rPr lang="en-US" sz="2300" b="1" dirty="0">
                <a:solidFill>
                  <a:schemeClr val="bg1"/>
                </a:solidFill>
              </a:rPr>
              <a:t>non</a:t>
            </a:r>
            <a:r>
              <a:rPr lang="en-US" sz="2300" dirty="0">
                <a:solidFill>
                  <a:schemeClr val="bg2"/>
                </a:solidFill>
              </a:rPr>
              <a:t> è pensato per </a:t>
            </a:r>
            <a:r>
              <a:rPr lang="en-US" sz="2300" b="1" dirty="0">
                <a:solidFill>
                  <a:schemeClr val="bg1"/>
                </a:solidFill>
              </a:rPr>
              <a:t>essere implementato</a:t>
            </a:r>
            <a:r>
              <a:rPr lang="en-US" sz="2300" dirty="0">
                <a:solidFill>
                  <a:schemeClr val="bg2"/>
                </a:solidFill>
              </a:rPr>
              <a:t> in una base di dati </a:t>
            </a:r>
            <a:r>
              <a:rPr lang="en-US" sz="2300" b="1" dirty="0">
                <a:solidFill>
                  <a:schemeClr val="bg1"/>
                </a:solidFill>
              </a:rPr>
              <a:t>reale.</a:t>
            </a:r>
            <a:endParaRPr lang="en-US" sz="23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Progettazione Logica: </a:t>
            </a:r>
            <a:r>
              <a:rPr lang="en-US" sz="2300" b="1" dirty="0">
                <a:solidFill>
                  <a:schemeClr val="bg1"/>
                </a:solidFill>
              </a:rPr>
              <a:t>costruzione</a:t>
            </a:r>
            <a:r>
              <a:rPr lang="en-US" sz="2300" dirty="0">
                <a:solidFill>
                  <a:schemeClr val="bg2"/>
                </a:solidFill>
              </a:rPr>
              <a:t> di uno schema logico che </a:t>
            </a:r>
            <a:r>
              <a:rPr lang="en-US" sz="2300" b="1" dirty="0">
                <a:solidFill>
                  <a:schemeClr val="bg1"/>
                </a:solidFill>
              </a:rPr>
              <a:t>descriva</a:t>
            </a:r>
            <a:r>
              <a:rPr lang="en-US" sz="2300" dirty="0">
                <a:solidFill>
                  <a:schemeClr val="bg2"/>
                </a:solidFill>
              </a:rPr>
              <a:t> in modo </a:t>
            </a:r>
            <a:r>
              <a:rPr lang="en-US" sz="2300" b="1" dirty="0">
                <a:solidFill>
                  <a:schemeClr val="bg1"/>
                </a:solidFill>
              </a:rPr>
              <a:t>corretto</a:t>
            </a:r>
            <a:r>
              <a:rPr lang="en-US" sz="2300" dirty="0">
                <a:solidFill>
                  <a:schemeClr val="bg2"/>
                </a:solidFill>
              </a:rPr>
              <a:t> ed </a:t>
            </a:r>
            <a:r>
              <a:rPr lang="en-US" sz="2300" b="1" dirty="0">
                <a:solidFill>
                  <a:schemeClr val="bg1"/>
                </a:solidFill>
              </a:rPr>
              <a:t>efficiente</a:t>
            </a:r>
            <a:r>
              <a:rPr lang="en-US" sz="2300" dirty="0">
                <a:solidFill>
                  <a:schemeClr val="bg2"/>
                </a:solidFill>
              </a:rPr>
              <a:t> tutte le </a:t>
            </a:r>
            <a:r>
              <a:rPr lang="en-US" sz="2300" b="1" dirty="0">
                <a:solidFill>
                  <a:schemeClr val="bg1"/>
                </a:solidFill>
              </a:rPr>
              <a:t>informazioni</a:t>
            </a:r>
            <a:r>
              <a:rPr lang="en-US" sz="2300" dirty="0">
                <a:solidFill>
                  <a:schemeClr val="bg2"/>
                </a:solidFill>
              </a:rPr>
              <a:t> presenti nello schema concettuale.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809490"/>
            <a:ext cx="6010351" cy="1163828"/>
          </a:xfrm>
          <a:prstGeom prst="roundRect">
            <a:avLst>
              <a:gd name="adj" fmla="val 11000"/>
            </a:avLst>
          </a:prstGeom>
          <a:solidFill>
            <a:schemeClr val="tx2"/>
          </a:solidFill>
          <a:ln w="15875">
            <a:solidFill>
              <a:schemeClr val="accent3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1"/>
                </a:solidFill>
              </a:rPr>
              <a:t>In sintesi, </a:t>
            </a:r>
            <a:r>
              <a:rPr lang="en-US" sz="2300" b="1" dirty="0">
                <a:solidFill>
                  <a:schemeClr val="accent3"/>
                </a:solidFill>
              </a:rPr>
              <a:t>convertire</a:t>
            </a:r>
            <a:r>
              <a:rPr lang="en-US" sz="2300" dirty="0">
                <a:solidFill>
                  <a:schemeClr val="bg1"/>
                </a:solidFill>
              </a:rPr>
              <a:t> lo </a:t>
            </a:r>
            <a:r>
              <a:rPr lang="en-US" sz="2300" b="1" dirty="0">
                <a:solidFill>
                  <a:schemeClr val="accent3"/>
                </a:solidFill>
              </a:rPr>
              <a:t>schema ER</a:t>
            </a:r>
            <a:r>
              <a:rPr lang="en-US" sz="2300" dirty="0">
                <a:solidFill>
                  <a:schemeClr val="bg1"/>
                </a:solidFill>
              </a:rPr>
              <a:t> in </a:t>
            </a:r>
            <a:r>
              <a:rPr lang="en-US" sz="2300" b="1" dirty="0">
                <a:solidFill>
                  <a:schemeClr val="accent3"/>
                </a:solidFill>
              </a:rPr>
              <a:t>relazioni</a:t>
            </a:r>
            <a:r>
              <a:rPr lang="en-US" sz="2300" dirty="0">
                <a:solidFill>
                  <a:schemeClr val="bg1"/>
                </a:solidFill>
              </a:rPr>
              <a:t>!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537916" y="1783080"/>
            <a:ext cx="3455398" cy="2260099"/>
          </a:xfrm>
          <a:prstGeom prst="roundRect">
            <a:avLst>
              <a:gd name="adj" fmla="val 56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Esempio di schema 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7644" y="1892808"/>
            <a:ext cx="3235942" cy="204064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1696" y="4280923"/>
            <a:ext cx="3447837" cy="2074157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Esempio di schema logic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424" y="4390651"/>
            <a:ext cx="3228381" cy="185470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Da schema concettuale a logico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Primi step della conversione da schema ER a logico: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analisi delle </a:t>
            </a:r>
            <a:r>
              <a:rPr lang="en-US" sz="2300" b="1" dirty="0">
                <a:solidFill>
                  <a:schemeClr val="bg1"/>
                </a:solidFill>
              </a:rPr>
              <a:t>ridondanze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rimuovere componenti superflue dallo schema ER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eliminazione delle </a:t>
            </a:r>
            <a:r>
              <a:rPr lang="en-US" sz="2300" b="1" dirty="0">
                <a:solidFill>
                  <a:schemeClr val="bg1"/>
                </a:solidFill>
              </a:rPr>
              <a:t>generalizzazioni/specializzazioni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sostituirle con associazioni o accorparle nell’entità madre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partizionamento</a:t>
            </a:r>
            <a:r>
              <a:rPr lang="en-US" sz="2300" dirty="0">
                <a:solidFill>
                  <a:schemeClr val="bg2"/>
                </a:solidFill>
              </a:rPr>
              <a:t> o </a:t>
            </a:r>
            <a:r>
              <a:rPr lang="en-US" sz="2300" b="1" dirty="0">
                <a:solidFill>
                  <a:schemeClr val="bg1"/>
                </a:solidFill>
              </a:rPr>
              <a:t>accorpamento</a:t>
            </a:r>
            <a:r>
              <a:rPr lang="en-US" sz="2300" dirty="0">
                <a:solidFill>
                  <a:schemeClr val="bg2"/>
                </a:solidFill>
              </a:rPr>
              <a:t> di </a:t>
            </a:r>
            <a:r>
              <a:rPr lang="en-US" sz="2300" b="1" dirty="0">
                <a:solidFill>
                  <a:schemeClr val="bg1"/>
                </a:solidFill>
              </a:rPr>
              <a:t>entità</a:t>
            </a:r>
            <a:r>
              <a:rPr lang="en-US" sz="2300" dirty="0">
                <a:solidFill>
                  <a:schemeClr val="bg2"/>
                </a:solidFill>
              </a:rPr>
              <a:t> o </a:t>
            </a:r>
            <a:r>
              <a:rPr lang="en-US" sz="2300" b="1" dirty="0">
                <a:solidFill>
                  <a:schemeClr val="bg1"/>
                </a:solidFill>
              </a:rPr>
              <a:t>associazioni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le </a:t>
            </a:r>
            <a:r>
              <a:rPr lang="en-US" sz="2000" b="1" dirty="0">
                <a:solidFill>
                  <a:schemeClr val="bg1"/>
                </a:solidFill>
              </a:rPr>
              <a:t>entità</a:t>
            </a:r>
            <a:r>
              <a:rPr lang="en-US" sz="2000" dirty="0">
                <a:solidFill>
                  <a:schemeClr val="bg2"/>
                </a:solidFill>
              </a:rPr>
              <a:t> diventano </a:t>
            </a:r>
            <a:r>
              <a:rPr lang="en-US" sz="2000" b="1" dirty="0">
                <a:solidFill>
                  <a:schemeClr val="bg1"/>
                </a:solidFill>
              </a:rPr>
              <a:t>relazioni</a:t>
            </a:r>
            <a:r>
              <a:rPr lang="en-US" sz="2000" dirty="0">
                <a:solidFill>
                  <a:schemeClr val="bg2"/>
                </a:solidFill>
              </a:rPr>
              <a:t> (tabelle) con stessi </a:t>
            </a:r>
            <a:r>
              <a:rPr lang="en-US" sz="2000" b="1" dirty="0">
                <a:solidFill>
                  <a:schemeClr val="bg1"/>
                </a:solidFill>
              </a:rPr>
              <a:t>attributi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le </a:t>
            </a:r>
            <a:r>
              <a:rPr lang="en-US" sz="2000" b="1" dirty="0">
                <a:solidFill>
                  <a:schemeClr val="bg1"/>
                </a:solidFill>
              </a:rPr>
              <a:t>associazioni</a:t>
            </a:r>
            <a:r>
              <a:rPr lang="en-US" sz="2000" dirty="0">
                <a:solidFill>
                  <a:schemeClr val="bg2"/>
                </a:solidFill>
              </a:rPr>
              <a:t> diventano</a:t>
            </a:r>
            <a:endParaRPr lang="en-US" sz="2300" dirty="0"/>
          </a:p>
          <a:p>
            <a:pPr lvl="2" marL="6858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o attributi </a:t>
            </a:r>
            <a:r>
              <a:rPr lang="en-US" sz="2000" b="1" dirty="0">
                <a:solidFill>
                  <a:schemeClr val="bg1"/>
                </a:solidFill>
              </a:rPr>
              <a:t>chiave esterna</a:t>
            </a:r>
            <a:r>
              <a:rPr lang="en-US" sz="2000" dirty="0">
                <a:solidFill>
                  <a:schemeClr val="bg2"/>
                </a:solidFill>
              </a:rPr>
              <a:t> (Foreign Key)</a:t>
            </a:r>
            <a:endParaRPr lang="en-US" sz="2300" dirty="0"/>
          </a:p>
          <a:p>
            <a:pPr lvl="2" marL="6858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o </a:t>
            </a:r>
            <a:r>
              <a:rPr lang="en-US" sz="2000" b="1" dirty="0">
                <a:solidFill>
                  <a:schemeClr val="bg1"/>
                </a:solidFill>
              </a:rPr>
              <a:t>relazioni</a:t>
            </a:r>
            <a:r>
              <a:rPr lang="en-US" sz="2000" dirty="0">
                <a:solidFill>
                  <a:schemeClr val="bg2"/>
                </a:solidFill>
              </a:rPr>
              <a:t>/</a:t>
            </a:r>
            <a:r>
              <a:rPr lang="en-US" sz="2000" b="1" dirty="0">
                <a:solidFill>
                  <a:schemeClr val="bg1"/>
                </a:solidFill>
              </a:rPr>
              <a:t>tabelle</a:t>
            </a:r>
            <a:endParaRPr lang="en-US" sz="2300" dirty="0"/>
          </a:p>
          <a:p>
            <a:pPr lvl="3" marL="914400" indent="-228600">
              <a:spcAft>
                <a:spcPts val="400"/>
              </a:spcAft>
              <a:buSzPct val="100000"/>
              <a:buChar char="–"/>
            </a:pPr>
            <a:r>
              <a:rPr lang="en-US" sz="2000" b="1" dirty="0">
                <a:solidFill>
                  <a:schemeClr val="bg1"/>
                </a:solidFill>
              </a:rPr>
              <a:t>chiave</a:t>
            </a:r>
            <a:r>
              <a:rPr lang="en-US" sz="2000" dirty="0">
                <a:solidFill>
                  <a:schemeClr val="bg2"/>
                </a:solidFill>
              </a:rPr>
              <a:t> composta da gli attributi </a:t>
            </a:r>
            <a:r>
              <a:rPr lang="en-US" sz="2000" b="1" dirty="0">
                <a:solidFill>
                  <a:schemeClr val="bg1"/>
                </a:solidFill>
              </a:rPr>
              <a:t>chiave</a:t>
            </a:r>
            <a:r>
              <a:rPr lang="en-US" sz="2000" dirty="0">
                <a:solidFill>
                  <a:schemeClr val="bg2"/>
                </a:solidFill>
              </a:rPr>
              <a:t> delle </a:t>
            </a:r>
            <a:r>
              <a:rPr lang="en-US" sz="2000" b="1" dirty="0">
                <a:solidFill>
                  <a:schemeClr val="bg1"/>
                </a:solidFill>
              </a:rPr>
              <a:t>entità</a:t>
            </a:r>
            <a:r>
              <a:rPr lang="en-US" sz="2000" dirty="0">
                <a:solidFill>
                  <a:schemeClr val="bg2"/>
                </a:solidFill>
              </a:rPr>
              <a:t> coinvolte nell’associazione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Rappresentazione dello schema logico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36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bg2"/>
                </a:solidFill>
              </a:rPr>
              <a:t>Come si possono esprimere tabelle in forma compatta?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305558"/>
            <a:ext cx="10820095" cy="668020"/>
          </a:xfrm>
          <a:prstGeom prst="roundRect">
            <a:avLst>
              <a:gd name="adj" fmla="val 19163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&lt;NomeRelazione&gt;(&lt;Attr1&gt;[:&lt;Tipo1&gt;],...,&lt;AttrN&gt;[:&lt;TipoN&gt;])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129026"/>
            <a:ext cx="10820095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bg2"/>
                </a:solidFill>
              </a:rPr>
              <a:t>Ad esempio: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in forma estesa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35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Persona</a:t>
            </a:r>
            <a:r>
              <a:rPr lang="en-US" sz="13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(cognome:Stringa, nome:Stringa, età:Intero, sesso:Booleano)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in forma compatta (tipo sottointeso)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35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Persona</a:t>
            </a:r>
            <a:r>
              <a:rPr lang="en-US" sz="13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(cognome, nome, età, sesso)</a:t>
            </a:r>
            <a:endParaRPr lang="en-US" sz="17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700" dirty="0">
                <a:solidFill>
                  <a:schemeClr val="bg2"/>
                </a:solidFill>
              </a:rPr>
              <a:t>Per indicare eventuali attributi chiave si usano dei modificatori: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5284724"/>
            <a:ext cx="10820095" cy="1003300"/>
          </a:xfrm>
          <a:prstGeom prst="roundRect">
            <a:avLst>
              <a:gd name="adj" fmla="val 12759"/>
            </a:avLst>
          </a:prstGeom>
          <a:solidFill>
            <a:schemeClr val="tx2"/>
          </a:solidFill>
          <a:ln w="15875">
            <a:solidFill>
              <a:schemeClr val="accent3"/>
            </a:solidFill>
          </a:ln>
        </p:spPr>
        <p:txBody>
          <a:bodyPr wrap="square" lIns="177800" tIns="177800" rIns="177800" bIns="177800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PK o sottolineatura </a:t>
            </a:r>
            <a:r>
              <a:rPr lang="en-US" sz="1700" b="1" dirty="0">
                <a:solidFill>
                  <a:schemeClr val="accent3"/>
                </a:solidFill>
              </a:rPr>
              <a:t>piena</a:t>
            </a:r>
            <a:r>
              <a:rPr lang="en-US" sz="1700" dirty="0">
                <a:solidFill>
                  <a:schemeClr val="bg1"/>
                </a:solidFill>
              </a:rPr>
              <a:t> (Primary Key)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FK o sottolineatura </a:t>
            </a:r>
            <a:r>
              <a:rPr lang="en-US" sz="1700" b="1" dirty="0">
                <a:solidFill>
                  <a:schemeClr val="accent3"/>
                </a:solidFill>
              </a:rPr>
              <a:t>tratteggiata</a:t>
            </a:r>
            <a:r>
              <a:rPr lang="en-US" sz="1700" dirty="0">
                <a:solidFill>
                  <a:schemeClr val="bg1"/>
                </a:solidFill>
              </a:rPr>
              <a:t> (Foreign Key)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Traduzione delle entità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5486400" cy="186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Le </a:t>
            </a:r>
            <a:r>
              <a:rPr lang="en-US" sz="2300" b="1" dirty="0">
                <a:solidFill>
                  <a:schemeClr val="bg1"/>
                </a:solidFill>
              </a:rPr>
              <a:t>entità</a:t>
            </a:r>
            <a:r>
              <a:rPr lang="en-US" sz="2300" dirty="0">
                <a:solidFill>
                  <a:schemeClr val="bg2"/>
                </a:solidFill>
              </a:rPr>
              <a:t> diventano </a:t>
            </a:r>
            <a:r>
              <a:rPr lang="en-US" sz="2300" b="1" dirty="0">
                <a:solidFill>
                  <a:schemeClr val="bg1"/>
                </a:solidFill>
              </a:rPr>
              <a:t>relazioni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Gli </a:t>
            </a:r>
            <a:r>
              <a:rPr lang="en-US" sz="2300" b="1" dirty="0">
                <a:solidFill>
                  <a:schemeClr val="bg1"/>
                </a:solidFill>
              </a:rPr>
              <a:t>attributi</a:t>
            </a:r>
            <a:r>
              <a:rPr lang="en-US" sz="2300" dirty="0">
                <a:solidFill>
                  <a:schemeClr val="bg2"/>
                </a:solidFill>
              </a:rPr>
              <a:t> dell’entità diventano attributi della </a:t>
            </a:r>
            <a:r>
              <a:rPr lang="en-US" sz="2300" b="1" dirty="0">
                <a:solidFill>
                  <a:schemeClr val="bg1"/>
                </a:solidFill>
              </a:rPr>
              <a:t>relazione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le </a:t>
            </a:r>
            <a:r>
              <a:rPr lang="en-US" sz="2000" b="1" dirty="0">
                <a:solidFill>
                  <a:schemeClr val="bg1"/>
                </a:solidFill>
              </a:rPr>
              <a:t>chiavi</a:t>
            </a:r>
            <a:r>
              <a:rPr lang="en-US" sz="2000" dirty="0">
                <a:solidFill>
                  <a:schemeClr val="bg2"/>
                </a:solidFill>
              </a:rPr>
              <a:t> dell’entità diventano </a:t>
            </a:r>
            <a:r>
              <a:rPr lang="en-US" sz="2000" b="1" dirty="0">
                <a:solidFill>
                  <a:schemeClr val="bg1"/>
                </a:solidFill>
              </a:rPr>
              <a:t>chiave primaria</a:t>
            </a:r>
            <a:r>
              <a:rPr lang="en-US" sz="2000" dirty="0">
                <a:solidFill>
                  <a:schemeClr val="bg2"/>
                </a:solidFill>
              </a:rPr>
              <a:t> della relazione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971343" y="1783080"/>
            <a:ext cx="4064593" cy="3231261"/>
          </a:xfrm>
          <a:prstGeom prst="roundRect">
            <a:avLst>
              <a:gd name="adj" fmla="val 39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Entità Automobile con attributi N. Telaio (chiave), Modello, Anno Prod., Casa Pro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1071" y="1892808"/>
            <a:ext cx="3845137" cy="30118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5252085"/>
            <a:ext cx="10820095" cy="737743"/>
          </a:xfrm>
          <a:prstGeom prst="roundRect">
            <a:avLst>
              <a:gd name="adj" fmla="val 17352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50" b="1" dirty="0">
                <a:solidFill>
                  <a:schemeClr val="accent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Automobile</a:t>
            </a:r>
            <a:r>
              <a:rPr lang="en-US" sz="1850" dirty="0">
                <a:solidFill>
                  <a:schemeClr val="accent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(PK(n_telaio), modello, anno_prod, casa_prod)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dirty="0">
                <a:solidFill>
                  <a:schemeClr val="bg1"/>
                </a:solidFill>
              </a:rPr>
              <a:t>Traduzione delle entità (chiave con identificatore esterno)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In </a:t>
            </a:r>
            <a:r>
              <a:rPr lang="en-US" sz="1800" b="1" dirty="0">
                <a:solidFill>
                  <a:schemeClr val="bg1"/>
                </a:solidFill>
              </a:rPr>
              <a:t>caso</a:t>
            </a:r>
            <a:r>
              <a:rPr lang="en-US" sz="1800" dirty="0">
                <a:solidFill>
                  <a:schemeClr val="bg2"/>
                </a:solidFill>
              </a:rPr>
              <a:t> di entità con </a:t>
            </a:r>
            <a:r>
              <a:rPr lang="en-US" sz="1800" b="1" dirty="0">
                <a:solidFill>
                  <a:schemeClr val="bg1"/>
                </a:solidFill>
              </a:rPr>
              <a:t>identificatore esterno</a:t>
            </a:r>
            <a:r>
              <a:rPr lang="en-US" sz="1800" dirty="0">
                <a:solidFill>
                  <a:schemeClr val="bg2"/>
                </a:solidFill>
              </a:rPr>
              <a:t>, la </a:t>
            </a:r>
            <a:r>
              <a:rPr lang="en-US" sz="1800" b="1" dirty="0">
                <a:solidFill>
                  <a:schemeClr val="bg1"/>
                </a:solidFill>
              </a:rPr>
              <a:t>chiave primaria</a:t>
            </a:r>
            <a:r>
              <a:rPr lang="en-US" sz="1800" dirty="0">
                <a:solidFill>
                  <a:schemeClr val="bg2"/>
                </a:solidFill>
              </a:rPr>
              <a:t> sarà </a:t>
            </a:r>
            <a:r>
              <a:rPr lang="en-US" sz="1800" b="1" dirty="0">
                <a:solidFill>
                  <a:schemeClr val="bg1"/>
                </a:solidFill>
              </a:rPr>
              <a:t>composta</a:t>
            </a:r>
            <a:r>
              <a:rPr lang="en-US" sz="1800" dirty="0">
                <a:solidFill>
                  <a:schemeClr val="bg2"/>
                </a:solidFill>
              </a:rPr>
              <a:t> anche dalla </a:t>
            </a:r>
            <a:r>
              <a:rPr lang="en-US" sz="1800" b="1" dirty="0">
                <a:solidFill>
                  <a:schemeClr val="bg1"/>
                </a:solidFill>
              </a:rPr>
              <a:t>chiave</a:t>
            </a:r>
            <a:r>
              <a:rPr lang="en-US" sz="1800" dirty="0">
                <a:solidFill>
                  <a:schemeClr val="bg2"/>
                </a:solidFill>
              </a:rPr>
              <a:t> dell’</a:t>
            </a:r>
            <a:r>
              <a:rPr lang="en-US" sz="1800" b="1" dirty="0">
                <a:solidFill>
                  <a:schemeClr val="bg1"/>
                </a:solidFill>
              </a:rPr>
              <a:t>altra relazione</a:t>
            </a:r>
            <a:r>
              <a:rPr lang="en-US" sz="1800" dirty="0">
                <a:solidFill>
                  <a:schemeClr val="bg2"/>
                </a:solidFill>
              </a:rPr>
              <a:t> coinvolta nell’associazione.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78576" y="2682240"/>
            <a:ext cx="5634543" cy="2458466"/>
          </a:xfrm>
          <a:prstGeom prst="roundRect">
            <a:avLst>
              <a:gd name="adj" fmla="val 52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Studente (1,1) Iscritto (1,N) Università con identificatore ester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8304" y="2791968"/>
            <a:ext cx="5415087" cy="22390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5378450"/>
            <a:ext cx="10820095" cy="976630"/>
          </a:xfrm>
          <a:prstGeom prst="roundRect">
            <a:avLst>
              <a:gd name="adj" fmla="val 13108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chemeClr val="accent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Studente</a:t>
            </a:r>
            <a:r>
              <a:rPr lang="en-US" sz="1450" dirty="0">
                <a:solidFill>
                  <a:schemeClr val="accent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(PK(matricola), PK(FK(nome_università)), nome, cognome)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chemeClr val="accent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Università</a:t>
            </a:r>
            <a:r>
              <a:rPr lang="en-US" sz="1450" dirty="0">
                <a:solidFill>
                  <a:schemeClr val="accent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(PK(nome), indirizzo)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Traduzione delle associazioni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113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In </a:t>
            </a:r>
            <a:r>
              <a:rPr lang="en-US" sz="2000" b="1" dirty="0">
                <a:solidFill>
                  <a:schemeClr val="bg1"/>
                </a:solidFill>
              </a:rPr>
              <a:t>generale</a:t>
            </a:r>
            <a:r>
              <a:rPr lang="en-US" sz="2000" dirty="0">
                <a:solidFill>
                  <a:schemeClr val="bg2"/>
                </a:solidFill>
              </a:rPr>
              <a:t> possono essere tradotte con una </a:t>
            </a:r>
            <a:r>
              <a:rPr lang="en-US" sz="2000" b="1" dirty="0">
                <a:solidFill>
                  <a:schemeClr val="bg1"/>
                </a:solidFill>
              </a:rPr>
              <a:t>relazione</a:t>
            </a:r>
            <a:r>
              <a:rPr lang="en-US" sz="2000" dirty="0">
                <a:solidFill>
                  <a:schemeClr val="bg2"/>
                </a:solidFill>
              </a:rPr>
              <a:t> che abbia come </a:t>
            </a:r>
            <a:r>
              <a:rPr lang="en-US" sz="2000" b="1" dirty="0">
                <a:solidFill>
                  <a:schemeClr val="bg1"/>
                </a:solidFill>
              </a:rPr>
              <a:t>attributi</a:t>
            </a:r>
            <a:r>
              <a:rPr lang="en-US" sz="2000" dirty="0">
                <a:solidFill>
                  <a:schemeClr val="bg2"/>
                </a:solidFill>
              </a:rPr>
              <a:t>: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gli </a:t>
            </a:r>
            <a:r>
              <a:rPr lang="en-US" sz="2000" b="1" dirty="0">
                <a:solidFill>
                  <a:schemeClr val="bg1"/>
                </a:solidFill>
              </a:rPr>
              <a:t>attributi dell’associazione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una </a:t>
            </a:r>
            <a:r>
              <a:rPr lang="en-US" sz="2000" b="1" dirty="0">
                <a:solidFill>
                  <a:schemeClr val="bg1"/>
                </a:solidFill>
              </a:rPr>
              <a:t>chiave primaria</a:t>
            </a:r>
            <a:r>
              <a:rPr lang="en-US" sz="2000" dirty="0">
                <a:solidFill>
                  <a:schemeClr val="bg2"/>
                </a:solidFill>
              </a:rPr>
              <a:t> composta da </a:t>
            </a:r>
            <a:r>
              <a:rPr lang="en-US" sz="2000" b="1" dirty="0">
                <a:solidFill>
                  <a:schemeClr val="bg1"/>
                </a:solidFill>
              </a:rPr>
              <a:t>attributi</a:t>
            </a:r>
            <a:r>
              <a:rPr lang="en-US" sz="2000" dirty="0">
                <a:solidFill>
                  <a:schemeClr val="bg2"/>
                </a:solidFill>
              </a:rPr>
              <a:t> (</a:t>
            </a:r>
            <a:r>
              <a:rPr lang="en-US" sz="2000" b="1" dirty="0">
                <a:solidFill>
                  <a:schemeClr val="bg1"/>
                </a:solidFill>
              </a:rPr>
              <a:t>FK</a:t>
            </a:r>
            <a:r>
              <a:rPr lang="en-US" sz="2000" dirty="0">
                <a:solidFill>
                  <a:schemeClr val="bg2"/>
                </a:solidFill>
              </a:rPr>
              <a:t>) collegati alle chiavi delle </a:t>
            </a:r>
            <a:r>
              <a:rPr lang="en-US" sz="2000" b="1" dirty="0">
                <a:solidFill>
                  <a:schemeClr val="bg1"/>
                </a:solidFill>
              </a:rPr>
              <a:t>relazioni coinvolte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415856"/>
            <a:ext cx="2743200" cy="1070864"/>
          </a:xfrm>
          <a:prstGeom prst="roundRect">
            <a:avLst>
              <a:gd name="adj" fmla="val 11954"/>
            </a:avLst>
          </a:prstGeom>
          <a:solidFill>
            <a:schemeClr val="tx2"/>
          </a:solidFill>
          <a:ln w="15875">
            <a:solidFill>
              <a:schemeClr val="accent3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Il caso N-N è quello più generale!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394609" y="3155696"/>
            <a:ext cx="6474862" cy="1591183"/>
          </a:xfrm>
          <a:prstGeom prst="roundRect">
            <a:avLst>
              <a:gd name="adj" fmla="val 80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Impiegato (0,N) Partecipazione (0,N) Proget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4337" y="3265424"/>
            <a:ext cx="6255406" cy="137172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4984623"/>
            <a:ext cx="10820095" cy="1370457"/>
          </a:xfrm>
          <a:prstGeom prst="roundRect">
            <a:avLst>
              <a:gd name="adj" fmla="val 9341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5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Impiegato</a:t>
            </a:r>
            <a:r>
              <a:rPr lang="en-US" sz="16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(PK(matricola), cognome, stipendio)</a:t>
            </a:r>
            <a:endParaRPr lang="en-US" sz="16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5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Progetto</a:t>
            </a:r>
            <a:r>
              <a:rPr lang="en-US" sz="16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(PK(codice), nome, budget)</a:t>
            </a:r>
            <a:endParaRPr lang="en-US" sz="16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50" b="1" dirty="0">
                <a:solidFill>
                  <a:schemeClr val="accent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Partecipazione</a:t>
            </a:r>
            <a:r>
              <a:rPr lang="en-US" sz="1650" dirty="0">
                <a:solidFill>
                  <a:schemeClr val="accent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(PK(FK(matricola_imp)), PK(FK(codice_prog)), data_inizio)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Traduzione delle associazioni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36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bg2"/>
                </a:solidFill>
              </a:rPr>
              <a:t>In casi più specifici (1-N) l’associazione può essere accorpata.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517340" y="2296414"/>
            <a:ext cx="4987351" cy="1076071"/>
          </a:xfrm>
          <a:prstGeom prst="roundRect">
            <a:avLst>
              <a:gd name="adj" fmla="val 11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Giocatore (1,1) Contratto (0,N) Squad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068" y="2406142"/>
            <a:ext cx="4767895" cy="85661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665415" y="2296414"/>
            <a:ext cx="3840480" cy="1078611"/>
          </a:xfrm>
          <a:prstGeom prst="roundRect">
            <a:avLst>
              <a:gd name="adj" fmla="val 11869"/>
            </a:avLst>
          </a:prstGeom>
          <a:solidFill>
            <a:schemeClr val="tx2"/>
          </a:solidFill>
          <a:ln w="15875">
            <a:solidFill>
              <a:schemeClr val="accent3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chemeClr val="bg1"/>
                </a:solidFill>
              </a:rPr>
              <a:t>“nome_sq” non serve che sia PK dell’associazione! La coppia “data_nascita” e “cognome” è già univoca (cardinalità 1-1)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518789"/>
            <a:ext cx="10820095" cy="1231011"/>
          </a:xfrm>
          <a:prstGeom prst="roundRect">
            <a:avLst>
              <a:gd name="adj" fmla="val 10399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Giocatore</a:t>
            </a:r>
            <a:r>
              <a:rPr lang="en-US" sz="13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(PK(cognome), PK(data_nascita), ruolo)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Squadra</a:t>
            </a:r>
            <a:r>
              <a:rPr lang="en-US" sz="13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(PK(nome), città, colori_sociali)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chemeClr val="accent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Contratto</a:t>
            </a:r>
            <a:r>
              <a:rPr lang="en-US" sz="1350" dirty="0">
                <a:solidFill>
                  <a:schemeClr val="accent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(PK(FK(cognome_gioc)), PK(FK(data_nasc)), FK(nome_sq), ingaggio)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896104"/>
            <a:ext cx="10820095" cy="36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bg2"/>
                </a:solidFill>
              </a:rPr>
              <a:t>↓  Si può </a:t>
            </a:r>
            <a:r>
              <a:rPr lang="en-US" sz="1700" b="1" dirty="0">
                <a:solidFill>
                  <a:schemeClr val="bg1"/>
                </a:solidFill>
              </a:rPr>
              <a:t>accorpare</a:t>
            </a:r>
            <a:r>
              <a:rPr lang="en-US" sz="1700" dirty="0">
                <a:solidFill>
                  <a:schemeClr val="bg2"/>
                </a:solidFill>
              </a:rPr>
              <a:t> l’associazione nell’entita dal lato 1-1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5409438"/>
            <a:ext cx="10820095" cy="945642"/>
          </a:xfrm>
          <a:prstGeom prst="roundRect">
            <a:avLst>
              <a:gd name="adj" fmla="val 13537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Giocatore</a:t>
            </a:r>
            <a:r>
              <a:rPr lang="en-US" sz="13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(PK(cognome), PK(data_nascita), ruolo, </a:t>
            </a:r>
            <a:r>
              <a:rPr lang="en-US" sz="1350" dirty="0">
                <a:solidFill>
                  <a:schemeClr val="accent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FK(nome_sq), ingaggio</a:t>
            </a:r>
            <a:r>
              <a:rPr lang="en-US" sz="13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Squadra</a:t>
            </a:r>
            <a:r>
              <a:rPr lang="en-US" sz="13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(PK(nome), città, colori_sociali)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Traduzione delle associazioni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3840480" cy="645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50" dirty="0">
                <a:solidFill>
                  <a:schemeClr val="bg2"/>
                </a:solidFill>
              </a:rPr>
              <a:t>Accorpamenti ancora più estesi sono possibili per associazioni (1-1).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515546" y="1783080"/>
            <a:ext cx="3330268" cy="791464"/>
          </a:xfrm>
          <a:prstGeom prst="roundRect">
            <a:avLst>
              <a:gd name="adj" fmla="val 1617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Direttore (1,1) Direzione (1,1) Dipartimen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5274" y="1892808"/>
            <a:ext cx="3110812" cy="5720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907284"/>
            <a:ext cx="2743200" cy="645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50" dirty="0">
                <a:solidFill>
                  <a:schemeClr val="bg2"/>
                </a:solidFill>
              </a:rPr>
              <a:t>1. Accorpamento su entità di Sx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3758184" y="2757424"/>
            <a:ext cx="7747711" cy="945642"/>
          </a:xfrm>
          <a:prstGeom prst="roundRect">
            <a:avLst>
              <a:gd name="adj" fmla="val 13537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Direttore</a:t>
            </a:r>
            <a:r>
              <a:rPr lang="en-US" sz="13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(PK(codice), cognome, stipendio, FK(nome_dip), data_inizio)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Dipartimento</a:t>
            </a:r>
            <a:r>
              <a:rPr lang="en-US" sz="13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(PK(nome), telefono, sede)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035806"/>
            <a:ext cx="2743200" cy="645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50" dirty="0">
                <a:solidFill>
                  <a:schemeClr val="bg2"/>
                </a:solidFill>
              </a:rPr>
              <a:t>2. Accorpamento su entità di Dx</a:t>
            </a:r>
            <a:endParaRPr lang="en-US" sz="1750" dirty="0"/>
          </a:p>
        </p:txBody>
      </p:sp>
      <p:sp>
        <p:nvSpPr>
          <p:cNvPr id="9" name="Text 6"/>
          <p:cNvSpPr txBox="1"/>
          <p:nvPr/>
        </p:nvSpPr>
        <p:spPr>
          <a:xfrm>
            <a:off x="3758184" y="3885946"/>
            <a:ext cx="7747711" cy="945642"/>
          </a:xfrm>
          <a:prstGeom prst="roundRect">
            <a:avLst>
              <a:gd name="adj" fmla="val 13537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Direttore</a:t>
            </a:r>
            <a:r>
              <a:rPr lang="en-US" sz="13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(PK(codice), cognome, stipendio)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Dipartimento</a:t>
            </a:r>
            <a:r>
              <a:rPr lang="en-US" sz="13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(PK(nome), telefono, sede, FK(codice_dir), data_inizio)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5014468"/>
            <a:ext cx="2743200" cy="1340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50" dirty="0">
                <a:solidFill>
                  <a:schemeClr val="bg2"/>
                </a:solidFill>
              </a:rPr>
              <a:t>3. Accorpamento “totale”</a:t>
            </a:r>
            <a:endParaRPr lang="en-US" sz="17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50" dirty="0">
                <a:solidFill>
                  <a:schemeClr val="bg2"/>
                </a:solidFill>
              </a:rPr>
              <a:t>    a. si crea un’entità unica!</a:t>
            </a:r>
            <a:endParaRPr lang="en-US" sz="17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50" dirty="0">
                <a:solidFill>
                  <a:schemeClr val="accent3"/>
                </a:solidFill>
              </a:rPr>
              <a:t>Sconsigliata!</a:t>
            </a:r>
            <a:endParaRPr lang="en-US" sz="1750" dirty="0"/>
          </a:p>
        </p:txBody>
      </p:sp>
      <p:sp>
        <p:nvSpPr>
          <p:cNvPr id="11" name="Text 8"/>
          <p:cNvSpPr txBox="1"/>
          <p:nvPr/>
        </p:nvSpPr>
        <p:spPr>
          <a:xfrm>
            <a:off x="3758184" y="5196459"/>
            <a:ext cx="7747711" cy="976630"/>
          </a:xfrm>
          <a:prstGeom prst="roundRect">
            <a:avLst>
              <a:gd name="adj" fmla="val 13108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Direttore</a:t>
            </a:r>
            <a:r>
              <a:rPr lang="en-US" sz="14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(PK(codice), cognome, stipendio, data_inizio, nome_dip,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telefono_dip, sede_dip)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dirty="0">
                <a:solidFill>
                  <a:schemeClr val="bg1"/>
                </a:solidFill>
              </a:rPr>
              <a:t>Traduzione delle associazioni (partecipazione opzionale)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4422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bg2"/>
                </a:solidFill>
              </a:rPr>
              <a:t>Come accorpare l’associazione quando il lato “ad 1” ha </a:t>
            </a:r>
            <a:r>
              <a:rPr lang="en-US" sz="1900" b="1" dirty="0">
                <a:solidFill>
                  <a:schemeClr val="bg1"/>
                </a:solidFill>
              </a:rPr>
              <a:t>partecipazione opzionale</a:t>
            </a:r>
            <a:r>
              <a:rPr lang="en-US" sz="1900" dirty="0">
                <a:solidFill>
                  <a:schemeClr val="bg2"/>
                </a:solidFill>
              </a:rPr>
              <a:t> (ad es. (0,1)-(1,N) o (0,1)-(1,1) o (0,1)-(0,1) )?</a:t>
            </a:r>
            <a:endParaRPr lang="en-US" sz="19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900" dirty="0">
                <a:solidFill>
                  <a:schemeClr val="bg2"/>
                </a:solidFill>
              </a:rPr>
              <a:t>Potrebbe succedere che fondendo l’associazione, alcune </a:t>
            </a:r>
            <a:r>
              <a:rPr lang="en-US" sz="1900" b="1" dirty="0">
                <a:solidFill>
                  <a:schemeClr val="bg1"/>
                </a:solidFill>
              </a:rPr>
              <a:t>tuple non abbiano</a:t>
            </a:r>
            <a:r>
              <a:rPr lang="en-US" sz="1900" dirty="0">
                <a:solidFill>
                  <a:schemeClr val="bg2"/>
                </a:solidFill>
              </a:rPr>
              <a:t> una </a:t>
            </a:r>
            <a:r>
              <a:rPr lang="en-US" sz="1900" b="1" dirty="0">
                <a:solidFill>
                  <a:schemeClr val="bg1"/>
                </a:solidFill>
              </a:rPr>
              <a:t>corrispondenza</a:t>
            </a:r>
            <a:r>
              <a:rPr lang="en-US" sz="1900" dirty="0">
                <a:solidFill>
                  <a:schemeClr val="bg2"/>
                </a:solidFill>
              </a:rPr>
              <a:t> con </a:t>
            </a:r>
            <a:r>
              <a:rPr lang="en-US" sz="1900" b="1" dirty="0">
                <a:solidFill>
                  <a:schemeClr val="bg1"/>
                </a:solidFill>
              </a:rPr>
              <a:t>tuple dell’altra</a:t>
            </a:r>
            <a:r>
              <a:rPr lang="en-US" sz="1900" dirty="0">
                <a:solidFill>
                  <a:schemeClr val="bg2"/>
                </a:solidFill>
              </a:rPr>
              <a:t> relazione!</a:t>
            </a:r>
            <a:endParaRPr lang="en-US" sz="19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900" dirty="0">
                <a:solidFill>
                  <a:schemeClr val="bg2"/>
                </a:solidFill>
              </a:rPr>
              <a:t>Problema: Come gestire </a:t>
            </a:r>
            <a:r>
              <a:rPr lang="en-US" sz="1900" b="1" dirty="0">
                <a:solidFill>
                  <a:schemeClr val="bg1"/>
                </a:solidFill>
              </a:rPr>
              <a:t>l’assenza</a:t>
            </a:r>
            <a:r>
              <a:rPr lang="en-US" sz="1900" dirty="0">
                <a:solidFill>
                  <a:schemeClr val="bg2"/>
                </a:solidFill>
              </a:rPr>
              <a:t> di </a:t>
            </a:r>
            <a:r>
              <a:rPr lang="en-US" sz="1900" b="1" dirty="0">
                <a:solidFill>
                  <a:schemeClr val="bg1"/>
                </a:solidFill>
              </a:rPr>
              <a:t>collegamenti</a:t>
            </a:r>
            <a:r>
              <a:rPr lang="en-US" sz="1900" dirty="0">
                <a:solidFill>
                  <a:schemeClr val="bg2"/>
                </a:solidFill>
              </a:rPr>
              <a:t> da una tupla all’altra?</a:t>
            </a:r>
            <a:endParaRPr lang="en-US" sz="19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chemeClr val="bg2"/>
                </a:solidFill>
              </a:rPr>
              <a:t>Soluzione 0: se possibile scegliere il lato (1-1)!</a:t>
            </a:r>
            <a:endParaRPr lang="en-US" sz="19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chemeClr val="bg2"/>
                </a:solidFill>
              </a:rPr>
              <a:t>Soluzione 1: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2"/>
                </a:solidFill>
              </a:rPr>
              <a:t>si </a:t>
            </a:r>
            <a:r>
              <a:rPr lang="en-US" sz="1650" b="1" dirty="0">
                <a:solidFill>
                  <a:schemeClr val="bg1"/>
                </a:solidFill>
              </a:rPr>
              <a:t>mantiene</a:t>
            </a:r>
            <a:r>
              <a:rPr lang="en-US" sz="1650" dirty="0">
                <a:solidFill>
                  <a:schemeClr val="bg2"/>
                </a:solidFill>
              </a:rPr>
              <a:t> lo </a:t>
            </a:r>
            <a:r>
              <a:rPr lang="en-US" sz="1650" b="1" dirty="0">
                <a:solidFill>
                  <a:schemeClr val="bg1"/>
                </a:solidFill>
              </a:rPr>
              <a:t>schema</a:t>
            </a:r>
            <a:r>
              <a:rPr lang="en-US" sz="1650" dirty="0">
                <a:solidFill>
                  <a:schemeClr val="bg2"/>
                </a:solidFill>
              </a:rPr>
              <a:t> di </a:t>
            </a:r>
            <a:r>
              <a:rPr lang="en-US" sz="1650" b="1" dirty="0">
                <a:solidFill>
                  <a:schemeClr val="bg1"/>
                </a:solidFill>
              </a:rPr>
              <a:t>traduzione</a:t>
            </a:r>
            <a:r>
              <a:rPr lang="en-US" sz="1650" dirty="0">
                <a:solidFill>
                  <a:schemeClr val="bg2"/>
                </a:solidFill>
              </a:rPr>
              <a:t> visto finora, ma si aggiungono </a:t>
            </a:r>
            <a:r>
              <a:rPr lang="en-US" sz="1650" b="1" dirty="0">
                <a:solidFill>
                  <a:schemeClr val="bg1"/>
                </a:solidFill>
              </a:rPr>
              <a:t>attributi</a:t>
            </a:r>
            <a:r>
              <a:rPr lang="en-US" sz="1650" dirty="0">
                <a:solidFill>
                  <a:schemeClr val="bg2"/>
                </a:solidFill>
              </a:rPr>
              <a:t> che possono avere </a:t>
            </a:r>
            <a:r>
              <a:rPr lang="en-US" sz="1650" b="1" dirty="0">
                <a:solidFill>
                  <a:schemeClr val="bg1"/>
                </a:solidFill>
              </a:rPr>
              <a:t>valori</a:t>
            </a:r>
            <a:r>
              <a:rPr lang="en-US" sz="1650" dirty="0">
                <a:solidFill>
                  <a:schemeClr val="bg2"/>
                </a:solidFill>
              </a:rPr>
              <a:t> “</a:t>
            </a:r>
            <a:r>
              <a:rPr lang="en-US" sz="1650" b="1" dirty="0">
                <a:solidFill>
                  <a:schemeClr val="bg1"/>
                </a:solidFill>
              </a:rPr>
              <a:t>NULL</a:t>
            </a:r>
            <a:r>
              <a:rPr lang="en-US" sz="1650" dirty="0">
                <a:solidFill>
                  <a:schemeClr val="bg2"/>
                </a:solidFill>
              </a:rPr>
              <a:t>” (indicati con *)</a:t>
            </a:r>
            <a:endParaRPr lang="en-US" sz="19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chemeClr val="bg2"/>
                </a:solidFill>
              </a:rPr>
              <a:t>Soluzione 2: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2"/>
                </a:solidFill>
              </a:rPr>
              <a:t>si </a:t>
            </a:r>
            <a:r>
              <a:rPr lang="en-US" sz="1650" b="1" dirty="0">
                <a:solidFill>
                  <a:schemeClr val="bg1"/>
                </a:solidFill>
              </a:rPr>
              <a:t>traducono</a:t>
            </a:r>
            <a:r>
              <a:rPr lang="en-US" sz="1650" dirty="0">
                <a:solidFill>
                  <a:schemeClr val="bg2"/>
                </a:solidFill>
              </a:rPr>
              <a:t> le </a:t>
            </a:r>
            <a:r>
              <a:rPr lang="en-US" sz="1650" b="1" dirty="0">
                <a:solidFill>
                  <a:schemeClr val="bg1"/>
                </a:solidFill>
              </a:rPr>
              <a:t>associazioni</a:t>
            </a:r>
            <a:r>
              <a:rPr lang="en-US" sz="1650" dirty="0">
                <a:solidFill>
                  <a:schemeClr val="bg2"/>
                </a:solidFill>
              </a:rPr>
              <a:t> come nel caso </a:t>
            </a:r>
            <a:r>
              <a:rPr lang="en-US" sz="1650" b="1" dirty="0">
                <a:solidFill>
                  <a:schemeClr val="bg1"/>
                </a:solidFill>
              </a:rPr>
              <a:t>N-N</a:t>
            </a:r>
            <a:r>
              <a:rPr lang="en-US" sz="1650" dirty="0">
                <a:solidFill>
                  <a:schemeClr val="bg2"/>
                </a:solidFill>
              </a:rPr>
              <a:t>.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2"/>
                </a:solidFill>
              </a:rPr>
              <a:t>in caso di </a:t>
            </a:r>
            <a:r>
              <a:rPr lang="en-US" sz="1650" b="1" dirty="0">
                <a:solidFill>
                  <a:schemeClr val="bg1"/>
                </a:solidFill>
              </a:rPr>
              <a:t>collegamento mancante</a:t>
            </a:r>
            <a:r>
              <a:rPr lang="en-US" sz="1650" dirty="0">
                <a:solidFill>
                  <a:schemeClr val="bg2"/>
                </a:solidFill>
              </a:rPr>
              <a:t>, semplicemente </a:t>
            </a:r>
            <a:r>
              <a:rPr lang="en-US" sz="1650" b="1" dirty="0">
                <a:solidFill>
                  <a:schemeClr val="bg1"/>
                </a:solidFill>
              </a:rPr>
              <a:t>non comparirà</a:t>
            </a:r>
            <a:r>
              <a:rPr lang="en-US" sz="1650" dirty="0">
                <a:solidFill>
                  <a:schemeClr val="bg2"/>
                </a:solidFill>
              </a:rPr>
              <a:t> una </a:t>
            </a:r>
            <a:r>
              <a:rPr lang="en-US" sz="1650" b="1" dirty="0">
                <a:solidFill>
                  <a:schemeClr val="bg1"/>
                </a:solidFill>
              </a:rPr>
              <a:t>tupla</a:t>
            </a:r>
            <a:r>
              <a:rPr lang="en-US" sz="1650" dirty="0">
                <a:solidFill>
                  <a:schemeClr val="bg2"/>
                </a:solidFill>
              </a:rPr>
              <a:t> nella </a:t>
            </a:r>
            <a:r>
              <a:rPr lang="en-US" sz="1650" b="1" dirty="0">
                <a:solidFill>
                  <a:schemeClr val="bg1"/>
                </a:solidFill>
              </a:rPr>
              <a:t>relazione derivata</a:t>
            </a:r>
            <a:r>
              <a:rPr lang="en-US" sz="1650" dirty="0">
                <a:solidFill>
                  <a:schemeClr val="bg2"/>
                </a:solidFill>
              </a:rPr>
              <a:t> dall’associazione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dirty="0">
                <a:solidFill>
                  <a:schemeClr val="bg1"/>
                </a:solidFill>
              </a:rPr>
              <a:t>Traduzione delle associazioni (partecipazione opzionale)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995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bg2"/>
                </a:solidFill>
              </a:rPr>
              <a:t>Vantaggi e svantaggi della Soluzione 1: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Contro: tanti valori </a:t>
            </a:r>
            <a:r>
              <a:rPr lang="en-US" sz="1700" b="1" dirty="0">
                <a:solidFill>
                  <a:schemeClr val="bg1"/>
                </a:solidFill>
              </a:rPr>
              <a:t>NULL</a:t>
            </a:r>
            <a:r>
              <a:rPr lang="en-US" sz="1700" dirty="0">
                <a:solidFill>
                  <a:schemeClr val="bg2"/>
                </a:solidFill>
              </a:rPr>
              <a:t> che “</a:t>
            </a:r>
            <a:r>
              <a:rPr lang="en-US" sz="1700" b="1" dirty="0">
                <a:solidFill>
                  <a:schemeClr val="bg1"/>
                </a:solidFill>
              </a:rPr>
              <a:t>sporcano</a:t>
            </a:r>
            <a:r>
              <a:rPr lang="en-US" sz="1700" dirty="0">
                <a:solidFill>
                  <a:schemeClr val="bg2"/>
                </a:solidFill>
              </a:rPr>
              <a:t>” il DB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Pro: Il DB resta più </a:t>
            </a:r>
            <a:r>
              <a:rPr lang="en-US" sz="1700" b="1" dirty="0">
                <a:solidFill>
                  <a:schemeClr val="bg1"/>
                </a:solidFill>
              </a:rPr>
              <a:t>leggero</a:t>
            </a:r>
            <a:r>
              <a:rPr lang="en-US" sz="1700" dirty="0">
                <a:solidFill>
                  <a:schemeClr val="bg2"/>
                </a:solidFill>
              </a:rPr>
              <a:t> (ho meno tabelle)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20040" y="2933954"/>
            <a:ext cx="3223360" cy="3421126"/>
          </a:xfrm>
          <a:prstGeom prst="roundRect">
            <a:avLst>
              <a:gd name="adj" fmla="val 39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E1 (0,1) R (X,N) E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768" y="3043682"/>
            <a:ext cx="3003904" cy="320167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224528" y="2933954"/>
            <a:ext cx="7281367" cy="36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bg2"/>
                </a:solidFill>
              </a:rPr>
              <a:t>Soluzione 1: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224528" y="3456432"/>
            <a:ext cx="7281367" cy="961136"/>
          </a:xfrm>
          <a:prstGeom prst="roundRect">
            <a:avLst>
              <a:gd name="adj" fmla="val 13319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E1</a:t>
            </a:r>
            <a:r>
              <a:rPr lang="en-US" sz="140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(PK(a_e11), a_e12, FK(a_e21)*, a_r*)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E2</a:t>
            </a:r>
            <a:r>
              <a:rPr lang="en-US" sz="140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(PK(a_e21), a_e22)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224528" y="4573016"/>
            <a:ext cx="7281367" cy="36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bg2"/>
                </a:solidFill>
              </a:rPr>
              <a:t>Soluzione 2: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224528" y="5095494"/>
            <a:ext cx="7281367" cy="1254252"/>
          </a:xfrm>
          <a:prstGeom prst="roundRect">
            <a:avLst>
              <a:gd name="adj" fmla="val 10207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E1</a:t>
            </a:r>
            <a:r>
              <a:rPr lang="en-US" sz="140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(PK(a_e11), a_e12)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E2</a:t>
            </a:r>
            <a:r>
              <a:rPr lang="en-US" sz="140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(PK(a_e21), a_e22)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</a:t>
            </a:r>
            <a:r>
              <a:rPr lang="en-US" sz="140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(PK(FK(a_e11)), FK(a_e21), a_r)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Traduzione delle associazioni ternarie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816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Le associazioni </a:t>
            </a:r>
            <a:r>
              <a:rPr lang="en-US" sz="2300" b="1" dirty="0">
                <a:solidFill>
                  <a:schemeClr val="bg1"/>
                </a:solidFill>
              </a:rPr>
              <a:t>ternarie molti</a:t>
            </a:r>
            <a:r>
              <a:rPr lang="en-US" sz="2300" dirty="0">
                <a:solidFill>
                  <a:schemeClr val="bg2"/>
                </a:solidFill>
              </a:rPr>
              <a:t> a </a:t>
            </a:r>
            <a:r>
              <a:rPr lang="en-US" sz="2300" b="1" dirty="0">
                <a:solidFill>
                  <a:schemeClr val="bg1"/>
                </a:solidFill>
              </a:rPr>
              <a:t>molti</a:t>
            </a:r>
            <a:r>
              <a:rPr lang="en-US" sz="2300" dirty="0">
                <a:solidFill>
                  <a:schemeClr val="bg2"/>
                </a:solidFill>
              </a:rPr>
              <a:t> possono essere tradotte come il caso binario, creando un’</a:t>
            </a:r>
            <a:r>
              <a:rPr lang="en-US" sz="2300" b="1" dirty="0">
                <a:solidFill>
                  <a:schemeClr val="bg1"/>
                </a:solidFill>
              </a:rPr>
              <a:t>apposita relazione</a:t>
            </a:r>
            <a:r>
              <a:rPr lang="en-US" sz="2300" dirty="0">
                <a:solidFill>
                  <a:schemeClr val="bg2"/>
                </a:solidFill>
              </a:rPr>
              <a:t> derivata dall’associazione.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85800" y="2837180"/>
            <a:ext cx="4206240" cy="2801924"/>
          </a:xfrm>
          <a:prstGeom prst="roundRect">
            <a:avLst>
              <a:gd name="adj" fmla="val 45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Associazione ternaria R tra E1, E2, E3 con cardinalità (X,N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946908"/>
            <a:ext cx="3986784" cy="25824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221224" y="3448964"/>
            <a:ext cx="6284671" cy="1578356"/>
          </a:xfrm>
          <a:prstGeom prst="roundRect">
            <a:avLst>
              <a:gd name="adj" fmla="val 8111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E1</a:t>
            </a:r>
            <a:r>
              <a:rPr lang="en-US" sz="14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(PK(a_e11), a_e12)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E2</a:t>
            </a:r>
            <a:r>
              <a:rPr lang="en-US" sz="14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(PK(a_e21), a_e22)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E3</a:t>
            </a:r>
            <a:r>
              <a:rPr lang="en-US" sz="14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(PK(a_e31), a_e32)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</a:t>
            </a:r>
            <a:r>
              <a:rPr lang="en-US" sz="14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(PK(FK(a_e11)), PK(FK(a_e21)), PK(FK(a_e31)), a_r)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Traduzione delle associazioni ricorsive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816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Si possono tradurre con una </a:t>
            </a:r>
            <a:r>
              <a:rPr lang="en-US" sz="2300" b="1" dirty="0">
                <a:solidFill>
                  <a:schemeClr val="bg1"/>
                </a:solidFill>
              </a:rPr>
              <a:t>relazione dedicata</a:t>
            </a:r>
            <a:r>
              <a:rPr lang="en-US" sz="2300" dirty="0">
                <a:solidFill>
                  <a:schemeClr val="bg2"/>
                </a:solidFill>
              </a:rPr>
              <a:t> anche le associazioni ricorsive, usando due chiavi esterne come predecessore e successore.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990116" y="2837180"/>
            <a:ext cx="6211464" cy="2226056"/>
          </a:xfrm>
          <a:prstGeom prst="roundRect">
            <a:avLst>
              <a:gd name="adj" fmla="val 57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Impiegato (1,N) Supervisiona (1,N) – associazione ricors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9844" y="2946908"/>
            <a:ext cx="5992008" cy="2006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5300980"/>
            <a:ext cx="10820095" cy="1054100"/>
          </a:xfrm>
          <a:prstGeom prst="roundRect">
            <a:avLst>
              <a:gd name="adj" fmla="val 12145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Impiegato</a:t>
            </a:r>
            <a:r>
              <a:rPr lang="en-US" sz="170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(PK(id), nome, cognome)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Supervisione</a:t>
            </a:r>
            <a:r>
              <a:rPr lang="en-US" sz="170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(PK(FK(id_supervisore)), PK(FK(id_supervisionato)), data_inizio)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Quadro Riassuntivo Traduzione Associazioni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65225" y="1783080"/>
            <a:ext cx="532755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Quadro riassuntivo: binaria molti a molti, ternaria molti a molti, uno a molti con partecipazione obbligator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953" y="1892808"/>
            <a:ext cx="5108094" cy="43068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01384" y="2710507"/>
            <a:ext cx="5004511" cy="2671425"/>
          </a:xfrm>
          <a:prstGeom prst="roundRect">
            <a:avLst>
              <a:gd name="adj" fmla="val 47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1" descr="Quadro riassuntivo: uno a molti con partecipazione opzionale, associazione con identificatore estern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820235"/>
            <a:ext cx="4785055" cy="245196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Traduzione delle generalizzazioni/specializzazioni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6035040" cy="4461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chemeClr val="bg2"/>
                </a:solidFill>
              </a:rPr>
              <a:t>In generale non esiste un’unica strategia, ma bisogna valutare i casi specifici: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accorpare le entità </a:t>
            </a:r>
            <a:r>
              <a:rPr lang="en-US" sz="2100" b="1" dirty="0">
                <a:solidFill>
                  <a:schemeClr val="bg1"/>
                </a:solidFill>
              </a:rPr>
              <a:t>figlie</a:t>
            </a:r>
            <a:r>
              <a:rPr lang="en-US" sz="2100" dirty="0">
                <a:solidFill>
                  <a:schemeClr val="bg2"/>
                </a:solidFill>
              </a:rPr>
              <a:t> nel </a:t>
            </a:r>
            <a:r>
              <a:rPr lang="en-US" sz="2100" b="1" dirty="0">
                <a:solidFill>
                  <a:schemeClr val="bg1"/>
                </a:solidFill>
              </a:rPr>
              <a:t>genitore</a:t>
            </a:r>
            <a:endParaRPr lang="en-US" sz="21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800" dirty="0">
                <a:solidFill>
                  <a:schemeClr val="bg2"/>
                </a:solidFill>
              </a:rPr>
              <a:t>le entità figlie non hanno associazioni mentre il genitore sì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accorpare il </a:t>
            </a:r>
            <a:r>
              <a:rPr lang="en-US" sz="2100" b="1" dirty="0">
                <a:solidFill>
                  <a:schemeClr val="bg1"/>
                </a:solidFill>
              </a:rPr>
              <a:t>genitore</a:t>
            </a:r>
            <a:r>
              <a:rPr lang="en-US" sz="2100" dirty="0">
                <a:solidFill>
                  <a:schemeClr val="bg2"/>
                </a:solidFill>
              </a:rPr>
              <a:t> nelle </a:t>
            </a:r>
            <a:r>
              <a:rPr lang="en-US" sz="2100" b="1" dirty="0">
                <a:solidFill>
                  <a:schemeClr val="bg1"/>
                </a:solidFill>
              </a:rPr>
              <a:t>figlie</a:t>
            </a:r>
            <a:endParaRPr lang="en-US" sz="21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800" dirty="0">
                <a:solidFill>
                  <a:schemeClr val="bg2"/>
                </a:solidFill>
              </a:rPr>
              <a:t>il genitore non ha associazioni mentre le figlie sì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b="1" dirty="0">
                <a:solidFill>
                  <a:schemeClr val="bg1"/>
                </a:solidFill>
              </a:rPr>
              <a:t>sostituire</a:t>
            </a:r>
            <a:r>
              <a:rPr lang="en-US" sz="2100" dirty="0">
                <a:solidFill>
                  <a:schemeClr val="bg2"/>
                </a:solidFill>
              </a:rPr>
              <a:t> con </a:t>
            </a:r>
            <a:r>
              <a:rPr lang="en-US" sz="2100" b="1" dirty="0">
                <a:solidFill>
                  <a:schemeClr val="bg1"/>
                </a:solidFill>
              </a:rPr>
              <a:t>associazioni</a:t>
            </a:r>
            <a:r>
              <a:rPr lang="en-US" sz="2100" dirty="0">
                <a:solidFill>
                  <a:schemeClr val="bg2"/>
                </a:solidFill>
              </a:rPr>
              <a:t> e tradurre con le tecniche già viste</a:t>
            </a:r>
            <a:endParaRPr lang="en-US" sz="21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800" dirty="0">
                <a:solidFill>
                  <a:schemeClr val="bg2"/>
                </a:solidFill>
              </a:rPr>
              <a:t>sia il genitore che le entità figlie hanno associazioni specifiche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soluzioni “</a:t>
            </a:r>
            <a:r>
              <a:rPr lang="en-US" sz="2100" b="1" dirty="0">
                <a:solidFill>
                  <a:schemeClr val="bg1"/>
                </a:solidFill>
              </a:rPr>
              <a:t>miste</a:t>
            </a:r>
            <a:r>
              <a:rPr lang="en-US" sz="2100" dirty="0">
                <a:solidFill>
                  <a:schemeClr val="bg2"/>
                </a:solidFill>
              </a:rPr>
              <a:t>”</a:t>
            </a:r>
            <a:endParaRPr lang="en-US" sz="21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800" dirty="0">
                <a:solidFill>
                  <a:schemeClr val="bg2"/>
                </a:solidFill>
              </a:rPr>
              <a:t>combinazione delle precedenti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050024" y="3211207"/>
            <a:ext cx="4455871" cy="1604748"/>
          </a:xfrm>
          <a:prstGeom prst="roundRect">
            <a:avLst>
              <a:gd name="adj" fmla="val 7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E0 generalizza E1 ed E2; E0–R1–E3, E2–R2–E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9752" y="3320935"/>
            <a:ext cx="4236415" cy="13852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Traduzione delle generalizzazioni/specializzazioni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028274" y="1783080"/>
            <a:ext cx="2135146" cy="1017367"/>
          </a:xfrm>
          <a:prstGeom prst="roundRect">
            <a:avLst>
              <a:gd name="adj" fmla="val 125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Schema di partenza con la generalizzazione evidenzia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8002" y="1892808"/>
            <a:ext cx="1915690" cy="79791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2983327"/>
            <a:ext cx="3387242" cy="351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Accorpamento nel </a:t>
            </a:r>
            <a:r>
              <a:rPr lang="en-US" sz="1600" b="1" dirty="0">
                <a:solidFill>
                  <a:schemeClr val="bg1"/>
                </a:solidFill>
              </a:rPr>
              <a:t>genitore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75074" y="3572607"/>
            <a:ext cx="2608695" cy="1497233"/>
          </a:xfrm>
          <a:prstGeom prst="roundRect">
            <a:avLst>
              <a:gd name="adj" fmla="val 85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Accorpamento nel genito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802" y="3682335"/>
            <a:ext cx="2389239" cy="127777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5307584"/>
            <a:ext cx="3387242" cy="1047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attributi figlie nullable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aggiunta attributo “tipo” (distingue la figlia)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card. minima dell’associazione figlia=0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402226" y="2983327"/>
            <a:ext cx="3387242" cy="351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Accorpamento nelle </a:t>
            </a:r>
            <a:r>
              <a:rPr lang="en-US" sz="1600" b="1" dirty="0">
                <a:solidFill>
                  <a:schemeClr val="bg1"/>
                </a:solidFill>
              </a:rPr>
              <a:t>figlie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402226" y="3572607"/>
            <a:ext cx="3387242" cy="1732163"/>
          </a:xfrm>
          <a:prstGeom prst="roundRect">
            <a:avLst>
              <a:gd name="adj" fmla="val 7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2" descr="Accorpamento nelle figli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954" y="3682335"/>
            <a:ext cx="3167786" cy="151270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402226" y="5542514"/>
            <a:ext cx="33872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ogni associazione sul padre è ripetuta per ogni figlia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8118653" y="2983327"/>
            <a:ext cx="3387242" cy="351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Sostituzione con </a:t>
            </a:r>
            <a:r>
              <a:rPr lang="en-US" sz="1600" b="1" dirty="0">
                <a:solidFill>
                  <a:schemeClr val="bg1"/>
                </a:solidFill>
              </a:rPr>
              <a:t>associazioni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8129123" y="3572607"/>
            <a:ext cx="3366302" cy="1815749"/>
          </a:xfrm>
          <a:prstGeom prst="roundRect">
            <a:avLst>
              <a:gd name="adj" fmla="val 70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3" descr="Sostituzione con associazion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851" y="3682335"/>
            <a:ext cx="3146846" cy="1596293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118653" y="5626100"/>
            <a:ext cx="3387242" cy="72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ogni istanza del padre può partecipare solo ad una associazione con le figlie (card. min. = 0)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Traduzione delle generalizzazioni/specializzazioni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613683" y="1783080"/>
            <a:ext cx="3264874" cy="1500632"/>
          </a:xfrm>
          <a:prstGeom prst="roundRect">
            <a:avLst>
              <a:gd name="adj" fmla="val 85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Schema di partenza con la generalizzazione evidenzia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3411" y="1892808"/>
            <a:ext cx="3045418" cy="12811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3521456"/>
            <a:ext cx="5120640" cy="283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si accorpa soltanto E1 perchè non ha associazioni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si usa l’attributo “Atipo” per distinguere istanze di E1 da quelle di E0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l’altra specializzazione diventa un’associazione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la PK di E2 è anche una FK collegata ad A01 di E0.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6135624" y="1783080"/>
            <a:ext cx="5370271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chemeClr val="bg2"/>
                </a:solidFill>
              </a:rPr>
              <a:t>Soluzione “</a:t>
            </a:r>
            <a:r>
              <a:rPr lang="en-US" sz="2100" b="1" dirty="0">
                <a:solidFill>
                  <a:schemeClr val="bg1"/>
                </a:solidFill>
              </a:rPr>
              <a:t>mista</a:t>
            </a:r>
            <a:r>
              <a:rPr lang="en-US" sz="2100" dirty="0">
                <a:solidFill>
                  <a:schemeClr val="bg2"/>
                </a:solidFill>
              </a:rPr>
              <a:t>”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135624" y="2449830"/>
            <a:ext cx="5370271" cy="3175576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Soluzione mis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2559558"/>
            <a:ext cx="5150815" cy="2956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Vincolo di Integrità referenziale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4480560" cy="443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chemeClr val="bg2"/>
                </a:solidFill>
              </a:rPr>
              <a:t>Le </a:t>
            </a:r>
            <a:r>
              <a:rPr lang="en-US" sz="2100" b="1" dirty="0">
                <a:solidFill>
                  <a:schemeClr val="bg1"/>
                </a:solidFill>
              </a:rPr>
              <a:t>chiavi esterne</a:t>
            </a:r>
            <a:r>
              <a:rPr lang="en-US" sz="2100" dirty="0">
                <a:solidFill>
                  <a:schemeClr val="bg2"/>
                </a:solidFill>
              </a:rPr>
              <a:t> (FK) consentono a </a:t>
            </a:r>
            <a:r>
              <a:rPr lang="en-US" sz="2100" b="1" dirty="0">
                <a:solidFill>
                  <a:schemeClr val="bg1"/>
                </a:solidFill>
              </a:rPr>
              <a:t>tuple</a:t>
            </a:r>
            <a:r>
              <a:rPr lang="en-US" sz="2100" dirty="0">
                <a:solidFill>
                  <a:schemeClr val="bg2"/>
                </a:solidFill>
              </a:rPr>
              <a:t> di diverse relazioni di essere </a:t>
            </a:r>
            <a:r>
              <a:rPr lang="en-US" sz="2100" b="1" dirty="0">
                <a:solidFill>
                  <a:schemeClr val="bg1"/>
                </a:solidFill>
              </a:rPr>
              <a:t>collegate</a:t>
            </a:r>
            <a:r>
              <a:rPr lang="en-US" sz="2100" dirty="0">
                <a:solidFill>
                  <a:schemeClr val="bg2"/>
                </a:solidFill>
              </a:rPr>
              <a:t>.</a:t>
            </a:r>
            <a:endParaRPr lang="en-US" sz="21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chemeClr val="accent3"/>
                </a:solidFill>
              </a:rPr>
              <a:t>Tuttavia, i campi FK </a:t>
            </a:r>
            <a:r>
              <a:rPr lang="en-US" sz="2100" b="1" dirty="0">
                <a:solidFill>
                  <a:schemeClr val="accent3"/>
                </a:solidFill>
              </a:rPr>
              <a:t>non possono</a:t>
            </a:r>
            <a:r>
              <a:rPr lang="en-US" sz="2100" dirty="0">
                <a:solidFill>
                  <a:schemeClr val="accent3"/>
                </a:solidFill>
              </a:rPr>
              <a:t> assumere </a:t>
            </a:r>
            <a:r>
              <a:rPr lang="en-US" sz="2100" b="1" dirty="0">
                <a:solidFill>
                  <a:schemeClr val="accent3"/>
                </a:solidFill>
              </a:rPr>
              <a:t>qualsiasi valore</a:t>
            </a:r>
            <a:r>
              <a:rPr lang="en-US" sz="2100" dirty="0">
                <a:solidFill>
                  <a:schemeClr val="accent3"/>
                </a:solidFill>
              </a:rPr>
              <a:t>!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deve esserci </a:t>
            </a:r>
            <a:r>
              <a:rPr lang="en-US" sz="2100" b="1" dirty="0">
                <a:solidFill>
                  <a:schemeClr val="bg1"/>
                </a:solidFill>
              </a:rPr>
              <a:t>corrispondenza</a:t>
            </a:r>
            <a:r>
              <a:rPr lang="en-US" sz="2100" dirty="0">
                <a:solidFill>
                  <a:schemeClr val="bg2"/>
                </a:solidFill>
              </a:rPr>
              <a:t> con </a:t>
            </a:r>
            <a:r>
              <a:rPr lang="en-US" sz="2100" b="1" dirty="0">
                <a:solidFill>
                  <a:schemeClr val="bg1"/>
                </a:solidFill>
              </a:rPr>
              <a:t>uno</a:t>
            </a:r>
            <a:r>
              <a:rPr lang="en-US" sz="2100" dirty="0">
                <a:solidFill>
                  <a:schemeClr val="bg2"/>
                </a:solidFill>
              </a:rPr>
              <a:t> dei </a:t>
            </a:r>
            <a:r>
              <a:rPr lang="en-US" sz="2100" b="1" dirty="0">
                <a:solidFill>
                  <a:schemeClr val="bg1"/>
                </a:solidFill>
              </a:rPr>
              <a:t>valori</a:t>
            </a:r>
            <a:r>
              <a:rPr lang="en-US" sz="2100" dirty="0">
                <a:solidFill>
                  <a:schemeClr val="bg2"/>
                </a:solidFill>
              </a:rPr>
              <a:t> della </a:t>
            </a:r>
            <a:r>
              <a:rPr lang="en-US" sz="2100" b="1" dirty="0">
                <a:solidFill>
                  <a:schemeClr val="bg1"/>
                </a:solidFill>
              </a:rPr>
              <a:t>PK</a:t>
            </a:r>
            <a:r>
              <a:rPr lang="en-US" sz="2100" dirty="0">
                <a:solidFill>
                  <a:schemeClr val="bg2"/>
                </a:solidFill>
              </a:rPr>
              <a:t> a cui fa </a:t>
            </a:r>
            <a:r>
              <a:rPr lang="en-US" sz="2100" b="1" dirty="0">
                <a:solidFill>
                  <a:schemeClr val="bg1"/>
                </a:solidFill>
              </a:rPr>
              <a:t>riferimento</a:t>
            </a:r>
            <a:endParaRPr lang="en-US" sz="21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bg1"/>
                </a:solidFill>
              </a:rPr>
              <a:t>Limitare</a:t>
            </a:r>
            <a:r>
              <a:rPr lang="en-US" sz="2100" dirty="0">
                <a:solidFill>
                  <a:schemeClr val="bg2"/>
                </a:solidFill>
              </a:rPr>
              <a:t> i </a:t>
            </a:r>
            <a:r>
              <a:rPr lang="en-US" sz="2100" b="1" dirty="0">
                <a:solidFill>
                  <a:schemeClr val="bg1"/>
                </a:solidFill>
              </a:rPr>
              <a:t>valori</a:t>
            </a:r>
            <a:r>
              <a:rPr lang="en-US" sz="2100" dirty="0">
                <a:solidFill>
                  <a:schemeClr val="bg2"/>
                </a:solidFill>
              </a:rPr>
              <a:t> assunti dai campi FK ai soli valori possibili della PK serve a </a:t>
            </a:r>
            <a:r>
              <a:rPr lang="en-US" sz="2100" b="1" dirty="0">
                <a:solidFill>
                  <a:schemeClr val="bg1"/>
                </a:solidFill>
              </a:rPr>
              <a:t>garantire l’integrità</a:t>
            </a:r>
            <a:r>
              <a:rPr lang="en-US" sz="2100" dirty="0">
                <a:solidFill>
                  <a:schemeClr val="bg2"/>
                </a:solidFill>
              </a:rPr>
              <a:t> dei </a:t>
            </a:r>
            <a:r>
              <a:rPr lang="en-US" sz="2100" b="1" dirty="0">
                <a:solidFill>
                  <a:schemeClr val="bg1"/>
                </a:solidFill>
              </a:rPr>
              <a:t>riferimenti</a:t>
            </a:r>
            <a:r>
              <a:rPr lang="en-US" sz="2100" dirty="0">
                <a:solidFill>
                  <a:schemeClr val="bg2"/>
                </a:solidFill>
              </a:rPr>
              <a:t>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487319" y="1783080"/>
            <a:ext cx="4026801" cy="3232404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Tabelle Ordini e Clienti con violazione del vincolo di integrità referenzi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7047" y="1892808"/>
            <a:ext cx="3807345" cy="30129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95544" y="5253228"/>
            <a:ext cx="6010351" cy="1101852"/>
          </a:xfrm>
          <a:prstGeom prst="roundRect">
            <a:avLst>
              <a:gd name="adj" fmla="val 11618"/>
            </a:avLst>
          </a:prstGeom>
          <a:solidFill>
            <a:schemeClr val="tx2"/>
          </a:solidFill>
          <a:ln w="15875">
            <a:solidFill>
              <a:schemeClr val="accent3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accent3"/>
                </a:solidFill>
              </a:rPr>
              <a:t>Vincolo</a:t>
            </a:r>
            <a:r>
              <a:rPr lang="en-US" sz="2100" dirty="0">
                <a:solidFill>
                  <a:schemeClr val="bg1"/>
                </a:solidFill>
              </a:rPr>
              <a:t> di </a:t>
            </a:r>
            <a:r>
              <a:rPr lang="en-US" sz="2100" b="1" dirty="0">
                <a:solidFill>
                  <a:schemeClr val="accent3"/>
                </a:solidFill>
              </a:rPr>
              <a:t>integrità</a:t>
            </a:r>
            <a:r>
              <a:rPr lang="en-US" sz="2100" dirty="0">
                <a:solidFill>
                  <a:schemeClr val="bg1"/>
                </a:solidFill>
              </a:rPr>
              <a:t> referenziale: mantiene la </a:t>
            </a:r>
            <a:r>
              <a:rPr lang="en-US" sz="2100" b="1" dirty="0">
                <a:solidFill>
                  <a:schemeClr val="accent3"/>
                </a:solidFill>
              </a:rPr>
              <a:t>coerenza</a:t>
            </a:r>
            <a:r>
              <a:rPr lang="en-US" sz="2100" dirty="0">
                <a:solidFill>
                  <a:schemeClr val="bg1"/>
                </a:solidFill>
              </a:rPr>
              <a:t> delle </a:t>
            </a:r>
            <a:r>
              <a:rPr lang="en-US" sz="2100" b="1" dirty="0">
                <a:solidFill>
                  <a:schemeClr val="accent3"/>
                </a:solidFill>
              </a:rPr>
              <a:t>associazioni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chemeClr val="accent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INFORMATICA  ·  BASI DI DATI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1732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0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9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85800" y="388620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chemeClr val="bg1"/>
                </a:solidFill>
              </a:rPr>
              <a:t>Normalizzazione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Normalizzazione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6650431" cy="4419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Una volta realizzato lo </a:t>
            </a:r>
            <a:r>
              <a:rPr lang="en-US" sz="2000" b="1" dirty="0">
                <a:solidFill>
                  <a:schemeClr val="bg1"/>
                </a:solidFill>
              </a:rPr>
              <a:t>schema logico</a:t>
            </a:r>
            <a:r>
              <a:rPr lang="en-US" sz="2000" dirty="0">
                <a:solidFill>
                  <a:schemeClr val="bg2"/>
                </a:solidFill>
              </a:rPr>
              <a:t>, come ci si può assicurare che sia </a:t>
            </a:r>
            <a:r>
              <a:rPr lang="en-US" sz="2000" b="1" dirty="0">
                <a:solidFill>
                  <a:schemeClr val="bg1"/>
                </a:solidFill>
              </a:rPr>
              <a:t>ben costruito</a:t>
            </a:r>
            <a:r>
              <a:rPr lang="en-US" sz="2000" dirty="0">
                <a:solidFill>
                  <a:schemeClr val="bg2"/>
                </a:solidFill>
              </a:rPr>
              <a:t>?</a:t>
            </a:r>
            <a:endParaRPr lang="en-US" sz="20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Esistono dei </a:t>
            </a:r>
            <a:r>
              <a:rPr lang="en-US" sz="2000" b="1" dirty="0">
                <a:solidFill>
                  <a:schemeClr val="bg1"/>
                </a:solidFill>
              </a:rPr>
              <a:t>criteri</a:t>
            </a:r>
            <a:r>
              <a:rPr lang="en-US" sz="2000" dirty="0">
                <a:solidFill>
                  <a:schemeClr val="bg2"/>
                </a:solidFill>
              </a:rPr>
              <a:t> per “</a:t>
            </a:r>
            <a:r>
              <a:rPr lang="en-US" sz="2000" b="1" dirty="0">
                <a:solidFill>
                  <a:schemeClr val="bg1"/>
                </a:solidFill>
              </a:rPr>
              <a:t>certificare</a:t>
            </a:r>
            <a:r>
              <a:rPr lang="en-US" sz="2000" dirty="0">
                <a:solidFill>
                  <a:schemeClr val="bg2"/>
                </a:solidFill>
              </a:rPr>
              <a:t>” la </a:t>
            </a:r>
            <a:r>
              <a:rPr lang="en-US" sz="2000" b="1" dirty="0">
                <a:solidFill>
                  <a:schemeClr val="bg1"/>
                </a:solidFill>
              </a:rPr>
              <a:t>qualità</a:t>
            </a:r>
            <a:r>
              <a:rPr lang="en-US" sz="2000" dirty="0">
                <a:solidFill>
                  <a:schemeClr val="bg2"/>
                </a:solidFill>
              </a:rPr>
              <a:t> di una base di dati?</a:t>
            </a:r>
            <a:endParaRPr lang="en-US" sz="20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Sì! Le cosiddette “</a:t>
            </a:r>
            <a:r>
              <a:rPr lang="en-US" sz="2000" b="1" dirty="0">
                <a:solidFill>
                  <a:schemeClr val="bg1"/>
                </a:solidFill>
              </a:rPr>
              <a:t>Forme Normali</a:t>
            </a:r>
            <a:r>
              <a:rPr lang="en-US" sz="2000" dirty="0">
                <a:solidFill>
                  <a:schemeClr val="bg2"/>
                </a:solidFill>
              </a:rPr>
              <a:t>” (NF).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1NF</a:t>
            </a:r>
            <a:endParaRPr lang="en-US" sz="20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700" dirty="0">
                <a:solidFill>
                  <a:schemeClr val="bg2"/>
                </a:solidFill>
              </a:rPr>
              <a:t>esistenza della PK e atomicità degli attributi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2NF</a:t>
            </a:r>
            <a:endParaRPr lang="en-US" sz="20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700" dirty="0">
                <a:solidFill>
                  <a:schemeClr val="bg2"/>
                </a:solidFill>
              </a:rPr>
              <a:t>ogni attributo dipende da tutta la PK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3NF</a:t>
            </a:r>
            <a:endParaRPr lang="en-US" sz="20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700" dirty="0">
                <a:solidFill>
                  <a:schemeClr val="bg2"/>
                </a:solidFill>
              </a:rPr>
              <a:t>assenza dipendenze transitive tra attributi non PK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4NF… (di solito ci si ferma alla 3NF)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665415" y="2897251"/>
            <a:ext cx="3840480" cy="2191004"/>
          </a:xfrm>
          <a:prstGeom prst="roundRect">
            <a:avLst>
              <a:gd name="adj" fmla="val 5843"/>
            </a:avLst>
          </a:prstGeom>
          <a:solidFill>
            <a:schemeClr val="tx2"/>
          </a:solidFill>
          <a:ln w="15875">
            <a:solidFill>
              <a:schemeClr val="accent4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Se lo schema ER è </a:t>
            </a:r>
            <a:r>
              <a:rPr lang="en-US" sz="2000" b="1" dirty="0">
                <a:solidFill>
                  <a:schemeClr val="accent4"/>
                </a:solidFill>
              </a:rPr>
              <a:t>ben progettato</a:t>
            </a:r>
            <a:r>
              <a:rPr lang="en-US" sz="2000" dirty="0">
                <a:solidFill>
                  <a:schemeClr val="bg1"/>
                </a:solidFill>
              </a:rPr>
              <a:t>, lo schema logico potrebbe </a:t>
            </a:r>
            <a:r>
              <a:rPr lang="en-US" sz="2000" b="1" dirty="0">
                <a:solidFill>
                  <a:schemeClr val="accent4"/>
                </a:solidFill>
              </a:rPr>
              <a:t>già rispettare</a:t>
            </a:r>
            <a:r>
              <a:rPr lang="en-US" sz="2000" dirty="0">
                <a:solidFill>
                  <a:schemeClr val="bg1"/>
                </a:solidFill>
              </a:rPr>
              <a:t> le 3 Forme Normali!</a:t>
            </a:r>
            <a:endParaRPr lang="en-US" sz="20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Tuttavia, va verificato!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Ristrutturazione/Decomposizione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6284671" cy="4328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Se un DB non rispetta le 3 forme normali, lo si deve </a:t>
            </a:r>
            <a:r>
              <a:rPr lang="en-US" sz="2300" b="1" dirty="0">
                <a:solidFill>
                  <a:schemeClr val="bg1"/>
                </a:solidFill>
              </a:rPr>
              <a:t>ristrutturare</a:t>
            </a:r>
            <a:r>
              <a:rPr lang="en-US" sz="2300" dirty="0">
                <a:solidFill>
                  <a:schemeClr val="bg2"/>
                </a:solidFill>
              </a:rPr>
              <a:t>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decomponendo</a:t>
            </a:r>
            <a:r>
              <a:rPr lang="en-US" sz="2300" dirty="0">
                <a:solidFill>
                  <a:schemeClr val="bg2"/>
                </a:solidFill>
              </a:rPr>
              <a:t> le relazioni così da </a:t>
            </a:r>
            <a:r>
              <a:rPr lang="en-US" sz="2300" b="1" dirty="0">
                <a:solidFill>
                  <a:schemeClr val="bg1"/>
                </a:solidFill>
              </a:rPr>
              <a:t>eliminare</a:t>
            </a:r>
            <a:r>
              <a:rPr lang="en-US" sz="2300" dirty="0">
                <a:solidFill>
                  <a:schemeClr val="bg2"/>
                </a:solidFill>
              </a:rPr>
              <a:t> le </a:t>
            </a:r>
            <a:r>
              <a:rPr lang="en-US" sz="2300" b="1" dirty="0">
                <a:solidFill>
                  <a:schemeClr val="bg1"/>
                </a:solidFill>
              </a:rPr>
              <a:t>ridondanze</a:t>
            </a:r>
            <a:endParaRPr lang="en-US" sz="23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Tale ristrutturazione deve avvenire rispettando </a:t>
            </a:r>
            <a:r>
              <a:rPr lang="en-US" sz="2300" b="1" dirty="0">
                <a:solidFill>
                  <a:schemeClr val="bg1"/>
                </a:solidFill>
              </a:rPr>
              <a:t>due criteri</a:t>
            </a:r>
            <a:r>
              <a:rPr lang="en-US" sz="2300" dirty="0">
                <a:solidFill>
                  <a:schemeClr val="bg2"/>
                </a:solidFill>
              </a:rPr>
              <a:t>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conservazione</a:t>
            </a:r>
            <a:r>
              <a:rPr lang="en-US" sz="2300" dirty="0">
                <a:solidFill>
                  <a:schemeClr val="bg2"/>
                </a:solidFill>
              </a:rPr>
              <a:t> delle </a:t>
            </a:r>
            <a:r>
              <a:rPr lang="en-US" sz="2300" b="1" dirty="0">
                <a:solidFill>
                  <a:schemeClr val="bg1"/>
                </a:solidFill>
              </a:rPr>
              <a:t>dipendenze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mantenimento dei vincoli di integrità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assenza</a:t>
            </a:r>
            <a:r>
              <a:rPr lang="en-US" sz="2300" dirty="0">
                <a:solidFill>
                  <a:schemeClr val="bg2"/>
                </a:solidFill>
              </a:rPr>
              <a:t> di </a:t>
            </a:r>
            <a:r>
              <a:rPr lang="en-US" sz="2300" b="1" dirty="0">
                <a:solidFill>
                  <a:schemeClr val="bg1"/>
                </a:solidFill>
              </a:rPr>
              <a:t>perdite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devo poter ricostruire tutte le informazioni originarie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7299655" y="2423795"/>
            <a:ext cx="4206240" cy="3047238"/>
          </a:xfrm>
          <a:prstGeom prst="roundRect">
            <a:avLst>
              <a:gd name="adj" fmla="val 4201"/>
            </a:avLst>
          </a:prstGeom>
          <a:solidFill>
            <a:schemeClr val="tx2"/>
          </a:solidFill>
          <a:ln w="15875">
            <a:solidFill>
              <a:schemeClr val="accent4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b="1" dirty="0">
                <a:solidFill>
                  <a:schemeClr val="accent4"/>
                </a:solidFill>
              </a:rPr>
              <a:t>Non</a:t>
            </a:r>
            <a:r>
              <a:rPr lang="en-US" sz="2300" dirty="0">
                <a:solidFill>
                  <a:schemeClr val="bg1"/>
                </a:solidFill>
              </a:rPr>
              <a:t> rispettare le forme normali significa andare incontro a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accent4"/>
                </a:solidFill>
              </a:rPr>
              <a:t>ridondanze</a:t>
            </a:r>
            <a:r>
              <a:rPr lang="en-US" sz="2300" dirty="0">
                <a:solidFill>
                  <a:schemeClr val="bg1"/>
                </a:solidFill>
              </a:rPr>
              <a:t> che causano </a:t>
            </a:r>
            <a:r>
              <a:rPr lang="en-US" sz="2300" b="1" dirty="0">
                <a:solidFill>
                  <a:schemeClr val="accent4"/>
                </a:solidFill>
              </a:rPr>
              <a:t>anomalie</a:t>
            </a:r>
            <a:r>
              <a:rPr lang="en-US" sz="2300" dirty="0">
                <a:solidFill>
                  <a:schemeClr val="bg1"/>
                </a:solidFill>
              </a:rPr>
              <a:t> nell’utilizzo del DB!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accent4"/>
                </a:solidFill>
              </a:rPr>
              <a:t>dimensioni</a:t>
            </a:r>
            <a:r>
              <a:rPr lang="en-US" sz="2300" dirty="0">
                <a:solidFill>
                  <a:schemeClr val="bg1"/>
                </a:solidFill>
              </a:rPr>
              <a:t> e </a:t>
            </a:r>
            <a:r>
              <a:rPr lang="en-US" sz="2300" b="1" dirty="0">
                <a:solidFill>
                  <a:schemeClr val="accent4"/>
                </a:solidFill>
              </a:rPr>
              <a:t>velocità</a:t>
            </a:r>
            <a:r>
              <a:rPr lang="en-US" sz="2300" dirty="0">
                <a:solidFill>
                  <a:schemeClr val="bg1"/>
                </a:solidFill>
              </a:rPr>
              <a:t> di accesso </a:t>
            </a:r>
            <a:r>
              <a:rPr lang="en-US" sz="2300" b="1" dirty="0">
                <a:solidFill>
                  <a:schemeClr val="accent4"/>
                </a:solidFill>
              </a:rPr>
              <a:t>poco ottimizzati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Esempio relazione non normalizzata e anomalie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16105" y="1783080"/>
            <a:ext cx="9759485" cy="3059938"/>
          </a:xfrm>
          <a:prstGeom prst="roundRect">
            <a:avLst>
              <a:gd name="adj" fmla="val 418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Relazione non normalizzata: Cognome, Nome, Funzione, Stipendio, Scuo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33" y="1892808"/>
            <a:ext cx="9540029" cy="28404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5080762"/>
            <a:ext cx="10820095" cy="127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Problemi: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ridondanze</a:t>
            </a:r>
            <a:r>
              <a:rPr lang="en-US" sz="2300" dirty="0">
                <a:solidFill>
                  <a:schemeClr val="bg2"/>
                </a:solidFill>
              </a:rPr>
              <a:t> (valori ripetuti inutilmente tante volte)...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…che </a:t>
            </a:r>
            <a:r>
              <a:rPr lang="en-US" sz="2300" b="1" dirty="0">
                <a:solidFill>
                  <a:schemeClr val="bg1"/>
                </a:solidFill>
              </a:rPr>
              <a:t>causano anomalie</a:t>
            </a:r>
            <a:r>
              <a:rPr lang="en-US" sz="2300" dirty="0">
                <a:solidFill>
                  <a:schemeClr val="bg2"/>
                </a:solidFill>
              </a:rPr>
              <a:t> di modifica, cancellazione, inserimento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Esempio relazione non normalizzata e anomalie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716918" y="1783080"/>
            <a:ext cx="4757859" cy="1570736"/>
          </a:xfrm>
          <a:prstGeom prst="roundRect">
            <a:avLst>
              <a:gd name="adj" fmla="val 8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Relazione non normalizzata: Cognome, Nome, Funzione, Stipendio, Scuo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6646" y="1892808"/>
            <a:ext cx="4538403" cy="1351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3591560"/>
            <a:ext cx="10820095" cy="276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b="1" dirty="0">
                <a:solidFill>
                  <a:schemeClr val="bg1"/>
                </a:solidFill>
              </a:rPr>
              <a:t>Anomalie</a:t>
            </a:r>
            <a:r>
              <a:rPr lang="en-US" sz="2300" dirty="0">
                <a:solidFill>
                  <a:schemeClr val="bg2"/>
                </a:solidFill>
              </a:rPr>
              <a:t> di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modifica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ad esempio, se uno stipendio cambia lo devo modificare in tutte le tuple!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cancellazione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ad esempio, se un dipendente resta senza scuola deve essere cancellato!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inserimento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ad esempio, un nuovo dipendente non assegnato ad una scuola non può essere inserito!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1° Forma Normale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5736031" cy="2193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Un DB è in 1NF se per </a:t>
            </a:r>
            <a:r>
              <a:rPr lang="en-US" sz="1800" b="1" dirty="0">
                <a:solidFill>
                  <a:schemeClr val="bg1"/>
                </a:solidFill>
              </a:rPr>
              <a:t>ogni relazione</a:t>
            </a:r>
            <a:r>
              <a:rPr lang="en-US" sz="1800" dirty="0">
                <a:solidFill>
                  <a:schemeClr val="bg2"/>
                </a:solidFill>
              </a:rPr>
              <a:t> valgono le seguenti </a:t>
            </a:r>
            <a:r>
              <a:rPr lang="en-US" sz="1800" b="1" dirty="0">
                <a:solidFill>
                  <a:schemeClr val="bg1"/>
                </a:solidFill>
              </a:rPr>
              <a:t>regole</a:t>
            </a:r>
            <a:r>
              <a:rPr lang="en-US" sz="1800" dirty="0">
                <a:solidFill>
                  <a:schemeClr val="bg2"/>
                </a:solidFill>
              </a:rPr>
              <a:t>:</a:t>
            </a:r>
            <a:endParaRPr lang="en-US" sz="18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chemeClr val="bg1"/>
                </a:solidFill>
              </a:rPr>
              <a:t>esistenza</a:t>
            </a:r>
            <a:r>
              <a:rPr lang="en-US" sz="1800" dirty="0">
                <a:solidFill>
                  <a:schemeClr val="bg2"/>
                </a:solidFill>
              </a:rPr>
              <a:t> della </a:t>
            </a:r>
            <a:r>
              <a:rPr lang="en-US" sz="1800" b="1" dirty="0">
                <a:solidFill>
                  <a:schemeClr val="bg1"/>
                </a:solidFill>
              </a:rPr>
              <a:t>chiave</a:t>
            </a:r>
            <a:r>
              <a:rPr lang="en-US" sz="1800" dirty="0">
                <a:solidFill>
                  <a:schemeClr val="bg2"/>
                </a:solidFill>
              </a:rPr>
              <a:t> primaria</a:t>
            </a:r>
            <a:endParaRPr lang="en-US" sz="18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50" dirty="0">
                <a:solidFill>
                  <a:schemeClr val="bg2"/>
                </a:solidFill>
              </a:rPr>
              <a:t>insieme di attributi che identifica univocamente ogni tupla</a:t>
            </a:r>
            <a:endParaRPr lang="en-US" sz="18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chemeClr val="bg1"/>
                </a:solidFill>
              </a:rPr>
              <a:t>atomicità</a:t>
            </a:r>
            <a:r>
              <a:rPr lang="en-US" sz="1800" dirty="0">
                <a:solidFill>
                  <a:schemeClr val="bg2"/>
                </a:solidFill>
              </a:rPr>
              <a:t> degli </a:t>
            </a:r>
            <a:r>
              <a:rPr lang="en-US" sz="1800" b="1" dirty="0">
                <a:solidFill>
                  <a:schemeClr val="bg1"/>
                </a:solidFill>
              </a:rPr>
              <a:t>attributi</a:t>
            </a:r>
            <a:endParaRPr lang="en-US" sz="18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50" dirty="0">
                <a:solidFill>
                  <a:schemeClr val="bg2"/>
                </a:solidFill>
              </a:rPr>
              <a:t>il dominio di ciascun elemento delle tuple ha valori atomici</a:t>
            </a:r>
            <a:endParaRPr lang="en-US" sz="18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50" dirty="0">
                <a:solidFill>
                  <a:schemeClr val="bg2"/>
                </a:solidFill>
              </a:rPr>
              <a:t>no attributi “composti” (esempio classico: indirizzo)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002909" y="4214495"/>
            <a:ext cx="3101813" cy="1162961"/>
          </a:xfrm>
          <a:prstGeom prst="roundRect">
            <a:avLst>
              <a:gd name="adj" fmla="val 110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Tabella Students: FirstName, LastName, Knowled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637" y="4324223"/>
            <a:ext cx="2882357" cy="9435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751015" y="1783080"/>
            <a:ext cx="4754880" cy="2780030"/>
          </a:xfrm>
          <a:prstGeom prst="roundRect">
            <a:avLst>
              <a:gd name="adj" fmla="val 4605"/>
            </a:avLst>
          </a:prstGeom>
          <a:solidFill>
            <a:schemeClr val="tx2"/>
          </a:solidFill>
          <a:ln w="15875">
            <a:solidFill>
              <a:schemeClr val="accent4"/>
            </a:solidFill>
          </a:ln>
        </p:spPr>
        <p:txBody>
          <a:bodyPr wrap="square" lIns="177800" tIns="177800" rIns="177800" bIns="177800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Qual è la </a:t>
            </a:r>
            <a:r>
              <a:rPr lang="en-US" sz="1800" b="1" dirty="0">
                <a:solidFill>
                  <a:schemeClr val="accent4"/>
                </a:solidFill>
              </a:rPr>
              <a:t>PK</a:t>
            </a:r>
            <a:r>
              <a:rPr lang="en-US" sz="1800" dirty="0">
                <a:solidFill>
                  <a:schemeClr val="bg1"/>
                </a:solidFill>
              </a:rPr>
              <a:t>?</a:t>
            </a:r>
            <a:endParaRPr lang="en-US" sz="18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50" dirty="0">
                <a:solidFill>
                  <a:schemeClr val="bg1"/>
                </a:solidFill>
              </a:rPr>
              <a:t>usare </a:t>
            </a:r>
            <a:r>
              <a:rPr lang="en-US" sz="1550" b="1" dirty="0">
                <a:solidFill>
                  <a:schemeClr val="accent4"/>
                </a:solidFill>
              </a:rPr>
              <a:t>attributi</a:t>
            </a:r>
            <a:r>
              <a:rPr lang="en-US" sz="1550" dirty="0">
                <a:solidFill>
                  <a:schemeClr val="bg1"/>
                </a:solidFill>
              </a:rPr>
              <a:t> già </a:t>
            </a:r>
            <a:r>
              <a:rPr lang="en-US" sz="1550" b="1" dirty="0">
                <a:solidFill>
                  <a:schemeClr val="accent4"/>
                </a:solidFill>
              </a:rPr>
              <a:t>presenti</a:t>
            </a:r>
            <a:endParaRPr lang="en-US" sz="18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50" dirty="0">
                <a:solidFill>
                  <a:schemeClr val="bg1"/>
                </a:solidFill>
              </a:rPr>
              <a:t>introdurre </a:t>
            </a:r>
            <a:r>
              <a:rPr lang="en-US" sz="1550" b="1" dirty="0">
                <a:solidFill>
                  <a:schemeClr val="accent4"/>
                </a:solidFill>
              </a:rPr>
              <a:t>chiave artificiale</a:t>
            </a:r>
            <a:endParaRPr lang="en-US" sz="18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L’attributo “Knowledge” non è </a:t>
            </a:r>
            <a:r>
              <a:rPr lang="en-US" sz="1800" b="1" dirty="0">
                <a:solidFill>
                  <a:schemeClr val="accent4"/>
                </a:solidFill>
              </a:rPr>
              <a:t>atomico</a:t>
            </a:r>
            <a:r>
              <a:rPr lang="en-US" sz="1800" dirty="0">
                <a:solidFill>
                  <a:schemeClr val="bg1"/>
                </a:solidFill>
              </a:rPr>
              <a:t>!</a:t>
            </a:r>
            <a:endParaRPr lang="en-US" sz="18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50" b="1" dirty="0">
                <a:solidFill>
                  <a:schemeClr val="accent4"/>
                </a:solidFill>
              </a:rPr>
              <a:t>accorpare</a:t>
            </a:r>
            <a:r>
              <a:rPr lang="en-US" sz="1550" dirty="0">
                <a:solidFill>
                  <a:schemeClr val="bg1"/>
                </a:solidFill>
              </a:rPr>
              <a:t> tutto in una </a:t>
            </a:r>
            <a:r>
              <a:rPr lang="en-US" sz="1550" b="1" dirty="0">
                <a:solidFill>
                  <a:schemeClr val="accent4"/>
                </a:solidFill>
              </a:rPr>
              <a:t>stringa</a:t>
            </a:r>
            <a:endParaRPr lang="en-US" sz="18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50" b="1" dirty="0">
                <a:solidFill>
                  <a:schemeClr val="accent4"/>
                </a:solidFill>
              </a:rPr>
              <a:t>creare</a:t>
            </a:r>
            <a:r>
              <a:rPr lang="en-US" sz="1550" dirty="0">
                <a:solidFill>
                  <a:schemeClr val="bg1"/>
                </a:solidFill>
              </a:rPr>
              <a:t> una </a:t>
            </a:r>
            <a:r>
              <a:rPr lang="en-US" sz="1550" b="1" dirty="0">
                <a:solidFill>
                  <a:schemeClr val="accent4"/>
                </a:solidFill>
              </a:rPr>
              <a:t>tupla</a:t>
            </a:r>
            <a:r>
              <a:rPr lang="en-US" sz="1550" dirty="0">
                <a:solidFill>
                  <a:schemeClr val="bg1"/>
                </a:solidFill>
              </a:rPr>
              <a:t> per ogni </a:t>
            </a:r>
            <a:r>
              <a:rPr lang="en-US" sz="1550" b="1" dirty="0">
                <a:solidFill>
                  <a:schemeClr val="accent4"/>
                </a:solidFill>
              </a:rPr>
              <a:t>valore</a:t>
            </a:r>
            <a:endParaRPr lang="en-US" sz="18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50" b="1" dirty="0">
                <a:solidFill>
                  <a:schemeClr val="accent4"/>
                </a:solidFill>
              </a:rPr>
              <a:t>creare</a:t>
            </a:r>
            <a:r>
              <a:rPr lang="en-US" sz="1550" dirty="0">
                <a:solidFill>
                  <a:schemeClr val="bg1"/>
                </a:solidFill>
              </a:rPr>
              <a:t> un </a:t>
            </a:r>
            <a:r>
              <a:rPr lang="en-US" sz="1550" b="1" dirty="0">
                <a:solidFill>
                  <a:schemeClr val="accent4"/>
                </a:solidFill>
              </a:rPr>
              <a:t>attributo</a:t>
            </a:r>
            <a:r>
              <a:rPr lang="en-US" sz="1550" dirty="0">
                <a:solidFill>
                  <a:schemeClr val="bg1"/>
                </a:solidFill>
              </a:rPr>
              <a:t> per ogni </a:t>
            </a:r>
            <a:r>
              <a:rPr lang="en-US" sz="1550" b="1" dirty="0">
                <a:solidFill>
                  <a:schemeClr val="accent4"/>
                </a:solidFill>
              </a:rPr>
              <a:t>valore</a:t>
            </a:r>
            <a:endParaRPr lang="en-US" sz="18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50" b="1" dirty="0">
                <a:solidFill>
                  <a:schemeClr val="accent4"/>
                </a:solidFill>
              </a:rPr>
              <a:t>creare</a:t>
            </a:r>
            <a:r>
              <a:rPr lang="en-US" sz="1550" dirty="0">
                <a:solidFill>
                  <a:schemeClr val="bg1"/>
                </a:solidFill>
              </a:rPr>
              <a:t> una </a:t>
            </a:r>
            <a:r>
              <a:rPr lang="en-US" sz="1550" b="1" dirty="0">
                <a:solidFill>
                  <a:schemeClr val="accent4"/>
                </a:solidFill>
              </a:rPr>
              <a:t>relazione</a:t>
            </a:r>
            <a:r>
              <a:rPr lang="en-US" sz="1550" dirty="0">
                <a:solidFill>
                  <a:schemeClr val="bg1"/>
                </a:solidFill>
              </a:rPr>
              <a:t> apposita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94554" y="5615200"/>
            <a:ext cx="5602588" cy="739880"/>
          </a:xfrm>
          <a:prstGeom prst="roundRect">
            <a:avLst>
              <a:gd name="adj" fmla="val 173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Tabella con Codice Fiscale, Cognome, Nome, Residenza (attributo composto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282" y="5724928"/>
            <a:ext cx="5383132" cy="52042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Dipendenza Funzionale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1522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bg2"/>
                </a:solidFill>
              </a:rPr>
              <a:t>Dati due </a:t>
            </a:r>
            <a:r>
              <a:rPr lang="en-US" sz="2200" b="1" dirty="0">
                <a:solidFill>
                  <a:schemeClr val="bg1"/>
                </a:solidFill>
              </a:rPr>
              <a:t>attributi X</a:t>
            </a:r>
            <a:r>
              <a:rPr lang="en-US" sz="2200" dirty="0">
                <a:solidFill>
                  <a:schemeClr val="bg2"/>
                </a:solidFill>
              </a:rPr>
              <a:t> e </a:t>
            </a:r>
            <a:r>
              <a:rPr lang="en-US" sz="2200" b="1" dirty="0">
                <a:solidFill>
                  <a:schemeClr val="bg1"/>
                </a:solidFill>
              </a:rPr>
              <a:t>Y</a:t>
            </a:r>
            <a:r>
              <a:rPr lang="en-US" sz="2200" dirty="0">
                <a:solidFill>
                  <a:schemeClr val="bg2"/>
                </a:solidFill>
              </a:rPr>
              <a:t> di una </a:t>
            </a:r>
            <a:r>
              <a:rPr lang="en-US" sz="2200" b="1" dirty="0">
                <a:solidFill>
                  <a:schemeClr val="bg1"/>
                </a:solidFill>
              </a:rPr>
              <a:t>relazione R</a:t>
            </a:r>
            <a:r>
              <a:rPr lang="en-US" sz="2200" dirty="0">
                <a:solidFill>
                  <a:schemeClr val="bg2"/>
                </a:solidFill>
              </a:rPr>
              <a:t>:</a:t>
            </a:r>
            <a:endParaRPr lang="en-US" sz="2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bg2"/>
                </a:solidFill>
              </a:rPr>
              <a:t>si dice che </a:t>
            </a:r>
            <a:r>
              <a:rPr lang="en-US" sz="2200" b="1" dirty="0">
                <a:solidFill>
                  <a:schemeClr val="bg1"/>
                </a:solidFill>
              </a:rPr>
              <a:t>Y dipende funzionalmente</a:t>
            </a:r>
            <a:r>
              <a:rPr lang="en-US" sz="2200" dirty="0">
                <a:solidFill>
                  <a:schemeClr val="bg2"/>
                </a:solidFill>
              </a:rPr>
              <a:t> da </a:t>
            </a:r>
            <a:r>
              <a:rPr lang="en-US" sz="2200" b="1" dirty="0">
                <a:solidFill>
                  <a:schemeClr val="bg1"/>
                </a:solidFill>
              </a:rPr>
              <a:t>X</a:t>
            </a:r>
            <a:r>
              <a:rPr lang="en-US" sz="2200" dirty="0">
                <a:solidFill>
                  <a:schemeClr val="bg2"/>
                </a:solidFill>
              </a:rPr>
              <a:t> se </a:t>
            </a:r>
            <a:r>
              <a:rPr lang="en-US" sz="2200" b="1" dirty="0">
                <a:solidFill>
                  <a:schemeClr val="bg1"/>
                </a:solidFill>
              </a:rPr>
              <a:t>ogni valore</a:t>
            </a:r>
            <a:r>
              <a:rPr lang="en-US" sz="2200" dirty="0">
                <a:solidFill>
                  <a:schemeClr val="bg2"/>
                </a:solidFill>
              </a:rPr>
              <a:t> di </a:t>
            </a:r>
            <a:r>
              <a:rPr lang="en-US" sz="2200" b="1" dirty="0">
                <a:solidFill>
                  <a:schemeClr val="bg1"/>
                </a:solidFill>
              </a:rPr>
              <a:t>X</a:t>
            </a:r>
            <a:r>
              <a:rPr lang="en-US" sz="2200" dirty="0">
                <a:solidFill>
                  <a:schemeClr val="bg2"/>
                </a:solidFill>
              </a:rPr>
              <a:t> in R viene </a:t>
            </a:r>
            <a:r>
              <a:rPr lang="en-US" sz="2200" b="1" dirty="0">
                <a:solidFill>
                  <a:schemeClr val="bg1"/>
                </a:solidFill>
              </a:rPr>
              <a:t>associato</a:t>
            </a:r>
            <a:r>
              <a:rPr lang="en-US" sz="2200" dirty="0">
                <a:solidFill>
                  <a:schemeClr val="bg2"/>
                </a:solidFill>
              </a:rPr>
              <a:t> con </a:t>
            </a:r>
            <a:r>
              <a:rPr lang="en-US" sz="2200" b="1" dirty="0">
                <a:solidFill>
                  <a:schemeClr val="bg1"/>
                </a:solidFill>
              </a:rPr>
              <a:t>un solo valore</a:t>
            </a:r>
            <a:r>
              <a:rPr lang="en-US" sz="2200" dirty="0">
                <a:solidFill>
                  <a:schemeClr val="bg2"/>
                </a:solidFill>
              </a:rPr>
              <a:t> di </a:t>
            </a:r>
            <a:r>
              <a:rPr lang="en-US" sz="2200" b="1" dirty="0">
                <a:solidFill>
                  <a:schemeClr val="bg1"/>
                </a:solidFill>
              </a:rPr>
              <a:t>Y.</a:t>
            </a:r>
            <a:endParaRPr lang="en-US" sz="22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900" dirty="0">
                <a:solidFill>
                  <a:schemeClr val="bg2"/>
                </a:solidFill>
              </a:rPr>
              <a:t>in questo caso, X si dice </a:t>
            </a:r>
            <a:r>
              <a:rPr lang="en-US" sz="1900" b="1" dirty="0">
                <a:solidFill>
                  <a:schemeClr val="bg1"/>
                </a:solidFill>
              </a:rPr>
              <a:t>determinante</a:t>
            </a:r>
            <a:r>
              <a:rPr lang="en-US" sz="1900" dirty="0">
                <a:solidFill>
                  <a:schemeClr val="bg2"/>
                </a:solidFill>
              </a:rPr>
              <a:t> per Y.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690261" y="3543046"/>
            <a:ext cx="6811173" cy="1782318"/>
          </a:xfrm>
          <a:prstGeom prst="roundRect">
            <a:avLst>
              <a:gd name="adj" fmla="val 71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Relazione Anagrafiche: ID_Anag, Cognome, Nome, Indirizzo, Località, CAP, Telefo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9989" y="3652774"/>
            <a:ext cx="6591717" cy="15628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5563108"/>
            <a:ext cx="10820095" cy="791972"/>
          </a:xfrm>
          <a:prstGeom prst="roundRect">
            <a:avLst>
              <a:gd name="adj" fmla="val 16164"/>
            </a:avLst>
          </a:prstGeom>
          <a:solidFill>
            <a:schemeClr val="tx2"/>
          </a:solidFill>
          <a:ln w="15875">
            <a:solidFill>
              <a:schemeClr val="accent4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Quali sono le </a:t>
            </a:r>
            <a:r>
              <a:rPr lang="en-US" sz="2200" b="1" dirty="0">
                <a:solidFill>
                  <a:schemeClr val="accent4"/>
                </a:solidFill>
              </a:rPr>
              <a:t>dipendenze funzionali</a:t>
            </a:r>
            <a:r>
              <a:rPr lang="en-US" sz="2200" dirty="0">
                <a:solidFill>
                  <a:schemeClr val="bg1"/>
                </a:solidFill>
              </a:rPr>
              <a:t> in questa relazione (anagrafiche)?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Dipendenza Funzionale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130866" y="1783080"/>
            <a:ext cx="6308939" cy="1663241"/>
          </a:xfrm>
          <a:prstGeom prst="roundRect">
            <a:avLst>
              <a:gd name="adj" fmla="val 76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Relazione Anagrafich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594" y="1892808"/>
            <a:ext cx="6089483" cy="144378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14055" y="1783080"/>
            <a:ext cx="3291840" cy="1690624"/>
          </a:xfrm>
          <a:prstGeom prst="roundRect">
            <a:avLst>
              <a:gd name="adj" fmla="val 7572"/>
            </a:avLst>
          </a:prstGeom>
          <a:solidFill>
            <a:schemeClr val="tx2"/>
          </a:solidFill>
          <a:ln w="15875">
            <a:solidFill>
              <a:schemeClr val="accent4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Se uno o più attributi sono </a:t>
            </a:r>
            <a:r>
              <a:rPr lang="en-US" sz="2000" b="1" dirty="0">
                <a:solidFill>
                  <a:schemeClr val="accent4"/>
                </a:solidFill>
              </a:rPr>
              <a:t>chiave</a:t>
            </a:r>
            <a:r>
              <a:rPr lang="en-US" sz="2000" dirty="0">
                <a:solidFill>
                  <a:schemeClr val="bg1"/>
                </a:solidFill>
              </a:rPr>
              <a:t>, tutti gli altri </a:t>
            </a:r>
            <a:r>
              <a:rPr lang="en-US" sz="2000" b="1" dirty="0">
                <a:solidFill>
                  <a:schemeClr val="accent4"/>
                </a:solidFill>
              </a:rPr>
              <a:t>dipendono funzionalmente</a:t>
            </a:r>
            <a:r>
              <a:rPr lang="en-US" sz="2000" dirty="0">
                <a:solidFill>
                  <a:schemeClr val="bg1"/>
                </a:solidFill>
              </a:rPr>
              <a:t> da esso/i!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684065"/>
            <a:ext cx="10820095" cy="113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Tutti gli attributi </a:t>
            </a:r>
            <a:r>
              <a:rPr lang="en-US" sz="2000" b="1" dirty="0">
                <a:solidFill>
                  <a:schemeClr val="bg1"/>
                </a:solidFill>
              </a:rPr>
              <a:t>dipendono funzionalmente</a:t>
            </a:r>
            <a:r>
              <a:rPr lang="en-US" sz="2000" dirty="0">
                <a:solidFill>
                  <a:schemeClr val="bg2"/>
                </a:solidFill>
              </a:rPr>
              <a:t> dalla </a:t>
            </a:r>
            <a:r>
              <a:rPr lang="en-US" sz="2000" b="1" dirty="0">
                <a:solidFill>
                  <a:schemeClr val="bg1"/>
                </a:solidFill>
              </a:rPr>
              <a:t>chiave</a:t>
            </a:r>
            <a:r>
              <a:rPr lang="en-US" sz="2000" dirty="0">
                <a:solidFill>
                  <a:schemeClr val="bg2"/>
                </a:solidFill>
              </a:rPr>
              <a:t>, ad </a:t>
            </a:r>
            <a:r>
              <a:rPr lang="en-US" sz="2000" b="1" dirty="0">
                <a:solidFill>
                  <a:schemeClr val="bg1"/>
                </a:solidFill>
              </a:rPr>
              <a:t>eccezione</a:t>
            </a:r>
            <a:r>
              <a:rPr lang="en-US" sz="2000" dirty="0">
                <a:solidFill>
                  <a:schemeClr val="bg2"/>
                </a:solidFill>
              </a:rPr>
              <a:t> del </a:t>
            </a:r>
            <a:r>
              <a:rPr lang="en-US" sz="2000" b="1" dirty="0">
                <a:solidFill>
                  <a:schemeClr val="bg1"/>
                </a:solidFill>
              </a:rPr>
              <a:t>CAP</a:t>
            </a:r>
            <a:r>
              <a:rPr lang="en-US" sz="2000" dirty="0">
                <a:solidFill>
                  <a:schemeClr val="bg2"/>
                </a:solidFill>
              </a:rPr>
              <a:t>!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“località” è </a:t>
            </a:r>
            <a:r>
              <a:rPr lang="en-US" sz="2000" b="1" dirty="0">
                <a:solidFill>
                  <a:schemeClr val="bg1"/>
                </a:solidFill>
              </a:rPr>
              <a:t>determinante</a:t>
            </a:r>
            <a:r>
              <a:rPr lang="en-US" sz="2000" dirty="0">
                <a:solidFill>
                  <a:schemeClr val="bg2"/>
                </a:solidFill>
              </a:rPr>
              <a:t> per “CAP”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ogni </a:t>
            </a:r>
            <a:r>
              <a:rPr lang="en-US" sz="2000" b="1" dirty="0">
                <a:solidFill>
                  <a:schemeClr val="bg1"/>
                </a:solidFill>
              </a:rPr>
              <a:t>valore</a:t>
            </a:r>
            <a:r>
              <a:rPr lang="en-US" sz="2000" dirty="0">
                <a:solidFill>
                  <a:schemeClr val="bg2"/>
                </a:solidFill>
              </a:rPr>
              <a:t> di “CAP” è associato ad </a:t>
            </a:r>
            <a:r>
              <a:rPr lang="en-US" sz="2000" b="1" dirty="0">
                <a:solidFill>
                  <a:schemeClr val="bg1"/>
                </a:solidFill>
              </a:rPr>
              <a:t>un solo valore</a:t>
            </a:r>
            <a:r>
              <a:rPr lang="en-US" sz="2000" dirty="0">
                <a:solidFill>
                  <a:schemeClr val="bg2"/>
                </a:solidFill>
              </a:rPr>
              <a:t> di “località”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148093" y="5056681"/>
            <a:ext cx="6274485" cy="1298399"/>
          </a:xfrm>
          <a:prstGeom prst="roundRect">
            <a:avLst>
              <a:gd name="adj" fmla="val 98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Anagrafiche (ID_Anag, Cognome, Nome, Indirizzo, Località, CAP, Telefono) con frecce delle dipendenz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821" y="5166409"/>
            <a:ext cx="6055029" cy="107894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14055" y="5132348"/>
            <a:ext cx="3291840" cy="1147064"/>
          </a:xfrm>
          <a:prstGeom prst="roundRect">
            <a:avLst>
              <a:gd name="adj" fmla="val 11160"/>
            </a:avLst>
          </a:prstGeom>
          <a:solidFill>
            <a:schemeClr val="tx2"/>
          </a:solidFill>
          <a:ln w="15875">
            <a:solidFill>
              <a:schemeClr val="accent4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Notazione: R.x → R.y</a:t>
            </a:r>
            <a:endParaRPr lang="en-US" sz="20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“y” dipende da “x”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Dipendenza Funzionale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1987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Possiamo quindi definire la normalizzazione come un processo di “</a:t>
            </a:r>
            <a:r>
              <a:rPr lang="en-US" sz="2300" b="1" dirty="0">
                <a:solidFill>
                  <a:schemeClr val="bg1"/>
                </a:solidFill>
              </a:rPr>
              <a:t>decomposizione</a:t>
            </a:r>
            <a:r>
              <a:rPr lang="en-US" sz="2300" dirty="0">
                <a:solidFill>
                  <a:schemeClr val="bg2"/>
                </a:solidFill>
              </a:rPr>
              <a:t>” di </a:t>
            </a:r>
            <a:r>
              <a:rPr lang="en-US" sz="2300" b="1" dirty="0">
                <a:solidFill>
                  <a:schemeClr val="bg1"/>
                </a:solidFill>
              </a:rPr>
              <a:t>relazioni grandi</a:t>
            </a:r>
            <a:r>
              <a:rPr lang="en-US" sz="2300" dirty="0">
                <a:solidFill>
                  <a:schemeClr val="bg2"/>
                </a:solidFill>
              </a:rPr>
              <a:t> in relazioni più </a:t>
            </a:r>
            <a:r>
              <a:rPr lang="en-US" sz="2300" b="1" dirty="0">
                <a:solidFill>
                  <a:schemeClr val="bg1"/>
                </a:solidFill>
              </a:rPr>
              <a:t>piccole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con </a:t>
            </a:r>
            <a:r>
              <a:rPr lang="en-US" sz="2300" b="1" dirty="0">
                <a:solidFill>
                  <a:schemeClr val="bg1"/>
                </a:solidFill>
              </a:rPr>
              <a:t>l’obiettivo</a:t>
            </a:r>
            <a:r>
              <a:rPr lang="en-US" sz="2300" dirty="0">
                <a:solidFill>
                  <a:schemeClr val="bg2"/>
                </a:solidFill>
              </a:rPr>
              <a:t> di </a:t>
            </a:r>
            <a:r>
              <a:rPr lang="en-US" sz="2300" b="1" dirty="0">
                <a:solidFill>
                  <a:schemeClr val="bg1"/>
                </a:solidFill>
              </a:rPr>
              <a:t>rimuovere</a:t>
            </a:r>
            <a:r>
              <a:rPr lang="en-US" sz="2300" dirty="0">
                <a:solidFill>
                  <a:schemeClr val="bg2"/>
                </a:solidFill>
              </a:rPr>
              <a:t> le </a:t>
            </a:r>
            <a:r>
              <a:rPr lang="en-US" sz="2300" b="1" dirty="0">
                <a:solidFill>
                  <a:schemeClr val="bg1"/>
                </a:solidFill>
              </a:rPr>
              <a:t>ridondanze</a:t>
            </a:r>
            <a:r>
              <a:rPr lang="en-US" sz="2300" dirty="0">
                <a:solidFill>
                  <a:schemeClr val="bg2"/>
                </a:solidFill>
              </a:rPr>
              <a:t> (eliminando le </a:t>
            </a:r>
            <a:r>
              <a:rPr lang="en-US" sz="2300" b="1" dirty="0">
                <a:solidFill>
                  <a:schemeClr val="bg1"/>
                </a:solidFill>
              </a:rPr>
              <a:t>anomalie</a:t>
            </a:r>
            <a:r>
              <a:rPr lang="en-US" sz="2300" dirty="0">
                <a:solidFill>
                  <a:schemeClr val="bg2"/>
                </a:solidFill>
              </a:rPr>
              <a:t>)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creando </a:t>
            </a:r>
            <a:r>
              <a:rPr lang="en-US" sz="2300" b="1" dirty="0">
                <a:solidFill>
                  <a:schemeClr val="bg1"/>
                </a:solidFill>
              </a:rPr>
              <a:t>relazioni</a:t>
            </a:r>
            <a:r>
              <a:rPr lang="en-US" sz="2300" dirty="0">
                <a:solidFill>
                  <a:schemeClr val="bg2"/>
                </a:solidFill>
              </a:rPr>
              <a:t> i cui </a:t>
            </a:r>
            <a:r>
              <a:rPr lang="en-US" sz="2300" b="1" dirty="0">
                <a:solidFill>
                  <a:schemeClr val="bg1"/>
                </a:solidFill>
              </a:rPr>
              <a:t>attributi non chiave</a:t>
            </a:r>
            <a:r>
              <a:rPr lang="en-US" sz="2300" dirty="0">
                <a:solidFill>
                  <a:schemeClr val="bg2"/>
                </a:solidFill>
              </a:rPr>
              <a:t> che </a:t>
            </a:r>
            <a:r>
              <a:rPr lang="en-US" sz="2300" b="1" dirty="0">
                <a:solidFill>
                  <a:schemeClr val="bg1"/>
                </a:solidFill>
              </a:rPr>
              <a:t>dipendono totalmente</a:t>
            </a:r>
            <a:r>
              <a:rPr lang="en-US" sz="2300" dirty="0">
                <a:solidFill>
                  <a:schemeClr val="bg2"/>
                </a:solidFill>
              </a:rPr>
              <a:t> ed </a:t>
            </a:r>
            <a:r>
              <a:rPr lang="en-US" sz="2300" b="1" dirty="0">
                <a:solidFill>
                  <a:schemeClr val="bg1"/>
                </a:solidFill>
              </a:rPr>
              <a:t>esclusivamente</a:t>
            </a:r>
            <a:r>
              <a:rPr lang="en-US" sz="2300" dirty="0">
                <a:solidFill>
                  <a:schemeClr val="bg2"/>
                </a:solidFill>
              </a:rPr>
              <a:t> dalla </a:t>
            </a:r>
            <a:r>
              <a:rPr lang="en-US" sz="2300" b="1" dirty="0">
                <a:solidFill>
                  <a:schemeClr val="bg1"/>
                </a:solidFill>
              </a:rPr>
              <a:t>chiave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007866"/>
            <a:ext cx="10820095" cy="807466"/>
          </a:xfrm>
          <a:prstGeom prst="roundRect">
            <a:avLst>
              <a:gd name="adj" fmla="val 15854"/>
            </a:avLst>
          </a:prstGeom>
          <a:solidFill>
            <a:schemeClr val="tx2"/>
          </a:solidFill>
          <a:ln w="15875">
            <a:solidFill>
              <a:schemeClr val="accent4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1"/>
                </a:solidFill>
              </a:rPr>
              <a:t>Quindi, come si può </a:t>
            </a:r>
            <a:r>
              <a:rPr lang="en-US" sz="2300" b="1" dirty="0">
                <a:solidFill>
                  <a:schemeClr val="accent4"/>
                </a:solidFill>
              </a:rPr>
              <a:t>decomporre</a:t>
            </a:r>
            <a:r>
              <a:rPr lang="en-US" sz="2300" dirty="0">
                <a:solidFill>
                  <a:schemeClr val="bg1"/>
                </a:solidFill>
              </a:rPr>
              <a:t> la tabella precedente?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053076"/>
            <a:ext cx="10820095" cy="841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eliminando</a:t>
            </a:r>
            <a:r>
              <a:rPr lang="en-US" sz="2300" dirty="0">
                <a:solidFill>
                  <a:schemeClr val="bg2"/>
                </a:solidFill>
              </a:rPr>
              <a:t> l’attributo CAP (o località)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creando</a:t>
            </a:r>
            <a:r>
              <a:rPr lang="en-US" sz="2300" dirty="0">
                <a:solidFill>
                  <a:schemeClr val="bg2"/>
                </a:solidFill>
              </a:rPr>
              <a:t> una </a:t>
            </a:r>
            <a:r>
              <a:rPr lang="en-US" sz="2300" b="1" dirty="0">
                <a:solidFill>
                  <a:schemeClr val="bg1"/>
                </a:solidFill>
              </a:rPr>
              <a:t>relazione</a:t>
            </a:r>
            <a:r>
              <a:rPr lang="en-US" sz="2300" dirty="0">
                <a:solidFill>
                  <a:schemeClr val="bg2"/>
                </a:solidFill>
              </a:rPr>
              <a:t> a parte che memorizzi CAP e località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2° Forma Normale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1332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Un DB è in 2NF se per </a:t>
            </a:r>
            <a:r>
              <a:rPr lang="en-US" sz="1800" b="1" dirty="0">
                <a:solidFill>
                  <a:schemeClr val="bg1"/>
                </a:solidFill>
              </a:rPr>
              <a:t>ogni relazione</a:t>
            </a:r>
            <a:r>
              <a:rPr lang="en-US" sz="1800" dirty="0">
                <a:solidFill>
                  <a:schemeClr val="bg2"/>
                </a:solidFill>
              </a:rPr>
              <a:t> valgono le seguenti </a:t>
            </a:r>
            <a:r>
              <a:rPr lang="en-US" sz="1800" b="1" dirty="0">
                <a:solidFill>
                  <a:schemeClr val="bg1"/>
                </a:solidFill>
              </a:rPr>
              <a:t>regole</a:t>
            </a:r>
            <a:r>
              <a:rPr lang="en-US" sz="1800" dirty="0">
                <a:solidFill>
                  <a:schemeClr val="bg2"/>
                </a:solidFill>
              </a:rPr>
              <a:t>:</a:t>
            </a:r>
            <a:endParaRPr lang="en-US" sz="18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vale già la </a:t>
            </a:r>
            <a:r>
              <a:rPr lang="en-US" sz="1800" b="1" dirty="0">
                <a:solidFill>
                  <a:schemeClr val="bg1"/>
                </a:solidFill>
              </a:rPr>
              <a:t>1NF</a:t>
            </a:r>
            <a:endParaRPr lang="en-US" sz="18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chemeClr val="bg1"/>
                </a:solidFill>
              </a:rPr>
              <a:t>tutti</a:t>
            </a:r>
            <a:r>
              <a:rPr lang="en-US" sz="1800" dirty="0">
                <a:solidFill>
                  <a:schemeClr val="bg2"/>
                </a:solidFill>
              </a:rPr>
              <a:t> gli </a:t>
            </a:r>
            <a:r>
              <a:rPr lang="en-US" sz="1800" b="1" dirty="0">
                <a:solidFill>
                  <a:schemeClr val="bg1"/>
                </a:solidFill>
              </a:rPr>
              <a:t>attributi non chiave</a:t>
            </a:r>
            <a:r>
              <a:rPr lang="en-US" sz="1800" dirty="0">
                <a:solidFill>
                  <a:schemeClr val="bg2"/>
                </a:solidFill>
              </a:rPr>
              <a:t> devono dipendere dall’insieme di </a:t>
            </a:r>
            <a:r>
              <a:rPr lang="en-US" sz="1800" b="1" dirty="0">
                <a:solidFill>
                  <a:schemeClr val="bg1"/>
                </a:solidFill>
              </a:rPr>
              <a:t>tutti</a:t>
            </a:r>
            <a:r>
              <a:rPr lang="en-US" sz="1800" dirty="0">
                <a:solidFill>
                  <a:schemeClr val="bg2"/>
                </a:solidFill>
              </a:rPr>
              <a:t> gli attributi </a:t>
            </a:r>
            <a:r>
              <a:rPr lang="en-US" sz="1800" b="1" dirty="0">
                <a:solidFill>
                  <a:schemeClr val="bg1"/>
                </a:solidFill>
              </a:rPr>
              <a:t>chiave</a:t>
            </a:r>
            <a:endParaRPr lang="en-US" sz="18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50" dirty="0">
                <a:solidFill>
                  <a:schemeClr val="bg2"/>
                </a:solidFill>
              </a:rPr>
              <a:t>non esistono dipendenze parziali dalla chiave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3271393"/>
            <a:ext cx="6400800" cy="2608848"/>
          </a:xfrm>
          <a:prstGeom prst="roundRect">
            <a:avLst>
              <a:gd name="adj" fmla="val 4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Tabella ID_Fornitore, Stato, Città, ID_Articolo, Qt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3381121"/>
            <a:ext cx="6181344" cy="23893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33488" y="3271393"/>
            <a:ext cx="4172407" cy="729996"/>
          </a:xfrm>
          <a:prstGeom prst="roundRect">
            <a:avLst>
              <a:gd name="adj" fmla="val 17537"/>
            </a:avLst>
          </a:prstGeom>
          <a:solidFill>
            <a:schemeClr val="tx2"/>
          </a:solidFill>
          <a:ln w="15875">
            <a:solidFill>
              <a:schemeClr val="accent4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PK: ID_Fornitore, ID_Articolo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33488" y="4156837"/>
            <a:ext cx="4172407" cy="382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Dipendenze Funzionali: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052665" y="4694809"/>
            <a:ext cx="2734052" cy="774827"/>
          </a:xfrm>
          <a:prstGeom prst="roundRect">
            <a:avLst>
              <a:gd name="adj" fmla="val 165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ID_Fornitore → Città, Stato; Città → Stato; (ID_Fornitore, ID_Articolo) → Q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2393" y="4804537"/>
            <a:ext cx="2514596" cy="55537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33488" y="5625084"/>
            <a:ext cx="4172407" cy="729996"/>
          </a:xfrm>
          <a:prstGeom prst="roundRect">
            <a:avLst>
              <a:gd name="adj" fmla="val 17537"/>
            </a:avLst>
          </a:prstGeom>
          <a:solidFill>
            <a:schemeClr val="tx2"/>
          </a:solidFill>
          <a:ln w="15875">
            <a:solidFill>
              <a:schemeClr val="accent4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2NF non rispettata!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2° Forma Normale (esempio 1)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5669280" cy="2642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bg2"/>
                </a:solidFill>
              </a:rPr>
              <a:t>Una volta identificati i </a:t>
            </a:r>
            <a:r>
              <a:rPr lang="en-US" sz="2200" b="1" dirty="0">
                <a:solidFill>
                  <a:schemeClr val="bg1"/>
                </a:solidFill>
              </a:rPr>
              <a:t>determinanti</a:t>
            </a:r>
            <a:r>
              <a:rPr lang="en-US" sz="2200" dirty="0">
                <a:solidFill>
                  <a:schemeClr val="bg2"/>
                </a:solidFill>
              </a:rPr>
              <a:t>, la relazione può essere </a:t>
            </a:r>
            <a:r>
              <a:rPr lang="en-US" sz="2200" b="1" dirty="0">
                <a:solidFill>
                  <a:schemeClr val="bg1"/>
                </a:solidFill>
              </a:rPr>
              <a:t>decomposta</a:t>
            </a:r>
            <a:r>
              <a:rPr lang="en-US" sz="2200" dirty="0">
                <a:solidFill>
                  <a:schemeClr val="bg2"/>
                </a:solidFill>
              </a:rPr>
              <a:t>:</a:t>
            </a:r>
            <a:endParaRPr lang="en-US" sz="2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bg2"/>
                </a:solidFill>
              </a:rPr>
              <a:t>creando una </a:t>
            </a:r>
            <a:r>
              <a:rPr lang="en-US" sz="2200" b="1" dirty="0">
                <a:solidFill>
                  <a:schemeClr val="bg1"/>
                </a:solidFill>
              </a:rPr>
              <a:t>nuova tabella</a:t>
            </a:r>
            <a:r>
              <a:rPr lang="en-US" sz="2200" dirty="0">
                <a:solidFill>
                  <a:schemeClr val="bg2"/>
                </a:solidFill>
              </a:rPr>
              <a:t> per ogni attributo </a:t>
            </a:r>
            <a:r>
              <a:rPr lang="en-US" sz="2200" b="1" dirty="0">
                <a:solidFill>
                  <a:schemeClr val="bg1"/>
                </a:solidFill>
              </a:rPr>
              <a:t>determinante</a:t>
            </a:r>
            <a:r>
              <a:rPr lang="en-US" sz="2200" dirty="0">
                <a:solidFill>
                  <a:schemeClr val="bg2"/>
                </a:solidFill>
              </a:rPr>
              <a:t> (sottoinsieme della PK)</a:t>
            </a:r>
            <a:endParaRPr lang="en-US" sz="2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200" b="1" dirty="0">
                <a:solidFill>
                  <a:schemeClr val="bg1"/>
                </a:solidFill>
              </a:rPr>
              <a:t>spostando</a:t>
            </a:r>
            <a:r>
              <a:rPr lang="en-US" sz="2200" dirty="0">
                <a:solidFill>
                  <a:schemeClr val="bg2"/>
                </a:solidFill>
              </a:rPr>
              <a:t> le </a:t>
            </a:r>
            <a:r>
              <a:rPr lang="en-US" sz="2200" b="1" dirty="0">
                <a:solidFill>
                  <a:schemeClr val="bg1"/>
                </a:solidFill>
              </a:rPr>
              <a:t>colonne</a:t>
            </a:r>
            <a:r>
              <a:rPr lang="en-US" sz="2200" dirty="0">
                <a:solidFill>
                  <a:schemeClr val="bg2"/>
                </a:solidFill>
              </a:rPr>
              <a:t> dipendenti da esso dalla relazione di partenza alla </a:t>
            </a:r>
            <a:r>
              <a:rPr lang="en-US" sz="2200" b="1" dirty="0">
                <a:solidFill>
                  <a:schemeClr val="bg1"/>
                </a:solidFill>
              </a:rPr>
              <a:t>nuova</a:t>
            </a:r>
            <a:endParaRPr lang="en-US" sz="2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bg2"/>
                </a:solidFill>
              </a:rPr>
              <a:t>eventuali </a:t>
            </a:r>
            <a:r>
              <a:rPr lang="en-US" sz="2200" b="1" dirty="0">
                <a:solidFill>
                  <a:schemeClr val="bg1"/>
                </a:solidFill>
              </a:rPr>
              <a:t>FK</a:t>
            </a:r>
            <a:r>
              <a:rPr lang="en-US" sz="2200" dirty="0">
                <a:solidFill>
                  <a:schemeClr val="bg2"/>
                </a:solidFill>
              </a:rPr>
              <a:t> si possono </a:t>
            </a:r>
            <a:r>
              <a:rPr lang="en-US" sz="2200" b="1" dirty="0">
                <a:solidFill>
                  <a:schemeClr val="bg1"/>
                </a:solidFill>
              </a:rPr>
              <a:t>mantenere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729084" y="4662932"/>
            <a:ext cx="3582711" cy="1692148"/>
          </a:xfrm>
          <a:prstGeom prst="roundRect">
            <a:avLst>
              <a:gd name="adj" fmla="val 75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Fornitori: ID_Fornitore(pk), Stato, Citt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8812" y="4772660"/>
            <a:ext cx="3363255" cy="14726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84264" y="1783080"/>
            <a:ext cx="4821631" cy="4122848"/>
          </a:xfrm>
          <a:prstGeom prst="roundRect">
            <a:avLst>
              <a:gd name="adj" fmla="val 31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Tabella 1: ID_Articolo(pk), ID_Fornitore(pk)(fk), Qtà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892808"/>
            <a:ext cx="4602175" cy="39033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2° Forma Normale (esempio 2)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85800" y="1783080"/>
            <a:ext cx="6400800" cy="1285828"/>
          </a:xfrm>
          <a:prstGeom prst="roundRect">
            <a:avLst>
              <a:gd name="adj" fmla="val 99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Tabella Matricola, Codice Materia, Alunno, Voto Mater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92808"/>
            <a:ext cx="6181344" cy="10663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415784" y="1783080"/>
            <a:ext cx="4090111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1NF</a:t>
            </a:r>
            <a:r>
              <a:rPr lang="en-US" sz="1800" dirty="0">
                <a:solidFill>
                  <a:schemeClr val="bg2"/>
                </a:solidFill>
              </a:rPr>
              <a:t> rispettata: la </a:t>
            </a:r>
            <a:r>
              <a:rPr lang="en-US" sz="1800" b="1" dirty="0">
                <a:solidFill>
                  <a:schemeClr val="bg1"/>
                </a:solidFill>
              </a:rPr>
              <a:t>PK esiste</a:t>
            </a:r>
            <a:r>
              <a:rPr lang="en-US" sz="1800" dirty="0">
                <a:solidFill>
                  <a:schemeClr val="bg2"/>
                </a:solidFill>
              </a:rPr>
              <a:t> (Matricola e Codice Materia) e attributi </a:t>
            </a:r>
            <a:r>
              <a:rPr lang="en-US" sz="1800" b="1" dirty="0">
                <a:solidFill>
                  <a:schemeClr val="bg1"/>
                </a:solidFill>
              </a:rPr>
              <a:t>atomici</a:t>
            </a:r>
            <a:r>
              <a:rPr lang="en-US" sz="1800" dirty="0">
                <a:solidFill>
                  <a:schemeClr val="bg2"/>
                </a:solidFill>
              </a:rPr>
              <a:t>.</a:t>
            </a:r>
            <a:endParaRPr lang="en-US" sz="18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2NF</a:t>
            </a:r>
            <a:r>
              <a:rPr lang="en-US" sz="1800" dirty="0">
                <a:solidFill>
                  <a:schemeClr val="bg2"/>
                </a:solidFill>
              </a:rPr>
              <a:t> non rispettata: </a:t>
            </a:r>
            <a:r>
              <a:rPr lang="en-US" sz="1800" b="1" dirty="0">
                <a:solidFill>
                  <a:schemeClr val="bg1"/>
                </a:solidFill>
              </a:rPr>
              <a:t>Alunno dipende</a:t>
            </a:r>
            <a:r>
              <a:rPr lang="en-US" sz="1800" dirty="0">
                <a:solidFill>
                  <a:schemeClr val="bg2"/>
                </a:solidFill>
              </a:rPr>
              <a:t> solo da </a:t>
            </a:r>
            <a:r>
              <a:rPr lang="en-US" sz="1800" b="1" dirty="0">
                <a:solidFill>
                  <a:schemeClr val="bg1"/>
                </a:solidFill>
              </a:rPr>
              <a:t>Matricola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348034"/>
            <a:ext cx="10820095" cy="382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Ristrutturando</a:t>
            </a:r>
            <a:r>
              <a:rPr lang="en-US" sz="1800" dirty="0">
                <a:solidFill>
                  <a:schemeClr val="bg2"/>
                </a:solidFill>
              </a:rPr>
              <a:t> la relazione di partenza: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97475" y="3968302"/>
            <a:ext cx="5977451" cy="1419038"/>
          </a:xfrm>
          <a:prstGeom prst="roundRect">
            <a:avLst>
              <a:gd name="adj" fmla="val 90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Tabella Matricola, Codice Materia, Voto Mater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203" y="4078030"/>
            <a:ext cx="5757995" cy="119958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415784" y="3982441"/>
            <a:ext cx="4090111" cy="1390760"/>
          </a:xfrm>
          <a:prstGeom prst="roundRect">
            <a:avLst>
              <a:gd name="adj" fmla="val 92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2" descr="Tabella Matricola, Alunn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4092169"/>
            <a:ext cx="3870655" cy="117130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85800" y="5625084"/>
            <a:ext cx="10820095" cy="729996"/>
          </a:xfrm>
          <a:prstGeom prst="roundRect">
            <a:avLst>
              <a:gd name="adj" fmla="val 17537"/>
            </a:avLst>
          </a:prstGeom>
          <a:solidFill>
            <a:schemeClr val="tx2"/>
          </a:solidFill>
          <a:ln w="15875">
            <a:solidFill>
              <a:schemeClr val="accent4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Osservazione: se ho PK composte da </a:t>
            </a:r>
            <a:r>
              <a:rPr lang="en-US" sz="1800" b="1" dirty="0">
                <a:solidFill>
                  <a:schemeClr val="accent4"/>
                </a:solidFill>
              </a:rPr>
              <a:t>un</a:t>
            </a:r>
            <a:r>
              <a:rPr lang="en-US" sz="1800" dirty="0">
                <a:solidFill>
                  <a:schemeClr val="bg1"/>
                </a:solidFill>
              </a:rPr>
              <a:t> solo </a:t>
            </a:r>
            <a:r>
              <a:rPr lang="en-US" sz="1800" b="1" dirty="0">
                <a:solidFill>
                  <a:schemeClr val="accent4"/>
                </a:solidFill>
              </a:rPr>
              <a:t>attributo</a:t>
            </a:r>
            <a:r>
              <a:rPr lang="en-US" sz="1800" dirty="0">
                <a:solidFill>
                  <a:schemeClr val="bg1"/>
                </a:solidFill>
              </a:rPr>
              <a:t>, la </a:t>
            </a:r>
            <a:r>
              <a:rPr lang="en-US" sz="1800" b="1" dirty="0">
                <a:solidFill>
                  <a:schemeClr val="accent4"/>
                </a:solidFill>
              </a:rPr>
              <a:t>2NF</a:t>
            </a:r>
            <a:r>
              <a:rPr lang="en-US" sz="1800" dirty="0">
                <a:solidFill>
                  <a:schemeClr val="bg1"/>
                </a:solidFill>
              </a:rPr>
              <a:t> è sempre </a:t>
            </a:r>
            <a:r>
              <a:rPr lang="en-US" sz="1800" b="1" dirty="0">
                <a:solidFill>
                  <a:schemeClr val="accent4"/>
                </a:solidFill>
              </a:rPr>
              <a:t>rispettata</a:t>
            </a:r>
            <a:r>
              <a:rPr lang="en-US" sz="1800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3° Forma Normale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6035040" cy="206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Un DB è in 3NF se per </a:t>
            </a:r>
            <a:r>
              <a:rPr lang="en-US" sz="2000" b="1" dirty="0">
                <a:solidFill>
                  <a:schemeClr val="bg1"/>
                </a:solidFill>
              </a:rPr>
              <a:t>ogni relazione</a:t>
            </a:r>
            <a:r>
              <a:rPr lang="en-US" sz="2000" dirty="0">
                <a:solidFill>
                  <a:schemeClr val="bg2"/>
                </a:solidFill>
              </a:rPr>
              <a:t> valgono le seguenti </a:t>
            </a:r>
            <a:r>
              <a:rPr lang="en-US" sz="2000" b="1" dirty="0">
                <a:solidFill>
                  <a:schemeClr val="bg1"/>
                </a:solidFill>
              </a:rPr>
              <a:t>regole</a:t>
            </a:r>
            <a:r>
              <a:rPr lang="en-US" sz="2000" dirty="0">
                <a:solidFill>
                  <a:schemeClr val="bg2"/>
                </a:solidFill>
              </a:rPr>
              <a:t>: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vale già la </a:t>
            </a:r>
            <a:r>
              <a:rPr lang="en-US" sz="2000" b="1" dirty="0">
                <a:solidFill>
                  <a:schemeClr val="bg1"/>
                </a:solidFill>
              </a:rPr>
              <a:t>2NF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gli attributi </a:t>
            </a:r>
            <a:r>
              <a:rPr lang="en-US" sz="2000" b="1" dirty="0">
                <a:solidFill>
                  <a:schemeClr val="bg1"/>
                </a:solidFill>
              </a:rPr>
              <a:t>non chiave</a:t>
            </a:r>
            <a:r>
              <a:rPr lang="en-US" sz="2000" dirty="0">
                <a:solidFill>
                  <a:schemeClr val="bg2"/>
                </a:solidFill>
              </a:rPr>
              <a:t> possono </a:t>
            </a:r>
            <a:r>
              <a:rPr lang="en-US" sz="2000" b="1" dirty="0">
                <a:solidFill>
                  <a:schemeClr val="bg1"/>
                </a:solidFill>
              </a:rPr>
              <a:t>dipendere</a:t>
            </a:r>
            <a:r>
              <a:rPr lang="en-US" sz="2000" dirty="0">
                <a:solidFill>
                  <a:schemeClr val="bg2"/>
                </a:solidFill>
              </a:rPr>
              <a:t> soltanto dalla </a:t>
            </a:r>
            <a:r>
              <a:rPr lang="en-US" sz="2000" b="1" dirty="0">
                <a:solidFill>
                  <a:schemeClr val="bg1"/>
                </a:solidFill>
              </a:rPr>
              <a:t>chiave</a:t>
            </a:r>
            <a:endParaRPr lang="en-US" sz="20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700" dirty="0">
                <a:solidFill>
                  <a:schemeClr val="bg2"/>
                </a:solidFill>
              </a:rPr>
              <a:t>non esistono dipendenze </a:t>
            </a:r>
            <a:r>
              <a:rPr lang="en-US" sz="1700" b="1" dirty="0">
                <a:solidFill>
                  <a:schemeClr val="bg1"/>
                </a:solidFill>
              </a:rPr>
              <a:t>transitive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089654"/>
            <a:ext cx="6035040" cy="1792224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15875">
            <a:solidFill>
              <a:schemeClr val="accent4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Anomalie: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non posso </a:t>
            </a:r>
            <a:r>
              <a:rPr lang="en-US" sz="2000" b="1" dirty="0">
                <a:solidFill>
                  <a:schemeClr val="accent4"/>
                </a:solidFill>
              </a:rPr>
              <a:t>inserire</a:t>
            </a:r>
            <a:r>
              <a:rPr lang="en-US" sz="2000" dirty="0">
                <a:solidFill>
                  <a:schemeClr val="bg1"/>
                </a:solidFill>
              </a:rPr>
              <a:t> una </a:t>
            </a:r>
            <a:r>
              <a:rPr lang="en-US" sz="2000" b="1" dirty="0">
                <a:solidFill>
                  <a:schemeClr val="accent4"/>
                </a:solidFill>
              </a:rPr>
              <a:t>città</a:t>
            </a:r>
            <a:r>
              <a:rPr lang="en-US" sz="2000" dirty="0">
                <a:solidFill>
                  <a:schemeClr val="bg1"/>
                </a:solidFill>
              </a:rPr>
              <a:t> finché non c’è un </a:t>
            </a:r>
            <a:r>
              <a:rPr lang="en-US" sz="2000" b="1" dirty="0">
                <a:solidFill>
                  <a:schemeClr val="accent4"/>
                </a:solidFill>
              </a:rPr>
              <a:t>fornitore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chemeClr val="accent4"/>
                </a:solidFill>
              </a:rPr>
              <a:t>cancellare</a:t>
            </a:r>
            <a:r>
              <a:rPr lang="en-US" sz="2000" dirty="0">
                <a:solidFill>
                  <a:schemeClr val="bg1"/>
                </a:solidFill>
              </a:rPr>
              <a:t> un </a:t>
            </a:r>
            <a:r>
              <a:rPr lang="en-US" sz="2000" b="1" dirty="0">
                <a:solidFill>
                  <a:schemeClr val="accent4"/>
                </a:solidFill>
              </a:rPr>
              <a:t>fornitore</a:t>
            </a:r>
            <a:r>
              <a:rPr lang="en-US" sz="2000" dirty="0">
                <a:solidFill>
                  <a:schemeClr val="bg1"/>
                </a:solidFill>
              </a:rPr>
              <a:t> cancella anche la </a:t>
            </a:r>
            <a:r>
              <a:rPr lang="en-US" sz="2000" b="1" dirty="0">
                <a:solidFill>
                  <a:schemeClr val="accent4"/>
                </a:solidFill>
              </a:rPr>
              <a:t>città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53508" y="1783080"/>
            <a:ext cx="3248904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Tabella 1: ID_Articolo(pk), ID_Fornitore(pk)(fk), Qt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3236" y="1892808"/>
            <a:ext cx="3029448" cy="25694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96010" y="4809744"/>
            <a:ext cx="316390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Fornitori: ID_Fornitore(pk), Stato, Città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5738" y="4919472"/>
            <a:ext cx="2944444" cy="12893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3° Forma Normale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6035040" cy="228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“Tabella 1” </a:t>
            </a:r>
            <a:r>
              <a:rPr lang="en-US" sz="2300" b="1" dirty="0">
                <a:solidFill>
                  <a:schemeClr val="bg1"/>
                </a:solidFill>
              </a:rPr>
              <a:t>è</a:t>
            </a:r>
            <a:r>
              <a:rPr lang="en-US" sz="2300" dirty="0">
                <a:solidFill>
                  <a:schemeClr val="bg2"/>
                </a:solidFill>
              </a:rPr>
              <a:t> in </a:t>
            </a:r>
            <a:r>
              <a:rPr lang="en-US" sz="2300" b="1" dirty="0">
                <a:solidFill>
                  <a:schemeClr val="bg1"/>
                </a:solidFill>
              </a:rPr>
              <a:t>3NF</a:t>
            </a:r>
            <a:r>
              <a:rPr lang="en-US" sz="2300" dirty="0">
                <a:solidFill>
                  <a:schemeClr val="bg2"/>
                </a:solidFill>
              </a:rPr>
              <a:t> (qtà ha dipendenza diretta e totale dalla PK)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“Fornitori” </a:t>
            </a:r>
            <a:r>
              <a:rPr lang="en-US" sz="2300" b="1" dirty="0">
                <a:solidFill>
                  <a:schemeClr val="bg1"/>
                </a:solidFill>
              </a:rPr>
              <a:t>non</a:t>
            </a:r>
            <a:r>
              <a:rPr lang="en-US" sz="2300" dirty="0">
                <a:solidFill>
                  <a:schemeClr val="bg2"/>
                </a:solidFill>
              </a:rPr>
              <a:t> è in </a:t>
            </a:r>
            <a:r>
              <a:rPr lang="en-US" sz="2300" b="1" dirty="0">
                <a:solidFill>
                  <a:schemeClr val="bg1"/>
                </a:solidFill>
              </a:rPr>
              <a:t>3NF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“</a:t>
            </a:r>
            <a:r>
              <a:rPr lang="en-US" sz="2000" b="1" dirty="0">
                <a:solidFill>
                  <a:schemeClr val="bg1"/>
                </a:solidFill>
              </a:rPr>
              <a:t>stato</a:t>
            </a:r>
            <a:r>
              <a:rPr lang="en-US" sz="2000" dirty="0">
                <a:solidFill>
                  <a:schemeClr val="bg2"/>
                </a:solidFill>
              </a:rPr>
              <a:t>” dipende da “</a:t>
            </a:r>
            <a:r>
              <a:rPr lang="en-US" sz="2000" b="1" dirty="0">
                <a:solidFill>
                  <a:schemeClr val="bg1"/>
                </a:solidFill>
              </a:rPr>
              <a:t>città</a:t>
            </a:r>
            <a:r>
              <a:rPr lang="en-US" sz="2000" dirty="0">
                <a:solidFill>
                  <a:schemeClr val="bg2"/>
                </a:solidFill>
              </a:rPr>
              <a:t>”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bg2"/>
                </a:solidFill>
              </a:rPr>
              <a:t>“</a:t>
            </a:r>
            <a:r>
              <a:rPr lang="en-US" sz="2000" b="1" dirty="0">
                <a:solidFill>
                  <a:schemeClr val="bg1"/>
                </a:solidFill>
              </a:rPr>
              <a:t>città</a:t>
            </a:r>
            <a:r>
              <a:rPr lang="en-US" sz="2000" dirty="0">
                <a:solidFill>
                  <a:schemeClr val="bg2"/>
                </a:solidFill>
              </a:rPr>
              <a:t>” dipende dalla </a:t>
            </a:r>
            <a:r>
              <a:rPr lang="en-US" sz="2000" b="1" dirty="0">
                <a:solidFill>
                  <a:schemeClr val="bg1"/>
                </a:solidFill>
              </a:rPr>
              <a:t>PK</a:t>
            </a:r>
            <a:endParaRPr lang="en-US" sz="23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2000" dirty="0">
                <a:solidFill>
                  <a:schemeClr val="accent4"/>
                </a:solidFill>
              </a:rPr>
              <a:t>Dipendenza </a:t>
            </a:r>
            <a:r>
              <a:rPr lang="en-US" sz="2000" b="1" dirty="0">
                <a:solidFill>
                  <a:schemeClr val="accent4"/>
                </a:solidFill>
              </a:rPr>
              <a:t>Transitiva</a:t>
            </a:r>
            <a:r>
              <a:rPr lang="en-US" sz="2000" dirty="0">
                <a:solidFill>
                  <a:schemeClr val="accent4"/>
                </a:solidFill>
              </a:rPr>
              <a:t>!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300982"/>
            <a:ext cx="6035040" cy="1927352"/>
          </a:xfrm>
          <a:prstGeom prst="roundRect">
            <a:avLst>
              <a:gd name="adj" fmla="val 6642"/>
            </a:avLst>
          </a:prstGeom>
          <a:solidFill>
            <a:schemeClr val="tx2"/>
          </a:solidFill>
          <a:ln w="15875">
            <a:solidFill>
              <a:schemeClr val="accent4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1"/>
                </a:solidFill>
              </a:rPr>
              <a:t>Le dipendenze </a:t>
            </a:r>
            <a:r>
              <a:rPr lang="en-US" sz="2300" b="1" dirty="0">
                <a:solidFill>
                  <a:schemeClr val="accent4"/>
                </a:solidFill>
              </a:rPr>
              <a:t>transitive non</a:t>
            </a:r>
            <a:r>
              <a:rPr lang="en-US" sz="2300" dirty="0">
                <a:solidFill>
                  <a:schemeClr val="bg1"/>
                </a:solidFill>
              </a:rPr>
              <a:t> vengono intercettate dalla </a:t>
            </a:r>
            <a:r>
              <a:rPr lang="en-US" sz="2300" b="1" dirty="0">
                <a:solidFill>
                  <a:schemeClr val="accent4"/>
                </a:solidFill>
              </a:rPr>
              <a:t>2NF</a:t>
            </a:r>
            <a:r>
              <a:rPr lang="en-US" sz="2300" dirty="0">
                <a:solidFill>
                  <a:schemeClr val="bg1"/>
                </a:solidFill>
              </a:rPr>
              <a:t>!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1"/>
                </a:solidFill>
              </a:rPr>
              <a:t>Infatti, la </a:t>
            </a:r>
            <a:r>
              <a:rPr lang="en-US" sz="2300" b="1" dirty="0">
                <a:solidFill>
                  <a:schemeClr val="accent4"/>
                </a:solidFill>
              </a:rPr>
              <a:t>dipendenza</a:t>
            </a:r>
            <a:r>
              <a:rPr lang="en-US" sz="2300" dirty="0">
                <a:solidFill>
                  <a:schemeClr val="bg1"/>
                </a:solidFill>
              </a:rPr>
              <a:t> dalla PK in questo caso </a:t>
            </a:r>
            <a:r>
              <a:rPr lang="en-US" sz="2300" b="1" dirty="0">
                <a:solidFill>
                  <a:schemeClr val="accent4"/>
                </a:solidFill>
              </a:rPr>
              <a:t>non</a:t>
            </a:r>
            <a:r>
              <a:rPr lang="en-US" sz="2300" dirty="0">
                <a:solidFill>
                  <a:schemeClr val="bg1"/>
                </a:solidFill>
              </a:rPr>
              <a:t> è </a:t>
            </a:r>
            <a:r>
              <a:rPr lang="en-US" sz="2300" b="1" dirty="0">
                <a:solidFill>
                  <a:schemeClr val="accent4"/>
                </a:solidFill>
              </a:rPr>
              <a:t>parziale</a:t>
            </a:r>
            <a:r>
              <a:rPr lang="en-US" sz="2300" dirty="0">
                <a:solidFill>
                  <a:schemeClr val="bg1"/>
                </a:solidFill>
              </a:rPr>
              <a:t>, ma </a:t>
            </a:r>
            <a:r>
              <a:rPr lang="en-US" sz="2300" b="1" dirty="0">
                <a:solidFill>
                  <a:schemeClr val="accent4"/>
                </a:solidFill>
              </a:rPr>
              <a:t>indiretta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653508" y="1783080"/>
            <a:ext cx="3248904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Tabella 1: ID_Articolo(pk), ID_Fornitore(pk)(fk), Qt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3236" y="1892808"/>
            <a:ext cx="3029448" cy="25694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96010" y="4809744"/>
            <a:ext cx="316390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Fornitori: ID_Fornitore(pk), Stato, Città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5738" y="4919472"/>
            <a:ext cx="2944444" cy="12893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3° Forma Normale (esempio 1)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45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Occorre </a:t>
            </a:r>
            <a:r>
              <a:rPr lang="en-US" sz="2300" b="1" dirty="0">
                <a:solidFill>
                  <a:schemeClr val="bg1"/>
                </a:solidFill>
              </a:rPr>
              <a:t>decomporre</a:t>
            </a:r>
            <a:r>
              <a:rPr lang="en-US" sz="2300" dirty="0">
                <a:solidFill>
                  <a:schemeClr val="bg2"/>
                </a:solidFill>
              </a:rPr>
              <a:t> “Fornitori” (procedura analoga a quella della 2NF):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681876" y="2425954"/>
            <a:ext cx="2827942" cy="1345110"/>
          </a:xfrm>
          <a:prstGeom prst="roundRect">
            <a:avLst>
              <a:gd name="adj" fmla="val 9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Fornitori: ID_Fornitore(pk), Stato, Citt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1604" y="2535682"/>
            <a:ext cx="2608486" cy="11256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3953944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↓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1113723" y="4484296"/>
            <a:ext cx="4389610" cy="1870784"/>
          </a:xfrm>
          <a:prstGeom prst="roundRect">
            <a:avLst>
              <a:gd name="adj" fmla="val 68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Id_Fornitore, Città(fk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451" y="4594024"/>
            <a:ext cx="4170154" cy="165132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704864" y="4484296"/>
            <a:ext cx="4356607" cy="1870784"/>
          </a:xfrm>
          <a:prstGeom prst="roundRect">
            <a:avLst>
              <a:gd name="adj" fmla="val 68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2" descr="Città(pk), Sta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592" y="4594024"/>
            <a:ext cx="4137151" cy="16513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3° Forma Normale (esempio 2)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515618" y="1783080"/>
            <a:ext cx="716046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Tabella Codice Fiscale, Corso, Istrutt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5346" y="1892808"/>
            <a:ext cx="6941004" cy="15179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374904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↓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85800" y="4325112"/>
            <a:ext cx="10820095" cy="1875486"/>
          </a:xfrm>
          <a:prstGeom prst="roundRect">
            <a:avLst>
              <a:gd name="adj" fmla="val 68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Tabelle decomposte: Codice Fiscale–Corso e Corso–Istrutto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434840"/>
            <a:ext cx="10600639" cy="165603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Utilizzo dello schema ER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425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Presa una relazione </a:t>
            </a:r>
            <a:r>
              <a:rPr lang="en-US" sz="2300" b="1" dirty="0">
                <a:solidFill>
                  <a:schemeClr val="bg1"/>
                </a:solidFill>
              </a:rPr>
              <a:t>non normalizzata</a:t>
            </a:r>
            <a:r>
              <a:rPr lang="en-US" sz="2300" dirty="0">
                <a:solidFill>
                  <a:schemeClr val="bg2"/>
                </a:solidFill>
              </a:rPr>
              <a:t>, una volta </a:t>
            </a:r>
            <a:r>
              <a:rPr lang="en-US" sz="2300" b="1" dirty="0">
                <a:solidFill>
                  <a:schemeClr val="bg1"/>
                </a:solidFill>
              </a:rPr>
              <a:t>compreso</a:t>
            </a:r>
            <a:r>
              <a:rPr lang="en-US" sz="2300" dirty="0">
                <a:solidFill>
                  <a:schemeClr val="bg2"/>
                </a:solidFill>
              </a:rPr>
              <a:t> il </a:t>
            </a:r>
            <a:r>
              <a:rPr lang="en-US" sz="2300" b="1" dirty="0">
                <a:solidFill>
                  <a:schemeClr val="bg1"/>
                </a:solidFill>
              </a:rPr>
              <a:t>dominio</a:t>
            </a:r>
            <a:r>
              <a:rPr lang="en-US" sz="2300" dirty="0">
                <a:solidFill>
                  <a:schemeClr val="bg2"/>
                </a:solidFill>
              </a:rPr>
              <a:t> di </a:t>
            </a:r>
            <a:r>
              <a:rPr lang="en-US" sz="2300" b="1" dirty="0">
                <a:solidFill>
                  <a:schemeClr val="bg1"/>
                </a:solidFill>
              </a:rPr>
              <a:t>interesse</a:t>
            </a:r>
            <a:r>
              <a:rPr lang="en-US" sz="2300" dirty="0">
                <a:solidFill>
                  <a:schemeClr val="bg2"/>
                </a:solidFill>
              </a:rPr>
              <a:t>, è possibile </a:t>
            </a:r>
            <a:r>
              <a:rPr lang="en-US" sz="2300" b="1" dirty="0">
                <a:solidFill>
                  <a:schemeClr val="bg1"/>
                </a:solidFill>
              </a:rPr>
              <a:t>definire</a:t>
            </a:r>
            <a:r>
              <a:rPr lang="en-US" sz="2300" dirty="0">
                <a:solidFill>
                  <a:schemeClr val="bg2"/>
                </a:solidFill>
              </a:rPr>
              <a:t> uno </a:t>
            </a:r>
            <a:r>
              <a:rPr lang="en-US" sz="2300" b="1" dirty="0">
                <a:solidFill>
                  <a:schemeClr val="bg1"/>
                </a:solidFill>
              </a:rPr>
              <a:t>schema ER</a:t>
            </a:r>
            <a:r>
              <a:rPr lang="en-US" sz="2300" dirty="0">
                <a:solidFill>
                  <a:schemeClr val="bg2"/>
                </a:solidFill>
              </a:rPr>
              <a:t> che la rappresenti, ricavando uno schema concettuale che comprenda </a:t>
            </a:r>
            <a:r>
              <a:rPr lang="en-US" sz="2300" b="1" dirty="0">
                <a:solidFill>
                  <a:schemeClr val="bg1"/>
                </a:solidFill>
              </a:rPr>
              <a:t>tutte</a:t>
            </a:r>
            <a:r>
              <a:rPr lang="en-US" sz="2300" dirty="0">
                <a:solidFill>
                  <a:schemeClr val="bg2"/>
                </a:solidFill>
              </a:rPr>
              <a:t> le </a:t>
            </a:r>
            <a:r>
              <a:rPr lang="en-US" sz="2300" b="1" dirty="0">
                <a:solidFill>
                  <a:schemeClr val="bg1"/>
                </a:solidFill>
              </a:rPr>
              <a:t>informazioni</a:t>
            </a:r>
            <a:r>
              <a:rPr lang="en-US" sz="2300" dirty="0">
                <a:solidFill>
                  <a:schemeClr val="bg2"/>
                </a:solidFill>
              </a:rPr>
              <a:t> di tale relazione.</a:t>
            </a:r>
            <a:endParaRPr lang="en-US" sz="23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Si identificano quindi: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entità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associazioni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attributi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cardinalità</a:t>
            </a:r>
            <a:endParaRPr lang="en-US" sz="23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Si può quindi </a:t>
            </a:r>
            <a:r>
              <a:rPr lang="en-US" sz="2300" b="1" dirty="0">
                <a:solidFill>
                  <a:schemeClr val="bg1"/>
                </a:solidFill>
              </a:rPr>
              <a:t>procedere</a:t>
            </a:r>
            <a:r>
              <a:rPr lang="en-US" sz="2300" dirty="0">
                <a:solidFill>
                  <a:schemeClr val="bg2"/>
                </a:solidFill>
              </a:rPr>
              <a:t> alla </a:t>
            </a:r>
            <a:r>
              <a:rPr lang="en-US" sz="2300" b="1" dirty="0">
                <a:solidFill>
                  <a:schemeClr val="bg1"/>
                </a:solidFill>
              </a:rPr>
              <a:t>traduzione</a:t>
            </a:r>
            <a:r>
              <a:rPr lang="en-US" sz="2300" dirty="0">
                <a:solidFill>
                  <a:schemeClr val="bg2"/>
                </a:solidFill>
              </a:rPr>
              <a:t> in schema </a:t>
            </a:r>
            <a:r>
              <a:rPr lang="en-US" sz="2300" b="1" dirty="0">
                <a:solidFill>
                  <a:schemeClr val="bg1"/>
                </a:solidFill>
              </a:rPr>
              <a:t>logico</a:t>
            </a:r>
            <a:r>
              <a:rPr lang="en-US" sz="2300" dirty="0">
                <a:solidFill>
                  <a:schemeClr val="bg2"/>
                </a:solidFill>
              </a:rPr>
              <a:t>, ottenendo così una </a:t>
            </a:r>
            <a:r>
              <a:rPr lang="en-US" sz="2300" b="1" dirty="0">
                <a:solidFill>
                  <a:schemeClr val="bg1"/>
                </a:solidFill>
              </a:rPr>
              <a:t>rappresentazione</a:t>
            </a:r>
            <a:r>
              <a:rPr lang="en-US" sz="2300" dirty="0">
                <a:solidFill>
                  <a:schemeClr val="bg2"/>
                </a:solidFill>
              </a:rPr>
              <a:t> che rispetta la </a:t>
            </a:r>
            <a:r>
              <a:rPr lang="en-US" sz="2300" b="1" dirty="0">
                <a:solidFill>
                  <a:schemeClr val="bg1"/>
                </a:solidFill>
              </a:rPr>
              <a:t>3NF!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Esercizi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202924" y="1783080"/>
            <a:ext cx="7785847" cy="2040058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Esercizio: tabella JobID, JobDate Time, driverID, driver Name, taxiID, clientID, clientName, jobPickUpAddr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2652" y="1892808"/>
            <a:ext cx="7566391" cy="18206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88601" y="4060882"/>
            <a:ext cx="7814493" cy="2294198"/>
          </a:xfrm>
          <a:prstGeom prst="roundRect">
            <a:avLst>
              <a:gd name="adj" fmla="val 55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1" descr="Esercizio: tabella studentID, studentName, courseID, courseTitle, credits, grade, semesterID, semesterPerio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329" y="4170610"/>
            <a:ext cx="7595037" cy="207474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Esercizi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72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A partire dalle seguenti relazioni, e sulla base dei nomi scelti per essere e per i relativi attributi, normalizzare le seguenti relazioni.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949425" y="2744216"/>
            <a:ext cx="6292845" cy="3610864"/>
          </a:xfrm>
          <a:prstGeom prst="roundRect">
            <a:avLst>
              <a:gd name="adj" fmla="val 3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Elenco di 15 relazioni da normalizzare (Anagrafica, Interrogazioni, Professori, CDMusicali, Fatture, Animali, Dipendenti, Fornitori, Alunni, Gite, Automobili, Francobolli, Contravvenzioni, Giocatori, Libri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9153" y="2853944"/>
            <a:ext cx="6073389" cy="33914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chemeClr val="accent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INFORMATICA  ·  BASI DI DATI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1732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0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19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85800" y="388620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chemeClr val="bg1"/>
                </a:solidFill>
              </a:rPr>
              <a:t>Introduzione al Linguaggio SQL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I linguaggi per i database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5852160" cy="4487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Nel corso degli anni, i linguaggi di programmazione di tipo </a:t>
            </a:r>
            <a:r>
              <a:rPr lang="en-US" sz="2000" b="1" dirty="0">
                <a:solidFill>
                  <a:schemeClr val="bg1"/>
                </a:solidFill>
              </a:rPr>
              <a:t>dichiarativo</a:t>
            </a:r>
            <a:r>
              <a:rPr lang="en-US" sz="2000" dirty="0">
                <a:solidFill>
                  <a:schemeClr val="bg2"/>
                </a:solidFill>
              </a:rPr>
              <a:t> sono diventati lo </a:t>
            </a:r>
            <a:r>
              <a:rPr lang="en-US" sz="2000" b="1" dirty="0">
                <a:solidFill>
                  <a:schemeClr val="bg1"/>
                </a:solidFill>
              </a:rPr>
              <a:t>standard</a:t>
            </a:r>
            <a:r>
              <a:rPr lang="en-US" sz="2000" dirty="0">
                <a:solidFill>
                  <a:schemeClr val="bg2"/>
                </a:solidFill>
              </a:rPr>
              <a:t> nei RDBMS.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si descrive il </a:t>
            </a:r>
            <a:r>
              <a:rPr lang="en-US" sz="2000" b="1" dirty="0">
                <a:solidFill>
                  <a:schemeClr val="bg1"/>
                </a:solidFill>
              </a:rPr>
              <a:t>risultato…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e non </a:t>
            </a:r>
            <a:r>
              <a:rPr lang="en-US" sz="2000" b="1" dirty="0">
                <a:solidFill>
                  <a:schemeClr val="bg1"/>
                </a:solidFill>
              </a:rPr>
              <a:t>come</a:t>
            </a:r>
            <a:r>
              <a:rPr lang="en-US" sz="2000" dirty="0">
                <a:solidFill>
                  <a:schemeClr val="bg2"/>
                </a:solidFill>
              </a:rPr>
              <a:t> deve essere ottenuto!</a:t>
            </a:r>
            <a:endParaRPr lang="en-US" sz="20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Vantaggi: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maggiore </a:t>
            </a:r>
            <a:r>
              <a:rPr lang="en-US" sz="2000" b="1" dirty="0">
                <a:solidFill>
                  <a:schemeClr val="bg1"/>
                </a:solidFill>
              </a:rPr>
              <a:t>leggibilità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ottimizzazione</a:t>
            </a:r>
            <a:r>
              <a:rPr lang="en-US" sz="2000" dirty="0">
                <a:solidFill>
                  <a:schemeClr val="bg2"/>
                </a:solidFill>
              </a:rPr>
              <a:t> delle query</a:t>
            </a:r>
            <a:endParaRPr lang="en-US" sz="20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700" dirty="0">
                <a:solidFill>
                  <a:schemeClr val="bg2"/>
                </a:solidFill>
              </a:rPr>
              <a:t>motore di esecuzione query che ottimizza automaticamente. non è lo sviluppatore che deve “sforzarsi” di ottimizzare la query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maggiore </a:t>
            </a:r>
            <a:r>
              <a:rPr lang="en-US" sz="2000" b="1" dirty="0">
                <a:solidFill>
                  <a:schemeClr val="bg1"/>
                </a:solidFill>
              </a:rPr>
              <a:t>flessibilità</a:t>
            </a:r>
            <a:r>
              <a:rPr lang="en-US" sz="2000" dirty="0">
                <a:solidFill>
                  <a:schemeClr val="bg2"/>
                </a:solidFill>
              </a:rPr>
              <a:t> (non serve conoscere i dettagli interni del DBMS)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67144" y="2856407"/>
            <a:ext cx="4638751" cy="2341272"/>
          </a:xfrm>
          <a:prstGeom prst="roundRect">
            <a:avLst>
              <a:gd name="adj" fmla="val 54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Imperative: explicit instructions, the system is stupid, you are smart. Declarative: describe the outcome, the system is smart, you don't c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6872" y="2966135"/>
            <a:ext cx="4419295" cy="21218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Relazioni vs Tabelle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645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50" dirty="0">
                <a:solidFill>
                  <a:schemeClr val="bg2"/>
                </a:solidFill>
              </a:rPr>
              <a:t>Anche se finora i due termini sono stati usati in maniera intercambiabile, ci sono delle differenze importanti.</a:t>
            </a:r>
            <a:endParaRPr lang="en-US" sz="1750" dirty="0"/>
          </a:p>
        </p:txBody>
      </p:sp>
      <p:graphicFrame>
        <p:nvGraphicFramePr>
          <p:cNvPr id="9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06728" y="2666746"/>
          <a:ext cx="8778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2918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chemeClr val="bg1"/>
                          </a:solidFill>
                        </a:rPr>
                        <a:t>Relazioni</a:t>
                      </a:r>
                      <a:endParaRPr lang="en-US" sz="16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chemeClr val="bg1"/>
                          </a:solidFill>
                        </a:rPr>
                        <a:t>Tabelle</a:t>
                      </a:r>
                      <a:endParaRPr lang="en-US" sz="16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chemeClr val="bg1"/>
                          </a:solidFill>
                        </a:rPr>
                        <a:t>Righe/Tuple</a:t>
                      </a:r>
                      <a:endParaRPr lang="en-US" sz="1650" dirty="0"/>
                    </a:p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chemeClr val="bg1"/>
                          </a:solidFill>
                        </a:rPr>
                        <a:t>Ripetute</a:t>
                      </a:r>
                      <a:endParaRPr lang="en-US" sz="16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chemeClr val="bg2"/>
                          </a:solidFill>
                        </a:rPr>
                        <a:t>Non permesse</a:t>
                      </a:r>
                      <a:endParaRPr lang="en-US" sz="1650" dirty="0"/>
                    </a:p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chemeClr val="bg2"/>
                          </a:solidFill>
                        </a:rPr>
                        <a:t>(relazione = insieme)</a:t>
                      </a:r>
                      <a:endParaRPr lang="en-US" sz="16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chemeClr val="bg2"/>
                          </a:solidFill>
                        </a:rPr>
                        <a:t>Permesse</a:t>
                      </a:r>
                      <a:endParaRPr lang="en-US" sz="1650" dirty="0"/>
                    </a:p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chemeClr val="bg2"/>
                          </a:solidFill>
                        </a:rPr>
                        <a:t>(si tende ad evitarle con PK)</a:t>
                      </a:r>
                      <a:endParaRPr lang="en-US" sz="16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chemeClr val="bg1"/>
                          </a:solidFill>
                        </a:rPr>
                        <a:t>Utilizzo</a:t>
                      </a:r>
                      <a:endParaRPr lang="en-US" sz="16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chemeClr val="bg2"/>
                          </a:solidFill>
                        </a:rPr>
                        <a:t>“Astratto”</a:t>
                      </a:r>
                      <a:endParaRPr lang="en-US" sz="1650" dirty="0"/>
                    </a:p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chemeClr val="bg2"/>
                          </a:solidFill>
                        </a:rPr>
                        <a:t>Schema logico</a:t>
                      </a:r>
                      <a:endParaRPr lang="en-US" sz="1650" dirty="0"/>
                    </a:p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chemeClr val="bg2"/>
                          </a:solidFill>
                        </a:rPr>
                        <a:t>Algebra relazionale</a:t>
                      </a:r>
                      <a:endParaRPr lang="en-US" sz="16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chemeClr val="bg2"/>
                          </a:solidFill>
                        </a:rPr>
                        <a:t>“Concreto” nei DBMS</a:t>
                      </a:r>
                      <a:endParaRPr lang="en-US" sz="1650" dirty="0"/>
                    </a:p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chemeClr val="bg2"/>
                          </a:solidFill>
                        </a:rPr>
                        <a:t>Schema fisico</a:t>
                      </a:r>
                      <a:endParaRPr lang="en-US" sz="1650" dirty="0"/>
                    </a:p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chemeClr val="bg2"/>
                          </a:solidFill>
                        </a:rPr>
                        <a:t>Comandi SQL</a:t>
                      </a:r>
                      <a:endParaRPr lang="en-US" sz="16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" y="5144770"/>
            <a:ext cx="10820095" cy="1069594"/>
          </a:xfrm>
          <a:prstGeom prst="roundRect">
            <a:avLst>
              <a:gd name="adj" fmla="val 11969"/>
            </a:avLst>
          </a:prstGeom>
          <a:solidFill>
            <a:schemeClr val="tx2"/>
          </a:solidFill>
          <a:ln w="15875">
            <a:solidFill>
              <a:schemeClr val="accent5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50" b="1" dirty="0">
                <a:solidFill>
                  <a:schemeClr val="accent5"/>
                </a:solidFill>
              </a:rPr>
              <a:t>Tabella</a:t>
            </a:r>
            <a:r>
              <a:rPr lang="en-US" sz="1750" dirty="0">
                <a:solidFill>
                  <a:schemeClr val="bg1"/>
                </a:solidFill>
              </a:rPr>
              <a:t> = </a:t>
            </a:r>
            <a:r>
              <a:rPr lang="en-US" sz="1750" b="1" dirty="0">
                <a:solidFill>
                  <a:schemeClr val="accent5"/>
                </a:solidFill>
              </a:rPr>
              <a:t>implementazione</a:t>
            </a:r>
            <a:r>
              <a:rPr lang="en-US" sz="1750" dirty="0">
                <a:solidFill>
                  <a:schemeClr val="bg1"/>
                </a:solidFill>
              </a:rPr>
              <a:t> “</a:t>
            </a:r>
            <a:r>
              <a:rPr lang="en-US" sz="1750" b="1" dirty="0">
                <a:solidFill>
                  <a:schemeClr val="accent5"/>
                </a:solidFill>
              </a:rPr>
              <a:t>fisica</a:t>
            </a:r>
            <a:r>
              <a:rPr lang="en-US" sz="1750" dirty="0">
                <a:solidFill>
                  <a:schemeClr val="bg1"/>
                </a:solidFill>
              </a:rPr>
              <a:t>” di una </a:t>
            </a:r>
            <a:r>
              <a:rPr lang="en-US" sz="1750" b="1" dirty="0">
                <a:solidFill>
                  <a:schemeClr val="accent5"/>
                </a:solidFill>
              </a:rPr>
              <a:t>relazione</a:t>
            </a:r>
            <a:endParaRPr lang="en-US" sz="175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50" dirty="0">
                <a:solidFill>
                  <a:schemeClr val="bg1"/>
                </a:solidFill>
              </a:rPr>
              <a:t>I </a:t>
            </a:r>
            <a:r>
              <a:rPr lang="en-US" sz="1750" b="1" dirty="0">
                <a:solidFill>
                  <a:schemeClr val="accent5"/>
                </a:solidFill>
              </a:rPr>
              <a:t>linguaggi</a:t>
            </a:r>
            <a:r>
              <a:rPr lang="en-US" sz="1750" dirty="0">
                <a:solidFill>
                  <a:schemeClr val="bg1"/>
                </a:solidFill>
              </a:rPr>
              <a:t> di programmazione nei DBMS lavorano su </a:t>
            </a:r>
            <a:r>
              <a:rPr lang="en-US" sz="1750" b="1" dirty="0">
                <a:solidFill>
                  <a:schemeClr val="accent5"/>
                </a:solidFill>
              </a:rPr>
              <a:t>tabelle</a:t>
            </a:r>
            <a:r>
              <a:rPr lang="en-US" sz="1750" dirty="0">
                <a:solidFill>
                  <a:schemeClr val="bg1"/>
                </a:solidFill>
              </a:rPr>
              <a:t>!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I linguaggi per i database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4023360" cy="2941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Linguaggio per RDBMS: SQL (e sue varianti/dialetti).</a:t>
            </a:r>
            <a:endParaRPr lang="en-US" sz="23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chemeClr val="bg2"/>
                </a:solidFill>
              </a:rPr>
              <a:t>Esso presenta diverse “famiglie” di comandi: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Data </a:t>
            </a:r>
            <a:r>
              <a:rPr lang="en-US" sz="2300" b="1" dirty="0">
                <a:solidFill>
                  <a:schemeClr val="bg1"/>
                </a:solidFill>
              </a:rPr>
              <a:t>Definition</a:t>
            </a:r>
            <a:r>
              <a:rPr lang="en-US" sz="2300" dirty="0">
                <a:solidFill>
                  <a:schemeClr val="bg2"/>
                </a:solidFill>
              </a:rPr>
              <a:t> Language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Data </a:t>
            </a:r>
            <a:r>
              <a:rPr lang="en-US" sz="2300" b="1" dirty="0">
                <a:solidFill>
                  <a:schemeClr val="bg1"/>
                </a:solidFill>
              </a:rPr>
              <a:t>Manipulation</a:t>
            </a:r>
            <a:r>
              <a:rPr lang="en-US" sz="2300" dirty="0">
                <a:solidFill>
                  <a:schemeClr val="bg2"/>
                </a:solidFill>
              </a:rPr>
              <a:t> Language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chemeClr val="bg2"/>
                </a:solidFill>
              </a:rPr>
              <a:t>Data </a:t>
            </a:r>
            <a:r>
              <a:rPr lang="en-US" sz="2300" b="1" dirty="0">
                <a:solidFill>
                  <a:schemeClr val="bg1"/>
                </a:solidFill>
              </a:rPr>
              <a:t>Query</a:t>
            </a:r>
            <a:r>
              <a:rPr lang="en-US" sz="2300" dirty="0">
                <a:solidFill>
                  <a:schemeClr val="bg2"/>
                </a:solidFill>
              </a:rPr>
              <a:t> Language, ecc…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38344" y="2084267"/>
            <a:ext cx="6467551" cy="2338693"/>
          </a:xfrm>
          <a:prstGeom prst="roundRect">
            <a:avLst>
              <a:gd name="adj" fmla="val 54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SQL Commands: DDL (CREATE, DROP, ALTER, TRUNCATE), DML (INSERT, UPDATE, DELETE, SELECT), DCL (GRANT, REVOKE), TCL (COMMIT, ROLLBACK, SAVEPOINT), DQL (SELEC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8072" y="2193995"/>
            <a:ext cx="6248095" cy="211923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Data Definition Language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5918911" cy="4524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bg2"/>
                </a:solidFill>
              </a:rPr>
              <a:t>Il DDL serve a </a:t>
            </a:r>
            <a:r>
              <a:rPr lang="en-US" sz="1900" b="1" dirty="0">
                <a:solidFill>
                  <a:schemeClr val="bg1"/>
                </a:solidFill>
              </a:rPr>
              <a:t>definire</a:t>
            </a:r>
            <a:r>
              <a:rPr lang="en-US" sz="1900" dirty="0">
                <a:solidFill>
                  <a:schemeClr val="bg2"/>
                </a:solidFill>
              </a:rPr>
              <a:t>/</a:t>
            </a:r>
            <a:r>
              <a:rPr lang="en-US" sz="1900" b="1" dirty="0">
                <a:solidFill>
                  <a:schemeClr val="bg1"/>
                </a:solidFill>
              </a:rPr>
              <a:t>modificare</a:t>
            </a:r>
            <a:r>
              <a:rPr lang="en-US" sz="1900" dirty="0">
                <a:solidFill>
                  <a:schemeClr val="bg2"/>
                </a:solidFill>
              </a:rPr>
              <a:t> lo </a:t>
            </a:r>
            <a:r>
              <a:rPr lang="en-US" sz="1900" b="1" dirty="0">
                <a:solidFill>
                  <a:schemeClr val="bg1"/>
                </a:solidFill>
              </a:rPr>
              <a:t>schema</a:t>
            </a:r>
            <a:r>
              <a:rPr lang="en-US" sz="1900" dirty="0">
                <a:solidFill>
                  <a:schemeClr val="bg2"/>
                </a:solidFill>
              </a:rPr>
              <a:t> della Base di Dati:</a:t>
            </a:r>
            <a:endParaRPr lang="en-US" sz="19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chemeClr val="bg1"/>
                </a:solidFill>
              </a:rPr>
              <a:t>nomi</a:t>
            </a:r>
            <a:r>
              <a:rPr lang="en-US" sz="1900" dirty="0">
                <a:solidFill>
                  <a:schemeClr val="bg2"/>
                </a:solidFill>
              </a:rPr>
              <a:t> delle </a:t>
            </a:r>
            <a:r>
              <a:rPr lang="en-US" sz="1900" b="1" dirty="0">
                <a:solidFill>
                  <a:schemeClr val="bg1"/>
                </a:solidFill>
              </a:rPr>
              <a:t>tabelle</a:t>
            </a:r>
            <a:endParaRPr lang="en-US" sz="19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chemeClr val="bg1"/>
                </a:solidFill>
              </a:rPr>
              <a:t>nomi</a:t>
            </a:r>
            <a:r>
              <a:rPr lang="en-US" sz="1900" dirty="0">
                <a:solidFill>
                  <a:schemeClr val="bg2"/>
                </a:solidFill>
              </a:rPr>
              <a:t> degli </a:t>
            </a:r>
            <a:r>
              <a:rPr lang="en-US" sz="1900" b="1" dirty="0">
                <a:solidFill>
                  <a:schemeClr val="bg1"/>
                </a:solidFill>
              </a:rPr>
              <a:t>attributi</a:t>
            </a:r>
            <a:endParaRPr lang="en-US" sz="19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chemeClr val="bg1"/>
                </a:solidFill>
              </a:rPr>
              <a:t>tipi</a:t>
            </a:r>
            <a:r>
              <a:rPr lang="en-US" sz="1900" dirty="0">
                <a:solidFill>
                  <a:schemeClr val="bg2"/>
                </a:solidFill>
              </a:rPr>
              <a:t> degli </a:t>
            </a:r>
            <a:r>
              <a:rPr lang="en-US" sz="1900" b="1" dirty="0">
                <a:solidFill>
                  <a:schemeClr val="bg1"/>
                </a:solidFill>
              </a:rPr>
              <a:t>attributi</a:t>
            </a:r>
            <a:endParaRPr lang="en-US" sz="19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chemeClr val="bg1"/>
                </a:solidFill>
              </a:rPr>
              <a:t>vincoli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2"/>
                </a:solidFill>
              </a:rPr>
              <a:t>integrità referenziale</a:t>
            </a:r>
            <a:endParaRPr lang="en-US" sz="1900" dirty="0"/>
          </a:p>
          <a:p>
            <a:pPr lvl="2" marL="6858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2"/>
                </a:solidFill>
              </a:rPr>
              <a:t>comportamento in caso di</a:t>
            </a:r>
            <a:endParaRPr lang="en-US" sz="1900" dirty="0"/>
          </a:p>
          <a:p>
            <a:pPr lvl="3" marL="9144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2"/>
                </a:solidFill>
              </a:rPr>
              <a:t>cancellazione</a:t>
            </a:r>
            <a:endParaRPr lang="en-US" sz="1900" dirty="0"/>
          </a:p>
          <a:p>
            <a:pPr lvl="3" marL="9144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2"/>
                </a:solidFill>
              </a:rPr>
              <a:t>aggiornamento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2"/>
                </a:solidFill>
              </a:rPr>
              <a:t>lunghezza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2"/>
                </a:solidFill>
              </a:rPr>
              <a:t>autoincremento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2"/>
                </a:solidFill>
              </a:rPr>
              <a:t>nullabilità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2"/>
                </a:solidFill>
              </a:rPr>
              <a:t>unicità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933895" y="2369439"/>
            <a:ext cx="4572000" cy="3352038"/>
          </a:xfrm>
          <a:prstGeom prst="roundRect">
            <a:avLst>
              <a:gd name="adj" fmla="val 3819"/>
            </a:avLst>
          </a:prstGeom>
          <a:solidFill>
            <a:schemeClr val="tx2"/>
          </a:solidFill>
          <a:ln w="15875">
            <a:solidFill>
              <a:schemeClr val="accent5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bg1"/>
                </a:solidFill>
              </a:rPr>
              <a:t>Comandi principali:</a:t>
            </a:r>
            <a:endParaRPr lang="en-US" sz="19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50" b="1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TABLE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1"/>
                </a:solidFill>
              </a:rPr>
              <a:t>crea una nuova tabella</a:t>
            </a:r>
            <a:endParaRPr lang="en-US" sz="19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50" b="1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ALTER TABLE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1"/>
                </a:solidFill>
              </a:rPr>
              <a:t>modifica tabella esistente</a:t>
            </a:r>
            <a:endParaRPr lang="en-US" sz="19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50" b="1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TRUNCATE TABLE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1"/>
                </a:solidFill>
              </a:rPr>
              <a:t>cancella le tuple di una tabella</a:t>
            </a:r>
            <a:endParaRPr lang="en-US" sz="19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50" b="1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DROP TABLE</a:t>
            </a:r>
            <a:endParaRPr lang="en-US" sz="19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650" dirty="0">
                <a:solidFill>
                  <a:schemeClr val="bg1"/>
                </a:solidFill>
              </a:rPr>
              <a:t>cancella tabella esistente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Data Definition Language (CREATE TABLE)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4572000" cy="2688336"/>
          </a:xfrm>
          <a:prstGeom prst="roundRect">
            <a:avLst>
              <a:gd name="adj" fmla="val 4762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TABLE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Docente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id_docente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b="1" dirty="0">
                <a:solidFill>
                  <a:schemeClr val="accent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PRIMARY KEY AUTO_INCREMENT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nome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VARCHAR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2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</a:t>
            </a:r>
            <a:r>
              <a:rPr lang="en-US" sz="12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NULL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cognome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VARCHAR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2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</a:t>
            </a:r>
            <a:r>
              <a:rPr lang="en-US" sz="12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NULL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email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VARCHAR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2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</a:t>
            </a:r>
            <a:r>
              <a:rPr lang="en-US" sz="12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NULL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UNIQUE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TABLE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Materia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id_materia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PRIMARY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AUTO_INCREMENT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nome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VARCHAR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2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</a:t>
            </a:r>
            <a:r>
              <a:rPr lang="en-US" sz="12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NULL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UNIQUE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95544" y="1783080"/>
            <a:ext cx="6010351" cy="2688336"/>
          </a:xfrm>
          <a:prstGeom prst="roundRect">
            <a:avLst>
              <a:gd name="adj" fmla="val 4762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TABLE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Insegnamento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id_docente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NULL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id_materia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NULL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ore_lezione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NULL</a:t>
            </a: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00" b="1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PRIMARY KEY (id_docente, anno_immatricolazione),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00" b="1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FOREIGN KEY (id_docente) REFERENCES Docente(id_docente)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</a:t>
            </a:r>
            <a:r>
              <a:rPr lang="en-US" sz="1200" b="1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 DELETE CASCADE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</a:t>
            </a:r>
            <a:r>
              <a:rPr lang="en-US" sz="1200" b="1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 UPDATE RESTRICT,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00" b="1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FOREIGN KEY (id_materia) REFERENCES Materia(id_materia)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</a:t>
            </a:r>
            <a:r>
              <a:rPr lang="en-US" sz="1200" b="1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 DELETE SET NULL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</a:t>
            </a:r>
            <a:r>
              <a:rPr lang="en-US" sz="1200" b="1" dirty="0">
                <a:solidFill>
                  <a:schemeClr val="accent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 UPDATE CASCADE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654296"/>
            <a:ext cx="3200400" cy="869442"/>
          </a:xfrm>
          <a:prstGeom prst="roundRect">
            <a:avLst>
              <a:gd name="adj" fmla="val 14724"/>
            </a:avLst>
          </a:prstGeom>
          <a:solidFill>
            <a:schemeClr val="tx2"/>
          </a:solidFill>
          <a:ln w="15875">
            <a:solidFill>
              <a:schemeClr val="accent2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chemeClr val="bg1"/>
                </a:solidFill>
              </a:rPr>
              <a:t>Vincolo “in </a:t>
            </a:r>
            <a:r>
              <a:rPr lang="en-US" sz="1350" b="1" dirty="0">
                <a:solidFill>
                  <a:schemeClr val="accent2"/>
                </a:solidFill>
              </a:rPr>
              <a:t>linea</a:t>
            </a:r>
            <a:r>
              <a:rPr lang="en-US" sz="1350" dirty="0">
                <a:solidFill>
                  <a:schemeClr val="bg1"/>
                </a:solidFill>
              </a:rPr>
              <a:t>” (tra un attributo e l’altro)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5761482"/>
            <a:ext cx="3200400" cy="869442"/>
          </a:xfrm>
          <a:prstGeom prst="roundRect">
            <a:avLst>
              <a:gd name="adj" fmla="val 14724"/>
            </a:avLst>
          </a:prstGeom>
          <a:solidFill>
            <a:schemeClr val="tx2"/>
          </a:solidFill>
          <a:ln w="15875">
            <a:solidFill>
              <a:schemeClr val="accent4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chemeClr val="bg1"/>
                </a:solidFill>
              </a:rPr>
              <a:t>Vincoli “in </a:t>
            </a:r>
            <a:r>
              <a:rPr lang="en-US" sz="1350" b="1" dirty="0">
                <a:solidFill>
                  <a:schemeClr val="accent4"/>
                </a:solidFill>
              </a:rPr>
              <a:t>coda</a:t>
            </a:r>
            <a:r>
              <a:rPr lang="en-US" sz="1350" dirty="0">
                <a:solidFill>
                  <a:schemeClr val="bg1"/>
                </a:solidFill>
              </a:rPr>
              <a:t>” (dopo gli attributi)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215384" y="4654296"/>
            <a:ext cx="3017520" cy="1002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chemeClr val="bg2"/>
                </a:solidFill>
              </a:rPr>
              <a:t>ON UPDATE/DELETE: cosa succede alle </a:t>
            </a:r>
            <a:r>
              <a:rPr lang="en-US" sz="1450" b="1" dirty="0">
                <a:solidFill>
                  <a:schemeClr val="bg1"/>
                </a:solidFill>
              </a:rPr>
              <a:t>tuple</a:t>
            </a:r>
            <a:r>
              <a:rPr lang="en-US" sz="1450" dirty="0">
                <a:solidFill>
                  <a:schemeClr val="bg2"/>
                </a:solidFill>
              </a:rPr>
              <a:t> della tabella “</a:t>
            </a:r>
            <a:r>
              <a:rPr lang="en-US" sz="1450" b="1" dirty="0">
                <a:solidFill>
                  <a:schemeClr val="bg1"/>
                </a:solidFill>
              </a:rPr>
              <a:t>figlia</a:t>
            </a:r>
            <a:r>
              <a:rPr lang="en-US" sz="1450" dirty="0">
                <a:solidFill>
                  <a:schemeClr val="bg2"/>
                </a:solidFill>
              </a:rPr>
              <a:t>” quando si </a:t>
            </a:r>
            <a:r>
              <a:rPr lang="en-US" sz="1450" b="1" dirty="0">
                <a:solidFill>
                  <a:schemeClr val="bg1"/>
                </a:solidFill>
              </a:rPr>
              <a:t>elimina</a:t>
            </a:r>
            <a:r>
              <a:rPr lang="en-US" sz="1450" dirty="0">
                <a:solidFill>
                  <a:schemeClr val="bg2"/>
                </a:solidFill>
              </a:rPr>
              <a:t> una </a:t>
            </a:r>
            <a:r>
              <a:rPr lang="en-US" sz="1450" b="1" dirty="0">
                <a:solidFill>
                  <a:schemeClr val="bg1"/>
                </a:solidFill>
              </a:rPr>
              <a:t>tupla</a:t>
            </a:r>
            <a:r>
              <a:rPr lang="en-US" sz="1450" dirty="0">
                <a:solidFill>
                  <a:schemeClr val="bg2"/>
                </a:solidFill>
              </a:rPr>
              <a:t> della tabella “</a:t>
            </a:r>
            <a:r>
              <a:rPr lang="en-US" sz="1450" b="1" dirty="0">
                <a:solidFill>
                  <a:schemeClr val="bg1"/>
                </a:solidFill>
              </a:rPr>
              <a:t>padre</a:t>
            </a:r>
            <a:r>
              <a:rPr lang="en-US" sz="1450" dirty="0">
                <a:solidFill>
                  <a:schemeClr val="bg2"/>
                </a:solidFill>
              </a:rPr>
              <a:t>”?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562088" y="4654296"/>
            <a:ext cx="3943807" cy="197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chemeClr val="bg2"/>
                </a:solidFill>
              </a:rPr>
              <a:t>CASCADE</a:t>
            </a:r>
            <a:endParaRPr lang="en-US" sz="145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250" dirty="0">
                <a:solidFill>
                  <a:schemeClr val="bg2"/>
                </a:solidFill>
              </a:rPr>
              <a:t>Modifica/elimina le tuple corrispondenti</a:t>
            </a:r>
            <a:endParaRPr lang="en-US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chemeClr val="bg2"/>
                </a:solidFill>
              </a:rPr>
              <a:t>SET NULL o DEFAULT</a:t>
            </a:r>
            <a:endParaRPr lang="en-US" sz="145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250" dirty="0">
                <a:solidFill>
                  <a:schemeClr val="bg2"/>
                </a:solidFill>
              </a:rPr>
              <a:t>Setta a NULL o al valore default le FK corrispondenti</a:t>
            </a:r>
            <a:endParaRPr lang="en-US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chemeClr val="bg2"/>
                </a:solidFill>
              </a:rPr>
              <a:t>RESTRICT</a:t>
            </a:r>
            <a:endParaRPr lang="en-US" sz="145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250" dirty="0">
                <a:solidFill>
                  <a:schemeClr val="bg2"/>
                </a:solidFill>
              </a:rPr>
              <a:t>impedisce la cancellazione delle tuple corrispondenti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Data Manipulation Language (INSERT)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6915607" cy="351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Il DML consente di manipolare i dati presenti nelle tabelle.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290064"/>
            <a:ext cx="6915607" cy="2883408"/>
          </a:xfrm>
          <a:prstGeom prst="roundRect">
            <a:avLst>
              <a:gd name="adj" fmla="val 4440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INSERT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3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INTO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Docente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nome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cognome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email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VALUES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</a:t>
            </a:r>
            <a:r>
              <a:rPr lang="en-US" sz="1300" dirty="0">
                <a:solidFill>
                  <a:schemeClr val="accent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'Mario'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300" dirty="0">
                <a:solidFill>
                  <a:schemeClr val="accent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'Rossi'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300" dirty="0">
                <a:solidFill>
                  <a:schemeClr val="accent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'mariorossi@scuolaesempio.it'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(</a:t>
            </a:r>
            <a:r>
              <a:rPr lang="en-US" sz="1300" dirty="0">
                <a:solidFill>
                  <a:schemeClr val="accent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'Laura'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300" dirty="0">
                <a:solidFill>
                  <a:schemeClr val="accent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'Bianchi'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300" dirty="0">
                <a:solidFill>
                  <a:schemeClr val="accent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'laurabianchi@scuolaesempio.it'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INSERT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3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INTO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Materia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nome_materia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VALUES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</a:t>
            </a:r>
            <a:r>
              <a:rPr lang="en-US" sz="1300" dirty="0">
                <a:solidFill>
                  <a:schemeClr val="accent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'Matematica'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(</a:t>
            </a:r>
            <a:r>
              <a:rPr lang="en-US" sz="1300" dirty="0">
                <a:solidFill>
                  <a:schemeClr val="accent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'Italiano'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INSERT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3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INTO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Insegnamento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id_docente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id_materia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ore_lezione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VALUES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</a:t>
            </a:r>
            <a:r>
              <a:rPr lang="en-US" sz="13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3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3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(</a:t>
            </a:r>
            <a:r>
              <a:rPr lang="en-US" sz="13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3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3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(</a:t>
            </a:r>
            <a:r>
              <a:rPr lang="en-US" sz="13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3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3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r>
              <a:rPr lang="en-US" sz="130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328920"/>
            <a:ext cx="6915607" cy="1023112"/>
          </a:xfrm>
          <a:prstGeom prst="roundRect">
            <a:avLst>
              <a:gd name="adj" fmla="val 12512"/>
            </a:avLst>
          </a:prstGeom>
          <a:solidFill>
            <a:schemeClr val="tx2"/>
          </a:solidFill>
          <a:ln w="15875">
            <a:solidFill>
              <a:schemeClr val="accent5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Perché non viene specificato il valore della PK?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5"/>
                </a:solidFill>
              </a:rPr>
              <a:t>È auto-incrementante!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48295" y="2651506"/>
            <a:ext cx="3657600" cy="2832100"/>
          </a:xfrm>
          <a:prstGeom prst="roundRect">
            <a:avLst>
              <a:gd name="adj" fmla="val 4520"/>
            </a:avLst>
          </a:prstGeom>
          <a:solidFill>
            <a:schemeClr val="tx2"/>
          </a:solidFill>
          <a:ln w="15875">
            <a:solidFill>
              <a:schemeClr val="accent5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Comandi principali: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INSERT INTO</a:t>
            </a: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chemeClr val="bg1"/>
                </a:solidFill>
              </a:rPr>
              <a:t>inserisce nuove tuple nella tabella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UPDATE</a:t>
            </a: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chemeClr val="bg1"/>
                </a:solidFill>
              </a:rPr>
              <a:t>aggiorna le tuple che soddisfano una condizione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DELETE</a:t>
            </a:r>
            <a:endParaRPr lang="en-US" sz="16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chemeClr val="bg1"/>
                </a:solidFill>
              </a:rPr>
              <a:t>cancella le tuple che soddisfano una condizione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Data Manipulation Language (UPDATE e DELETE)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5120640" cy="9601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UPDATE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Docente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nome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</a:t>
            </a:r>
            <a:r>
              <a:rPr lang="en-US" sz="1250" dirty="0">
                <a:solidFill>
                  <a:schemeClr val="accent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'Luca'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cognome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</a:t>
            </a:r>
            <a:r>
              <a:rPr lang="en-US" sz="1250" dirty="0">
                <a:solidFill>
                  <a:schemeClr val="accent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'Verdi'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id_docente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</a:t>
            </a:r>
            <a:r>
              <a:rPr lang="en-US" sz="125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980944"/>
            <a:ext cx="5120640" cy="9601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UPDATE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Insegnamento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ore_lezione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</a:t>
            </a:r>
            <a:r>
              <a:rPr lang="en-US" sz="125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id_materia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</a:t>
            </a:r>
            <a:r>
              <a:rPr lang="en-US" sz="125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178808"/>
            <a:ext cx="5120640" cy="9601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DELETE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5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Insegnamento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id_docente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</a:t>
            </a:r>
            <a:r>
              <a:rPr lang="en-US" sz="125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5376672"/>
            <a:ext cx="5120640" cy="9601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DELETE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5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Materia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id_materia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</a:t>
            </a:r>
            <a:r>
              <a:rPr lang="en-US" sz="125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r>
              <a:rPr lang="en-US" sz="125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135624" y="1783080"/>
            <a:ext cx="5370271" cy="9601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5875">
            <a:solidFill>
              <a:schemeClr val="accent5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accent5"/>
                </a:solidFill>
              </a:rPr>
              <a:t>Innesca ON UPDATE!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135624" y="2980944"/>
            <a:ext cx="5370271" cy="2157984"/>
          </a:xfrm>
          <a:prstGeom prst="roundRect">
            <a:avLst>
              <a:gd name="adj" fmla="val 5932"/>
            </a:avLst>
          </a:prstGeom>
          <a:solidFill>
            <a:schemeClr val="tx2"/>
          </a:solidFill>
          <a:ln w="15875">
            <a:solidFill>
              <a:schemeClr val="accent5"/>
            </a:solidFill>
          </a:ln>
        </p:spPr>
        <p:txBody>
          <a:bodyPr wrap="square" lIns="177800" tIns="177800" rIns="177800" bIns="177800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vengono </a:t>
            </a:r>
            <a:r>
              <a:rPr lang="en-US" sz="2000" b="1" dirty="0">
                <a:solidFill>
                  <a:schemeClr val="accent5"/>
                </a:solidFill>
              </a:rPr>
              <a:t>aggiornate</a:t>
            </a:r>
            <a:r>
              <a:rPr lang="en-US" sz="2000" dirty="0">
                <a:solidFill>
                  <a:schemeClr val="bg1"/>
                </a:solidFill>
              </a:rPr>
              <a:t> tutte le </a:t>
            </a:r>
            <a:r>
              <a:rPr lang="en-US" sz="2000" b="1" dirty="0">
                <a:solidFill>
                  <a:schemeClr val="accent5"/>
                </a:solidFill>
              </a:rPr>
              <a:t>tuple corrispondenti</a:t>
            </a:r>
            <a:r>
              <a:rPr lang="en-US" sz="2000" dirty="0">
                <a:solidFill>
                  <a:schemeClr val="bg1"/>
                </a:solidFill>
              </a:rPr>
              <a:t> nella “figlia”, cioè la tabella “</a:t>
            </a:r>
            <a:r>
              <a:rPr lang="en-US" sz="2000" b="1" dirty="0">
                <a:solidFill>
                  <a:schemeClr val="accent5"/>
                </a:solidFill>
              </a:rPr>
              <a:t>Insegnamento</a:t>
            </a:r>
            <a:r>
              <a:rPr lang="en-US" sz="2000" dirty="0">
                <a:solidFill>
                  <a:schemeClr val="bg1"/>
                </a:solidFill>
              </a:rPr>
              <a:t>”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il </a:t>
            </a:r>
            <a:r>
              <a:rPr lang="en-US" sz="2000" b="1" dirty="0">
                <a:solidFill>
                  <a:schemeClr val="accent5"/>
                </a:solidFill>
              </a:rPr>
              <a:t>come</a:t>
            </a:r>
            <a:r>
              <a:rPr lang="en-US" sz="2000" dirty="0">
                <a:solidFill>
                  <a:schemeClr val="bg1"/>
                </a:solidFill>
              </a:rPr>
              <a:t> viene </a:t>
            </a:r>
            <a:r>
              <a:rPr lang="en-US" sz="2000" b="1" dirty="0">
                <a:solidFill>
                  <a:schemeClr val="accent5"/>
                </a:solidFill>
              </a:rPr>
              <a:t>deciso</a:t>
            </a:r>
            <a:r>
              <a:rPr lang="en-US" sz="2000" dirty="0">
                <a:solidFill>
                  <a:schemeClr val="bg1"/>
                </a:solidFill>
              </a:rPr>
              <a:t> nella CREATE TABLE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135624" y="5376672"/>
            <a:ext cx="5370271" cy="9601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5875">
            <a:solidFill>
              <a:schemeClr val="accent5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accent5"/>
                </a:solidFill>
              </a:rPr>
              <a:t>Innesca ON DELETE!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Query Language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820095" cy="381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bg2"/>
                </a:solidFill>
              </a:rPr>
              <a:t>I comandi di base </a:t>
            </a:r>
            <a:r>
              <a:rPr lang="en-US" sz="1700" b="1" dirty="0">
                <a:solidFill>
                  <a:schemeClr val="bg1"/>
                </a:solidFill>
              </a:rPr>
              <a:t>ricalcano</a:t>
            </a:r>
            <a:r>
              <a:rPr lang="en-US" sz="1700" dirty="0">
                <a:solidFill>
                  <a:schemeClr val="bg2"/>
                </a:solidFill>
              </a:rPr>
              <a:t> gli operatori </a:t>
            </a:r>
            <a:r>
              <a:rPr lang="en-US" sz="1700" b="1" dirty="0">
                <a:solidFill>
                  <a:schemeClr val="bg1"/>
                </a:solidFill>
              </a:rPr>
              <a:t>dell’algebra relazionale</a:t>
            </a:r>
            <a:r>
              <a:rPr lang="en-US" sz="1700" dirty="0">
                <a:solidFill>
                  <a:schemeClr val="bg2"/>
                </a:solidFill>
              </a:rPr>
              <a:t>, che stavolta operano su </a:t>
            </a:r>
            <a:r>
              <a:rPr lang="en-US" sz="1700" b="1" dirty="0">
                <a:solidFill>
                  <a:schemeClr val="bg1"/>
                </a:solidFill>
              </a:rPr>
              <a:t>tabelle</a:t>
            </a:r>
            <a:r>
              <a:rPr lang="en-US" sz="1700" dirty="0">
                <a:solidFill>
                  <a:schemeClr val="bg2"/>
                </a:solidFill>
              </a:rPr>
              <a:t> invece che relazioni pure.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5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</a:t>
            </a:r>
            <a:r>
              <a:rPr lang="en-US" sz="15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[DISTINCT] [tab1.]&lt;attr1&gt; [</a:t>
            </a:r>
            <a:r>
              <a:rPr lang="en-US" sz="155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r>
              <a:rPr lang="en-US" sz="15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&lt;a1&gt;][,[tab2.]&lt;attr2&gt; [</a:t>
            </a:r>
            <a:r>
              <a:rPr lang="en-US" sz="155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r>
              <a:rPr lang="en-US" sz="15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&lt;a2&gt;]][, ...]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450" dirty="0">
                <a:solidFill>
                  <a:schemeClr val="bg2"/>
                </a:solidFill>
              </a:rPr>
              <a:t>proiezione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450" dirty="0">
                <a:solidFill>
                  <a:schemeClr val="bg2"/>
                </a:solidFill>
              </a:rPr>
              <a:t>rinominazione (AS)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5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</a:t>
            </a:r>
            <a:r>
              <a:rPr lang="en-US" sz="15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&lt;condizioni_tuple&gt;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450" dirty="0">
                <a:solidFill>
                  <a:schemeClr val="bg2"/>
                </a:solidFill>
              </a:rPr>
              <a:t>selezione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5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15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&lt;tab1&gt; [T1] [,&lt;tab2&gt; [T2] [, &lt;tab3&gt; [T3] ...] ]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450" dirty="0">
                <a:solidFill>
                  <a:schemeClr val="bg2"/>
                </a:solidFill>
              </a:rPr>
              <a:t>tabelle sorgenti (con attribuzione di alias contestuale alla query)...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450" dirty="0">
                <a:solidFill>
                  <a:schemeClr val="bg2"/>
                </a:solidFill>
              </a:rPr>
              <a:t>… e prodotto cartesiano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[FULL/INNER/RIGHT/LEFT] </a:t>
            </a:r>
            <a:r>
              <a:rPr lang="en-US" sz="155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JOIN</a:t>
            </a:r>
            <a:r>
              <a:rPr lang="en-US" sz="15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&lt;tab2&gt; [</a:t>
            </a:r>
            <a:r>
              <a:rPr lang="en-US" sz="155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</a:t>
            </a:r>
            <a:r>
              <a:rPr lang="en-US" sz="15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&lt;tab1.id&gt;=&lt;tab2.id_tab1&gt;] [</a:t>
            </a:r>
            <a:r>
              <a:rPr lang="en-US" sz="1550" b="1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JOIN</a:t>
            </a:r>
            <a:r>
              <a:rPr lang="en-US" sz="1550" dirty="0">
                <a:solidFill>
                  <a:schemeClr val="bg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...]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450" dirty="0">
                <a:solidFill>
                  <a:schemeClr val="bg2"/>
                </a:solidFill>
              </a:rPr>
              <a:t>giunzione/join su un attributo comune…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450" dirty="0">
                <a:solidFill>
                  <a:schemeClr val="bg2"/>
                </a:solidFill>
              </a:rPr>
              <a:t>… di solito la PK di una con la FK dell’altra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Query language e ordine di esecuzione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4206240" cy="300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b="1" dirty="0">
                <a:solidFill>
                  <a:schemeClr val="bg1"/>
                </a:solidFill>
              </a:rPr>
              <a:t>L’ordine</a:t>
            </a:r>
            <a:r>
              <a:rPr lang="en-US" sz="2300" dirty="0">
                <a:solidFill>
                  <a:schemeClr val="bg2"/>
                </a:solidFill>
              </a:rPr>
              <a:t> con cui vengono </a:t>
            </a:r>
            <a:r>
              <a:rPr lang="en-US" sz="2300" b="1" dirty="0">
                <a:solidFill>
                  <a:schemeClr val="bg1"/>
                </a:solidFill>
              </a:rPr>
              <a:t>scritte</a:t>
            </a:r>
            <a:r>
              <a:rPr lang="en-US" sz="2300" dirty="0">
                <a:solidFill>
                  <a:schemeClr val="bg2"/>
                </a:solidFill>
              </a:rPr>
              <a:t> le varie parti (clausole) delle query QL </a:t>
            </a:r>
            <a:r>
              <a:rPr lang="en-US" sz="2300" b="1" dirty="0">
                <a:solidFill>
                  <a:schemeClr val="bg1"/>
                </a:solidFill>
              </a:rPr>
              <a:t>non coincide</a:t>
            </a:r>
            <a:r>
              <a:rPr lang="en-US" sz="2300" dirty="0">
                <a:solidFill>
                  <a:schemeClr val="bg2"/>
                </a:solidFill>
              </a:rPr>
              <a:t> con </a:t>
            </a:r>
            <a:r>
              <a:rPr lang="en-US" sz="2300" b="1" dirty="0">
                <a:solidFill>
                  <a:schemeClr val="bg1"/>
                </a:solidFill>
              </a:rPr>
              <a:t>l’ordine</a:t>
            </a:r>
            <a:r>
              <a:rPr lang="en-US" sz="2300" dirty="0">
                <a:solidFill>
                  <a:schemeClr val="bg2"/>
                </a:solidFill>
              </a:rPr>
              <a:t> di </a:t>
            </a:r>
            <a:r>
              <a:rPr lang="en-US" sz="2300" b="1" dirty="0">
                <a:solidFill>
                  <a:schemeClr val="bg1"/>
                </a:solidFill>
              </a:rPr>
              <a:t>esecuzione</a:t>
            </a:r>
            <a:r>
              <a:rPr lang="en-US" sz="2300" dirty="0">
                <a:solidFill>
                  <a:schemeClr val="bg2"/>
                </a:solidFill>
              </a:rPr>
              <a:t> nel DBMS!</a:t>
            </a:r>
            <a:endParaRPr lang="en-US" sz="2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300" b="1" dirty="0">
                <a:solidFill>
                  <a:schemeClr val="bg1"/>
                </a:solidFill>
              </a:rPr>
              <a:t>differenza</a:t>
            </a:r>
            <a:r>
              <a:rPr lang="en-US" sz="2300" dirty="0">
                <a:solidFill>
                  <a:schemeClr val="bg2"/>
                </a:solidFill>
              </a:rPr>
              <a:t> con linguaggi </a:t>
            </a:r>
            <a:r>
              <a:rPr lang="en-US" sz="2300" b="1" dirty="0">
                <a:solidFill>
                  <a:schemeClr val="bg1"/>
                </a:solidFill>
              </a:rPr>
              <a:t>imperativi</a:t>
            </a:r>
            <a:r>
              <a:rPr lang="en-US" sz="2300" dirty="0">
                <a:solidFill>
                  <a:schemeClr val="bg2"/>
                </a:solidFill>
              </a:rPr>
              <a:t>, dove le istruzioni sono eseguite nell’ordine in cui compaiono.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9921" y="1783080"/>
            <a:ext cx="5747276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Ordine di esecuzione: 1 FROM/JOIN, 2 WHERE, 3 GROUP BY, 4 HAVING, 5 SELECT DISTINCT, 6 ORDER BY, 7 LIM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9649" y="1892808"/>
            <a:ext cx="5527820" cy="43525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Tipologie di Join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4572000" cy="4363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chemeClr val="bg2"/>
                </a:solidFill>
              </a:rPr>
              <a:t>Quando si uniscono due tabelle, </a:t>
            </a:r>
            <a:r>
              <a:rPr lang="en-US" sz="2100" b="1" dirty="0">
                <a:solidFill>
                  <a:schemeClr val="bg1"/>
                </a:solidFill>
              </a:rPr>
              <a:t>non sempre</a:t>
            </a:r>
            <a:r>
              <a:rPr lang="en-US" sz="2100" dirty="0">
                <a:solidFill>
                  <a:schemeClr val="bg2"/>
                </a:solidFill>
              </a:rPr>
              <a:t> c’è una </a:t>
            </a:r>
            <a:r>
              <a:rPr lang="en-US" sz="2100" b="1" dirty="0">
                <a:solidFill>
                  <a:schemeClr val="bg1"/>
                </a:solidFill>
              </a:rPr>
              <a:t>corrispondenza</a:t>
            </a:r>
            <a:r>
              <a:rPr lang="en-US" sz="2100" dirty="0">
                <a:solidFill>
                  <a:schemeClr val="bg2"/>
                </a:solidFill>
              </a:rPr>
              <a:t> tra i valori delle tuple che si cerca di unire.</a:t>
            </a:r>
            <a:endParaRPr lang="en-US" sz="2100" dirty="0"/>
          </a:p>
          <a:p>
            <a:pPr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chemeClr val="bg2"/>
                </a:solidFill>
              </a:rPr>
              <a:t>La tabella risultante può cambiare in base alla tipologia di JOIN scelta.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FULL/OUTER</a:t>
            </a:r>
            <a:endParaRPr lang="en-US" sz="21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800" dirty="0">
                <a:solidFill>
                  <a:schemeClr val="bg2"/>
                </a:solidFill>
              </a:rPr>
              <a:t>su alcuni DBMS non c’è!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RIGHT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LEFT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INNER</a:t>
            </a:r>
            <a:endParaRPr lang="en-US" sz="21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800" dirty="0">
                <a:solidFill>
                  <a:schemeClr val="bg2"/>
                </a:solidFill>
              </a:rPr>
              <a:t>di solito è quello di default, se non si specifica la tipologia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95185" y="1783080"/>
            <a:ext cx="3902510" cy="2805430"/>
          </a:xfrm>
          <a:prstGeom prst="roundRect">
            <a:avLst>
              <a:gd name="adj" fmla="val 45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Diagrammi di Venn: INNER JOIN, FULL JOIN, LEFT JOIN, RIGHT JO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4913" y="1892808"/>
            <a:ext cx="3683054" cy="25859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586984" y="4826254"/>
            <a:ext cx="5918911" cy="1528826"/>
          </a:xfrm>
          <a:prstGeom prst="roundRect">
            <a:avLst>
              <a:gd name="adj" fmla="val 8373"/>
            </a:avLst>
          </a:prstGeom>
          <a:solidFill>
            <a:schemeClr val="tx2"/>
          </a:solidFill>
          <a:ln w="15875">
            <a:solidFill>
              <a:schemeClr val="accent5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chemeClr val="bg1"/>
                </a:solidFill>
              </a:rPr>
              <a:t>Si possono combinare! Ad esempio: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LEFT + INNER</a:t>
            </a:r>
            <a:endParaRPr lang="en-US" sz="2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RIGHT + OUTER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Tipologie di Join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65937" y="1783080"/>
            <a:ext cx="4885182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LEFT JOIN, RIGHT JOIN, OUTER JOIN, INNER JOIN con query di esemp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665" y="1892808"/>
            <a:ext cx="4665726" cy="43068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60440" y="1783080"/>
            <a:ext cx="5245456" cy="3709597"/>
          </a:xfrm>
          <a:prstGeom prst="roundRect">
            <a:avLst>
              <a:gd name="adj" fmla="val 34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1" descr="ANTI LEFT JOIN, ANTI RIGHT JOIN, ANTI OUTER JOIN con query di esemp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168" y="1892808"/>
            <a:ext cx="5026000" cy="349014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1908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 di Dati Dark">
  <a:themeElements>
    <a:clrScheme name="Basi di Dati Dark">
      <a:dk1>
        <a:srgbClr val="0E0E0E"/>
      </a:dk1>
      <a:lt1>
        <a:srgbClr val="F5F0E6"/>
      </a:lt1>
      <a:dk2>
        <a:srgbClr val="1A1A1A"/>
      </a:dk2>
      <a:lt2>
        <a:srgbClr val="CFC9BE"/>
      </a:lt2>
      <a:accent1>
        <a:srgbClr val="F2B84B"/>
      </a:accent1>
      <a:accent2>
        <a:srgbClr val="7BD88F"/>
      </a:accent2>
      <a:accent3>
        <a:srgbClr val="6CB6FF"/>
      </a:accent3>
      <a:accent4>
        <a:srgbClr val="FF7A6B"/>
      </a:accent4>
      <a:accent5>
        <a:srgbClr val="B69CFF"/>
      </a:accent5>
      <a:accent6>
        <a:srgbClr val="8A847B"/>
      </a:accent6>
      <a:hlink>
        <a:srgbClr val="6CB6FF"/>
      </a:hlink>
      <a:folHlink>
        <a:srgbClr val="B69CFF"/>
      </a:folHlink>
    </a:clrScheme>
    <a:fontScheme name="Basi di Dati Dark">
      <a:majorFont>
        <a:latin typeface="Barlow Condensed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98</Slides>
  <Notes>98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 di Dati</dc:title>
  <dc:subject>PptxGenJS Presentation</dc:subject>
  <dc:creator>Informatica</dc:creator>
  <cp:lastModifiedBy>Informatica</cp:lastModifiedBy>
  <cp:revision>1</cp:revision>
  <dcterms:created xsi:type="dcterms:W3CDTF">2026-10-06T21:01:09Z</dcterms:created>
  <dcterms:modified xsi:type="dcterms:W3CDTF">2026-10-06T21:01:09Z</dcterms:modified>
</cp:coreProperties>
</file>