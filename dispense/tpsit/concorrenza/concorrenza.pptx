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</p:sldIdLst>
  <p:sldSz cy="6858000" cx="9144000"/>
  <p:notesSz cx="6858000" cy="9144000"/>
  <p:embeddedFontLst>
    <p:embeddedFont>
      <p:font typeface="Noto Sans Symbols"/>
      <p:regular r:id="rId87"/>
      <p:bold r:id="rId8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42" Type="http://schemas.openxmlformats.org/officeDocument/2006/relationships/slide" Target="slides/slide37.xml"/><Relationship Id="rId86" Type="http://schemas.openxmlformats.org/officeDocument/2006/relationships/slide" Target="slides/slide81.xml"/><Relationship Id="rId41" Type="http://schemas.openxmlformats.org/officeDocument/2006/relationships/slide" Target="slides/slide36.xml"/><Relationship Id="rId85" Type="http://schemas.openxmlformats.org/officeDocument/2006/relationships/slide" Target="slides/slide80.xml"/><Relationship Id="rId44" Type="http://schemas.openxmlformats.org/officeDocument/2006/relationships/slide" Target="slides/slide39.xml"/><Relationship Id="rId88" Type="http://schemas.openxmlformats.org/officeDocument/2006/relationships/font" Target="fonts/NotoSansSymbols-bold.fntdata"/><Relationship Id="rId43" Type="http://schemas.openxmlformats.org/officeDocument/2006/relationships/slide" Target="slides/slide38.xml"/><Relationship Id="rId87" Type="http://schemas.openxmlformats.org/officeDocument/2006/relationships/font" Target="fonts/NotoSansSymbols-regular.fntdata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4" name="Google Shape;314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2" name="Google Shape;322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0" name="Google Shape;330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8" name="Google Shape;338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7" name="Google Shape;347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5" name="Google Shape;355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3" name="Google Shape;363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9" name="Google Shape;379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7" name="Google Shape;387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5" name="Google Shape;395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4" name="Google Shape;404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2" name="Google Shape;412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1" name="Google Shape;421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8" name="Google Shape;428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8" name="Google Shape;438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6" name="Google Shape;446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2" name="Google Shape;452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2" name="Google Shape;462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9" name="Google Shape;469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7" name="Google Shape;477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6" name="Google Shape;486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6" name="Google Shape;496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4" name="Google Shape;504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2" name="Google Shape;512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0" name="Google Shape;520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8" name="Google Shape;528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6" name="Google Shape;536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4" name="Google Shape;544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2" name="Google Shape;552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0" name="Google Shape;560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8" name="Google Shape;568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6" name="Google Shape;576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5" name="Google Shape;585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5" name="Google Shape;595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8" name="Google Shape;608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7" name="Google Shape;617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7" name="Google Shape;627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5" name="Google Shape;635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6" name="Google Shape;646;p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4" name="Google Shape;654;p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5" name="Google Shape;665;p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5" name="Google Shape;675;p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3" name="Google Shape;683;p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2" name="Google Shape;692;p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0" name="Google Shape;700;p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8" name="Google Shape;708;p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7" name="Google Shape;717;p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5" name="Google Shape;725;p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3" name="Google Shape;733;p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1" name="Google Shape;741;p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9" name="Google Shape;749;p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9" name="Google Shape;759;p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7" name="Google Shape;767;p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7" name="Google Shape;777;p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5" name="Google Shape;785;p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4" name="Google Shape;794;p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2" name="Google Shape;802;p7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0" name="Google Shape;810;p8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8" name="Google Shape;818;p8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6" name="Google Shape;826;p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2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28" name="Google Shape;28;p2"/>
            <p:cNvCxnSpPr/>
            <p:nvPr/>
          </p:nvCxnSpPr>
          <p:spPr>
            <a:xfrm flipH="1" rot="10800000">
              <a:off x="5130830" y="4175605"/>
              <a:ext cx="4022475" cy="2682396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" name="Google Shape;29;p2"/>
            <p:cNvCxnSpPr/>
            <p:nvPr/>
          </p:nvCxnSpPr>
          <p:spPr>
            <a:xfrm>
              <a:off x="7042707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" name="Google Shape;30;p2"/>
            <p:cNvSpPr/>
            <p:nvPr/>
          </p:nvSpPr>
          <p:spPr>
            <a:xfrm>
              <a:off x="6891896" y="1"/>
              <a:ext cx="2269442" cy="6866466"/>
            </a:xfrm>
            <a:custGeom>
              <a:rect b="b" l="l" r="r" t="t"/>
              <a:pathLst>
                <a:path extrusionOk="0" h="6866466" w="2269442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290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205158" y="-8467"/>
              <a:ext cx="1948147" cy="6866467"/>
            </a:xfrm>
            <a:custGeom>
              <a:rect b="b" l="l" r="r" t="t"/>
              <a:pathLst>
                <a:path extrusionOk="0" h="6866467" w="194814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6637896" y="3920066"/>
              <a:ext cx="2513565" cy="2937933"/>
            </a:xfrm>
            <a:custGeom>
              <a:rect b="b" l="l" r="r" t="t"/>
              <a:pathLst>
                <a:path extrusionOk="0" h="3810000" w="3259667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010429" y="-8467"/>
              <a:ext cx="2142876" cy="6866467"/>
            </a:xfrm>
            <a:custGeom>
              <a:rect b="b" l="l" r="r" t="t"/>
              <a:pathLst>
                <a:path extrusionOk="0" h="6866467" w="28532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019"/>
              </a:srgbClr>
            </a:solidFill>
            <a:ln>
              <a:noFill/>
            </a:ln>
          </p:spPr>
        </p:sp>
        <p:sp>
          <p:nvSpPr>
            <p:cNvPr id="34" name="Google Shape;34;p2"/>
            <p:cNvSpPr/>
            <p:nvPr/>
          </p:nvSpPr>
          <p:spPr>
            <a:xfrm>
              <a:off x="8295776" y="-8467"/>
              <a:ext cx="857530" cy="6866467"/>
            </a:xfrm>
            <a:custGeom>
              <a:rect b="b" l="l" r="r" t="t"/>
              <a:pathLst>
                <a:path extrusionOk="0" h="6866467" w="1286933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rgbClr val="BFE471">
                <a:alpha val="6901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077231" y="-8468"/>
              <a:ext cx="1066770" cy="6866467"/>
            </a:xfrm>
            <a:custGeom>
              <a:rect b="b" l="l" r="r" t="t"/>
              <a:pathLst>
                <a:path extrusionOk="0" h="6866467" w="1270244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392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060297" y="4893733"/>
              <a:ext cx="1094086" cy="1964267"/>
            </a:xfrm>
            <a:custGeom>
              <a:rect b="b" l="l" r="r" t="t"/>
              <a:pathLst>
                <a:path extrusionOk="0" h="3268133" w="18203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-8466" y="-8468"/>
              <a:ext cx="863600" cy="5698067"/>
            </a:xfrm>
            <a:custGeom>
              <a:rect b="b" l="l" r="r" t="t"/>
              <a:pathLst>
                <a:path extrusionOk="0" h="5698067" w="863600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3921"/>
              </a:schemeClr>
            </a:solidFill>
            <a:ln>
              <a:noFill/>
            </a:ln>
          </p:spPr>
        </p:sp>
      </p:grpSp>
      <p:sp>
        <p:nvSpPr>
          <p:cNvPr id="38" name="Google Shape;38;p2"/>
          <p:cNvSpPr txBox="1"/>
          <p:nvPr>
            <p:ph type="ctrTitle"/>
          </p:nvPr>
        </p:nvSpPr>
        <p:spPr>
          <a:xfrm>
            <a:off x="1130595" y="2404534"/>
            <a:ext cx="5826719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"/>
          <p:cNvSpPr txBox="1"/>
          <p:nvPr>
            <p:ph idx="1" type="subTitle"/>
          </p:nvPr>
        </p:nvSpPr>
        <p:spPr>
          <a:xfrm>
            <a:off x="1130595" y="4050834"/>
            <a:ext cx="5826719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2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46" name="Google Shape;46;p3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 txBox="1"/>
          <p:nvPr>
            <p:ph type="title"/>
          </p:nvPr>
        </p:nvSpPr>
        <p:spPr>
          <a:xfrm>
            <a:off x="609598" y="2700868"/>
            <a:ext cx="6347715" cy="1826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"/>
          <p:cNvSpPr txBox="1"/>
          <p:nvPr>
            <p:ph idx="1" type="body"/>
          </p:nvPr>
        </p:nvSpPr>
        <p:spPr>
          <a:xfrm>
            <a:off x="609598" y="4527448"/>
            <a:ext cx="6347715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2" name="Google Shape;52;p4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"/>
          <p:cNvSpPr txBox="1"/>
          <p:nvPr>
            <p:ph idx="1" type="body"/>
          </p:nvPr>
        </p:nvSpPr>
        <p:spPr>
          <a:xfrm>
            <a:off x="609599" y="2160983"/>
            <a:ext cx="309067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58" name="Google Shape;58;p5"/>
          <p:cNvSpPr txBox="1"/>
          <p:nvPr>
            <p:ph idx="2" type="body"/>
          </p:nvPr>
        </p:nvSpPr>
        <p:spPr>
          <a:xfrm>
            <a:off x="609599" y="2737246"/>
            <a:ext cx="3090672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9" name="Google Shape;59;p5"/>
          <p:cNvSpPr txBox="1"/>
          <p:nvPr>
            <p:ph idx="3" type="body"/>
          </p:nvPr>
        </p:nvSpPr>
        <p:spPr>
          <a:xfrm>
            <a:off x="3866640" y="2160983"/>
            <a:ext cx="309067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60" name="Google Shape;60;p5"/>
          <p:cNvSpPr txBox="1"/>
          <p:nvPr>
            <p:ph idx="4" type="body"/>
          </p:nvPr>
        </p:nvSpPr>
        <p:spPr>
          <a:xfrm>
            <a:off x="3866640" y="2737246"/>
            <a:ext cx="3090672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1" name="Google Shape;61;p5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 txBox="1"/>
          <p:nvPr>
            <p:ph type="title"/>
          </p:nvPr>
        </p:nvSpPr>
        <p:spPr>
          <a:xfrm>
            <a:off x="609599" y="609600"/>
            <a:ext cx="6347714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6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"/>
          <p:cNvSpPr txBox="1"/>
          <p:nvPr>
            <p:ph type="title"/>
          </p:nvPr>
        </p:nvSpPr>
        <p:spPr>
          <a:xfrm>
            <a:off x="609600" y="609600"/>
            <a:ext cx="6347714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" type="body"/>
          </p:nvPr>
        </p:nvSpPr>
        <p:spPr>
          <a:xfrm>
            <a:off x="609600" y="2160589"/>
            <a:ext cx="3088109" cy="3880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72" name="Google Shape;72;p7"/>
          <p:cNvSpPr txBox="1"/>
          <p:nvPr>
            <p:ph idx="2" type="body"/>
          </p:nvPr>
        </p:nvSpPr>
        <p:spPr>
          <a:xfrm>
            <a:off x="3869204" y="2160590"/>
            <a:ext cx="3088110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73" name="Google Shape;73;p7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7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7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8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8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"/>
          <p:cNvSpPr txBox="1"/>
          <p:nvPr>
            <p:ph type="title"/>
          </p:nvPr>
        </p:nvSpPr>
        <p:spPr>
          <a:xfrm>
            <a:off x="609599" y="1498604"/>
            <a:ext cx="2790182" cy="12784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9"/>
          <p:cNvSpPr txBox="1"/>
          <p:nvPr>
            <p:ph idx="1" type="body"/>
          </p:nvPr>
        </p:nvSpPr>
        <p:spPr>
          <a:xfrm>
            <a:off x="3571275" y="514925"/>
            <a:ext cx="3386037" cy="5526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83" name="Google Shape;83;p9"/>
          <p:cNvSpPr txBox="1"/>
          <p:nvPr>
            <p:ph idx="2" type="body"/>
          </p:nvPr>
        </p:nvSpPr>
        <p:spPr>
          <a:xfrm>
            <a:off x="609599" y="2777069"/>
            <a:ext cx="2790182" cy="2584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40"/>
              <a:buNone/>
              <a:defRPr sz="105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9pPr>
          </a:lstStyle>
          <a:p/>
        </p:txBody>
      </p:sp>
      <p:sp>
        <p:nvSpPr>
          <p:cNvPr id="84" name="Google Shape;84;p9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9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9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"/>
          <p:cNvSpPr txBox="1"/>
          <p:nvPr>
            <p:ph type="title"/>
          </p:nvPr>
        </p:nvSpPr>
        <p:spPr>
          <a:xfrm>
            <a:off x="609599" y="4800600"/>
            <a:ext cx="6347714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0"/>
          <p:cNvSpPr/>
          <p:nvPr>
            <p:ph idx="2" type="pic"/>
          </p:nvPr>
        </p:nvSpPr>
        <p:spPr>
          <a:xfrm>
            <a:off x="609599" y="609600"/>
            <a:ext cx="6347714" cy="3845718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609599" y="5367338"/>
            <a:ext cx="6347714" cy="674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1" name="Google Shape;91;p10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0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1"/>
          <p:cNvSpPr txBox="1"/>
          <p:nvPr>
            <p:ph type="title"/>
          </p:nvPr>
        </p:nvSpPr>
        <p:spPr>
          <a:xfrm>
            <a:off x="609600" y="609600"/>
            <a:ext cx="6347714" cy="34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" type="body"/>
          </p:nvPr>
        </p:nvSpPr>
        <p:spPr>
          <a:xfrm>
            <a:off x="609600" y="4470400"/>
            <a:ext cx="6347714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2"/>
          <p:cNvSpPr txBox="1"/>
          <p:nvPr>
            <p:ph type="title"/>
          </p:nvPr>
        </p:nvSpPr>
        <p:spPr>
          <a:xfrm>
            <a:off x="774885" y="609600"/>
            <a:ext cx="6072182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1101074" y="3632200"/>
            <a:ext cx="54198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2" type="body"/>
          </p:nvPr>
        </p:nvSpPr>
        <p:spPr>
          <a:xfrm>
            <a:off x="609598" y="4470400"/>
            <a:ext cx="6347715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4" name="Google Shape;104;p12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2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07" name="Google Shape;107;p12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it-IT" sz="8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2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it-IT" sz="8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3"/>
          <p:cNvSpPr txBox="1"/>
          <p:nvPr>
            <p:ph type="title"/>
          </p:nvPr>
        </p:nvSpPr>
        <p:spPr>
          <a:xfrm>
            <a:off x="609598" y="1931988"/>
            <a:ext cx="6347715" cy="25954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3"/>
          <p:cNvSpPr txBox="1"/>
          <p:nvPr>
            <p:ph idx="1" type="body"/>
          </p:nvPr>
        </p:nvSpPr>
        <p:spPr>
          <a:xfrm>
            <a:off x="609598" y="4527448"/>
            <a:ext cx="6347715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3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3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"/>
          <p:cNvSpPr txBox="1"/>
          <p:nvPr>
            <p:ph type="title"/>
          </p:nvPr>
        </p:nvSpPr>
        <p:spPr>
          <a:xfrm>
            <a:off x="774885" y="609600"/>
            <a:ext cx="6072182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4"/>
          <p:cNvSpPr txBox="1"/>
          <p:nvPr>
            <p:ph idx="1" type="body"/>
          </p:nvPr>
        </p:nvSpPr>
        <p:spPr>
          <a:xfrm>
            <a:off x="609597" y="4013200"/>
            <a:ext cx="6347716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18" name="Google Shape;118;p14"/>
          <p:cNvSpPr txBox="1"/>
          <p:nvPr>
            <p:ph idx="2" type="body"/>
          </p:nvPr>
        </p:nvSpPr>
        <p:spPr>
          <a:xfrm>
            <a:off x="609598" y="4527448"/>
            <a:ext cx="6347715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4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4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it-IT" sz="8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it-IT" sz="8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/>
          <p:nvPr>
            <p:ph type="title"/>
          </p:nvPr>
        </p:nvSpPr>
        <p:spPr>
          <a:xfrm>
            <a:off x="615848" y="609600"/>
            <a:ext cx="6341465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5"/>
          <p:cNvSpPr txBox="1"/>
          <p:nvPr>
            <p:ph idx="1" type="body"/>
          </p:nvPr>
        </p:nvSpPr>
        <p:spPr>
          <a:xfrm>
            <a:off x="609597" y="4013200"/>
            <a:ext cx="6347716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7" name="Google Shape;127;p15"/>
          <p:cNvSpPr txBox="1"/>
          <p:nvPr>
            <p:ph idx="2" type="body"/>
          </p:nvPr>
        </p:nvSpPr>
        <p:spPr>
          <a:xfrm>
            <a:off x="609598" y="4527448"/>
            <a:ext cx="6347715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8" name="Google Shape;128;p15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5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6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6"/>
          <p:cNvSpPr txBox="1"/>
          <p:nvPr>
            <p:ph idx="1" type="body"/>
          </p:nvPr>
        </p:nvSpPr>
        <p:spPr>
          <a:xfrm rot="5400000">
            <a:off x="1843070" y="927120"/>
            <a:ext cx="3880773" cy="6347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4" name="Google Shape;134;p16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6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6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 txBox="1"/>
          <p:nvPr>
            <p:ph type="title"/>
          </p:nvPr>
        </p:nvSpPr>
        <p:spPr>
          <a:xfrm rot="5400000">
            <a:off x="3840993" y="2745919"/>
            <a:ext cx="5251451" cy="978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7"/>
          <p:cNvSpPr txBox="1"/>
          <p:nvPr>
            <p:ph idx="1" type="body"/>
          </p:nvPr>
        </p:nvSpPr>
        <p:spPr>
          <a:xfrm rot="5400000">
            <a:off x="581386" y="637812"/>
            <a:ext cx="5251451" cy="51950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0" name="Google Shape;140;p17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7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7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11" name="Google Shape;11;p1"/>
            <p:cNvSpPr/>
            <p:nvPr/>
          </p:nvSpPr>
          <p:spPr>
            <a:xfrm>
              <a:off x="-8467" y="4013200"/>
              <a:ext cx="457200" cy="2853267"/>
            </a:xfrm>
            <a:custGeom>
              <a:rect b="b" l="l" r="r" t="t"/>
              <a:pathLst>
                <a:path extrusionOk="0" h="2853267" w="457200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392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" name="Google Shape;12;p1"/>
            <p:cNvCxnSpPr/>
            <p:nvPr/>
          </p:nvCxnSpPr>
          <p:spPr>
            <a:xfrm flipH="1" rot="10800000">
              <a:off x="5130830" y="4175605"/>
              <a:ext cx="4022475" cy="2682396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" name="Google Shape;13;p1"/>
            <p:cNvCxnSpPr/>
            <p:nvPr/>
          </p:nvCxnSpPr>
          <p:spPr>
            <a:xfrm>
              <a:off x="7042707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" name="Google Shape;14;p1"/>
            <p:cNvSpPr/>
            <p:nvPr/>
          </p:nvSpPr>
          <p:spPr>
            <a:xfrm>
              <a:off x="6891896" y="1"/>
              <a:ext cx="2269442" cy="6866466"/>
            </a:xfrm>
            <a:custGeom>
              <a:rect b="b" l="l" r="r" t="t"/>
              <a:pathLst>
                <a:path extrusionOk="0" h="6866466" w="2269442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290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7205158" y="-8467"/>
              <a:ext cx="1948147" cy="6866467"/>
            </a:xfrm>
            <a:custGeom>
              <a:rect b="b" l="l" r="r" t="t"/>
              <a:pathLst>
                <a:path extrusionOk="0" h="6866467" w="194814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6637896" y="3920066"/>
              <a:ext cx="2513565" cy="2937933"/>
            </a:xfrm>
            <a:custGeom>
              <a:rect b="b" l="l" r="r" t="t"/>
              <a:pathLst>
                <a:path extrusionOk="0" h="3810000" w="3259667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7010429" y="-8467"/>
              <a:ext cx="2142876" cy="6866467"/>
            </a:xfrm>
            <a:custGeom>
              <a:rect b="b" l="l" r="r" t="t"/>
              <a:pathLst>
                <a:path extrusionOk="0" h="6866467" w="28532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019"/>
              </a:srgbClr>
            </a:solidFill>
            <a:ln>
              <a:noFill/>
            </a:ln>
          </p:spPr>
        </p:sp>
        <p:sp>
          <p:nvSpPr>
            <p:cNvPr id="18" name="Google Shape;18;p1"/>
            <p:cNvSpPr/>
            <p:nvPr/>
          </p:nvSpPr>
          <p:spPr>
            <a:xfrm>
              <a:off x="8295776" y="-8467"/>
              <a:ext cx="857530" cy="6866467"/>
            </a:xfrm>
            <a:custGeom>
              <a:rect b="b" l="l" r="r" t="t"/>
              <a:pathLst>
                <a:path extrusionOk="0" h="6866467" w="1286933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rgbClr val="BFE471">
                <a:alpha val="6901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8077231" y="-8468"/>
              <a:ext cx="1066770" cy="6866467"/>
            </a:xfrm>
            <a:custGeom>
              <a:rect b="b" l="l" r="r" t="t"/>
              <a:pathLst>
                <a:path extrusionOk="0" h="6866467" w="1270244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392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8060297" y="4893733"/>
              <a:ext cx="1094086" cy="1964267"/>
            </a:xfrm>
            <a:custGeom>
              <a:rect b="b" l="l" r="r" t="t"/>
              <a:pathLst>
                <a:path extrusionOk="0" h="3268133" w="18203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1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988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9719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8956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956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956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956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89559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89559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3" name="Google Shape;23;p1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4" name="Google Shape;24;p1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Relationship Id="rId4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about:blank" TargetMode="External"/><Relationship Id="rId4" Type="http://schemas.openxmlformats.org/officeDocument/2006/relationships/hyperlink" Target="about:blank" TargetMode="External"/><Relationship Id="rId5" Type="http://schemas.openxmlformats.org/officeDocument/2006/relationships/hyperlink" Target="about:blank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9.png"/><Relationship Id="rId4" Type="http://schemas.openxmlformats.org/officeDocument/2006/relationships/image" Target="../media/image3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0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6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9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2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0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6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0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3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1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3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55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49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4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43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48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45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58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0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52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57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56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65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67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66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62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64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61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68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 txBox="1"/>
          <p:nvPr>
            <p:ph type="ctrTitle"/>
          </p:nvPr>
        </p:nvSpPr>
        <p:spPr>
          <a:xfrm>
            <a:off x="1130595" y="2404534"/>
            <a:ext cx="5826719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</a:pPr>
            <a:r>
              <a:rPr lang="it-IT"/>
              <a:t>CONCORRENZA TRA PROCESSI</a:t>
            </a:r>
            <a:endParaRPr/>
          </a:p>
        </p:txBody>
      </p:sp>
      <p:sp>
        <p:nvSpPr>
          <p:cNvPr id="148" name="Google Shape;148;p18"/>
          <p:cNvSpPr txBox="1"/>
          <p:nvPr>
            <p:ph idx="1" type="subTitle"/>
          </p:nvPr>
        </p:nvSpPr>
        <p:spPr>
          <a:xfrm>
            <a:off x="1130595" y="4050834"/>
            <a:ext cx="5826719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rPr b="0" lang="it-IT" cap="none"/>
              <a:t>TPSIT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None/>
            </a:pPr>
            <a:r>
              <a:rPr b="0" lang="it-IT" cap="none"/>
              <a:t>Prof.ssa </a:t>
            </a:r>
            <a:r>
              <a:rPr lang="it-IT"/>
              <a:t>Piersigilli Francesca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Indice</a:t>
            </a:r>
            <a:endParaRPr/>
          </a:p>
        </p:txBody>
      </p:sp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Definizioni iniziali (ripasso)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Concorrenza tra processi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Sincronizzazione</a:t>
            </a:r>
            <a:endParaRPr/>
          </a:p>
        </p:txBody>
      </p:sp>
      <p:sp>
        <p:nvSpPr>
          <p:cNvPr id="155" name="Google Shape;155;p19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descr="http://m2.paperblog.com/i/129/1297131/condivisione-stampante-condividere-stampante--L-AubtmB.jpeg" id="156" name="Google Shape;156;p1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323528" y="332656"/>
            <a:ext cx="6347715" cy="6840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 sz="3600"/>
              <a:t>Definizioni iniziali</a:t>
            </a:r>
            <a:endParaRPr sz="3600"/>
          </a:p>
        </p:txBody>
      </p:sp>
      <p:sp>
        <p:nvSpPr>
          <p:cNvPr id="162" name="Google Shape;162;p20"/>
          <p:cNvSpPr txBox="1"/>
          <p:nvPr>
            <p:ph idx="1" type="body"/>
          </p:nvPr>
        </p:nvSpPr>
        <p:spPr>
          <a:xfrm>
            <a:off x="609599" y="1345722"/>
            <a:ext cx="6347715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Font typeface="Noto Sans Symbols"/>
              <a:buChar char="⮚"/>
            </a:pPr>
            <a:r>
              <a:rPr lang="it-IT" sz="2400"/>
              <a:t>Programma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Font typeface="Noto Sans Symbols"/>
              <a:buChar char="⮚"/>
            </a:pPr>
            <a:r>
              <a:rPr lang="it-IT" sz="2400"/>
              <a:t>Processo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Font typeface="Noto Sans Symbols"/>
              <a:buChar char="⮚"/>
            </a:pPr>
            <a:r>
              <a:rPr lang="it-IT" sz="2400"/>
              <a:t>Risorsa</a:t>
            </a:r>
            <a:endParaRPr sz="2400"/>
          </a:p>
        </p:txBody>
      </p:sp>
      <p:sp>
        <p:nvSpPr>
          <p:cNvPr id="163" name="Google Shape;163;p20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755576" y="3135755"/>
            <a:ext cx="2520280" cy="2677656"/>
          </a:xfrm>
          <a:prstGeom prst="rect">
            <a:avLst/>
          </a:prstGeom>
          <a:gradFill>
            <a:gsLst>
              <a:gs pos="0">
                <a:srgbClr val="BDD5B6"/>
              </a:gs>
              <a:gs pos="88000">
                <a:srgbClr val="74AC5E"/>
              </a:gs>
              <a:gs pos="100000">
                <a:srgbClr val="74AC5E"/>
              </a:gs>
            </a:gsLst>
            <a:lin ang="5400000" scaled="0"/>
          </a:gradFill>
          <a:ln cap="rnd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-IT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#include &lt;stdio.h&gt;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-IT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main(void)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-IT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-IT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int v[3],i,d;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-IT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v[0]=3;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-IT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v[1]=2;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-IT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v[2]=5;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-IT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d=5;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-IT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for (i=0;i&lt;3;i=i+1)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-IT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(v[i]==d)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-IT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printf("%d",i);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-IT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65" name="Google Shape;16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50539" y="2745594"/>
            <a:ext cx="4643470" cy="2357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1"/>
          <p:cNvSpPr txBox="1"/>
          <p:nvPr>
            <p:ph type="title"/>
          </p:nvPr>
        </p:nvSpPr>
        <p:spPr>
          <a:xfrm>
            <a:off x="609599" y="609600"/>
            <a:ext cx="6347700" cy="13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Processo</a:t>
            </a:r>
            <a:endParaRPr/>
          </a:p>
        </p:txBody>
      </p:sp>
      <p:sp>
        <p:nvSpPr>
          <p:cNvPr id="171" name="Google Shape;171;p21"/>
          <p:cNvSpPr txBox="1"/>
          <p:nvPr>
            <p:ph idx="1" type="body"/>
          </p:nvPr>
        </p:nvSpPr>
        <p:spPr>
          <a:xfrm>
            <a:off x="301752" y="1527048"/>
            <a:ext cx="3550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Sequenza di azioni che il sistema esegue durante l’esecuzione del</a:t>
            </a:r>
            <a:r>
              <a:rPr b="1" lang="it-IT">
                <a:solidFill>
                  <a:srgbClr val="FF0000"/>
                </a:solidFill>
              </a:rPr>
              <a:t> programma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Task manager: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rPr lang="it-IT"/>
              <a:t>Ctrl + Shift + Esc</a:t>
            </a:r>
            <a:endParaRPr/>
          </a:p>
        </p:txBody>
      </p:sp>
      <p:sp>
        <p:nvSpPr>
          <p:cNvPr id="172" name="Google Shape;172;p21"/>
          <p:cNvSpPr txBox="1"/>
          <p:nvPr>
            <p:ph idx="12" type="sldNum"/>
          </p:nvPr>
        </p:nvSpPr>
        <p:spPr>
          <a:xfrm>
            <a:off x="6444676" y="6041363"/>
            <a:ext cx="512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173" name="Google Shape;173;p21"/>
          <p:cNvPicPr preferRelativeResize="0"/>
          <p:nvPr/>
        </p:nvPicPr>
        <p:blipFill rotWithShape="1">
          <a:blip r:embed="rId3">
            <a:alphaModFix/>
          </a:blip>
          <a:srcRect b="31506" l="0" r="53692" t="0"/>
          <a:stretch/>
        </p:blipFill>
        <p:spPr>
          <a:xfrm>
            <a:off x="3851920" y="1700808"/>
            <a:ext cx="5075858" cy="4221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 txBox="1"/>
          <p:nvPr>
            <p:ph type="title"/>
          </p:nvPr>
        </p:nvSpPr>
        <p:spPr>
          <a:xfrm>
            <a:off x="609599" y="609600"/>
            <a:ext cx="6347700" cy="13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Risorsa</a:t>
            </a:r>
            <a:endParaRPr/>
          </a:p>
        </p:txBody>
      </p:sp>
      <p:sp>
        <p:nvSpPr>
          <p:cNvPr id="179" name="Google Shape;179;p22"/>
          <p:cNvSpPr txBox="1"/>
          <p:nvPr>
            <p:ph idx="1" type="body"/>
          </p:nvPr>
        </p:nvSpPr>
        <p:spPr>
          <a:xfrm>
            <a:off x="609598" y="1556792"/>
            <a:ext cx="6698700" cy="44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it-IT"/>
              <a:t>Una risorsa è qualsiasi elemento di natura hardware o software </a:t>
            </a:r>
            <a:r>
              <a:rPr b="1" lang="it-IT">
                <a:solidFill>
                  <a:srgbClr val="FF0000"/>
                </a:solidFill>
              </a:rPr>
              <a:t>condiviso dai processi</a:t>
            </a:r>
            <a:r>
              <a:rPr lang="it-IT"/>
              <a:t>, necessaria alla loro creazione ed al loro avanzamento</a:t>
            </a:r>
            <a:endParaRPr/>
          </a:p>
        </p:txBody>
      </p:sp>
      <p:sp>
        <p:nvSpPr>
          <p:cNvPr id="180" name="Google Shape;180;p22"/>
          <p:cNvSpPr txBox="1"/>
          <p:nvPr>
            <p:ph idx="11" type="ftr"/>
          </p:nvPr>
        </p:nvSpPr>
        <p:spPr>
          <a:xfrm>
            <a:off x="609599" y="6041363"/>
            <a:ext cx="462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181" name="Google Shape;181;p22"/>
          <p:cNvSpPr txBox="1"/>
          <p:nvPr>
            <p:ph idx="12" type="sldNum"/>
          </p:nvPr>
        </p:nvSpPr>
        <p:spPr>
          <a:xfrm>
            <a:off x="6444676" y="6041363"/>
            <a:ext cx="512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182" name="Google Shape;18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2625" y="2440963"/>
            <a:ext cx="2160240" cy="36004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  <p:pic>
        <p:nvPicPr>
          <p:cNvPr id="183" name="Google Shape;18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2239" y="4016320"/>
            <a:ext cx="1301977" cy="1273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3468" y="3668048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"/>
          <p:cNvSpPr txBox="1"/>
          <p:nvPr>
            <p:ph type="title"/>
          </p:nvPr>
        </p:nvSpPr>
        <p:spPr>
          <a:xfrm>
            <a:off x="353280" y="548680"/>
            <a:ext cx="6347715" cy="8104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</a:pPr>
            <a:r>
              <a:rPr lang="it-IT"/>
              <a:t>Concorrenza tra processi</a:t>
            </a:r>
            <a:endParaRPr/>
          </a:p>
        </p:txBody>
      </p:sp>
      <p:sp>
        <p:nvSpPr>
          <p:cNvPr id="190" name="Google Shape;190;p23"/>
          <p:cNvSpPr txBox="1"/>
          <p:nvPr>
            <p:ph idx="1" type="body"/>
          </p:nvPr>
        </p:nvSpPr>
        <p:spPr>
          <a:xfrm>
            <a:off x="365768" y="1694467"/>
            <a:ext cx="6347715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⮚"/>
            </a:pPr>
            <a:r>
              <a:rPr lang="it-IT"/>
              <a:t>Processi disgiunti e congiunti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Noto Sans Symbols"/>
              <a:buChar char="⮚"/>
            </a:pPr>
            <a:r>
              <a:rPr lang="it-IT"/>
              <a:t>Race condition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Noto Sans Symbols"/>
              <a:buChar char="⮚"/>
            </a:pPr>
            <a:r>
              <a:rPr lang="it-IT"/>
              <a:t>Condizioni di concorrenza</a:t>
            </a:r>
            <a:endParaRPr/>
          </a:p>
        </p:txBody>
      </p:sp>
      <p:sp>
        <p:nvSpPr>
          <p:cNvPr id="191" name="Google Shape;191;p23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192" name="Google Shape;192;p23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193" name="Google Shape;19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7984" y="2996952"/>
            <a:ext cx="3028194" cy="1701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576" y="4071628"/>
            <a:ext cx="2884036" cy="1547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 txBox="1"/>
          <p:nvPr>
            <p:ph type="title"/>
          </p:nvPr>
        </p:nvSpPr>
        <p:spPr>
          <a:xfrm>
            <a:off x="609599" y="609600"/>
            <a:ext cx="7418785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Definizione di concorrenza 1/2</a:t>
            </a:r>
            <a:endParaRPr/>
          </a:p>
        </p:txBody>
      </p:sp>
      <p:sp>
        <p:nvSpPr>
          <p:cNvPr id="200" name="Google Shape;200;p24"/>
          <p:cNvSpPr txBox="1"/>
          <p:nvPr>
            <p:ph idx="1" type="body"/>
          </p:nvPr>
        </p:nvSpPr>
        <p:spPr>
          <a:xfrm>
            <a:off x="609598" y="1390032"/>
            <a:ext cx="698673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it-IT"/>
              <a:t>Nel mondo reale: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it-IT"/>
              <a:t>più persone collaborano per il raggiungimento di uno stesso obiettivo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it-IT"/>
              <a:t>un lavoro complesso si conclude prima se più soggetti collaborano tra loro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it-IT"/>
              <a:t>le attività sviluppate da più persone possono essere indipendenti o interferenti in caso servano risorse comuni</a:t>
            </a:r>
            <a:endParaRPr/>
          </a:p>
        </p:txBody>
      </p:sp>
      <p:sp>
        <p:nvSpPr>
          <p:cNvPr id="201" name="Google Shape;201;p24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202" name="Google Shape;202;p24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descr="aiutanti,aiutare,aiuti,arrampicatori,escursionisti,Fumetti,gente,Gesti,mano in aiuto,Persone,persone con zaino,preparare lo zaino,Screen Beans®,soccorrere,sport,svago,tempo libero,zaini" id="203" name="Google Shape;203;p2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04" name="Google Shape;20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5584" y="4005064"/>
            <a:ext cx="2734766" cy="19112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/>
          <p:cNvSpPr txBox="1"/>
          <p:nvPr>
            <p:ph type="title"/>
          </p:nvPr>
        </p:nvSpPr>
        <p:spPr>
          <a:xfrm>
            <a:off x="609599" y="609600"/>
            <a:ext cx="6914729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Definizione di concorrenza 2/2</a:t>
            </a:r>
            <a:endParaRPr/>
          </a:p>
        </p:txBody>
      </p:sp>
      <p:sp>
        <p:nvSpPr>
          <p:cNvPr id="210" name="Google Shape;210;p25"/>
          <p:cNvSpPr txBox="1"/>
          <p:nvPr>
            <p:ph idx="1" type="body"/>
          </p:nvPr>
        </p:nvSpPr>
        <p:spPr>
          <a:xfrm>
            <a:off x="609600" y="1484784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Concorrenza tra due o più processi: condivisione di risorse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E’ necessario: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Noto Sans Symbols"/>
              <a:buChar char="▪"/>
            </a:pPr>
            <a:r>
              <a:rPr lang="it-IT"/>
              <a:t>fornire meccanismi per creare, sospendere, terminare i processi in esecuzione, </a:t>
            </a:r>
            <a:r>
              <a:rPr b="1" lang="it-IT">
                <a:solidFill>
                  <a:srgbClr val="C00000"/>
                </a:solidFill>
              </a:rPr>
              <a:t>garantendo che tutti abbiano le stesse opportunità </a:t>
            </a:r>
            <a:r>
              <a:rPr lang="it-IT"/>
              <a:t>di avanzare il più velocemente possibile;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Noto Sans Symbols"/>
              <a:buChar char="▪"/>
            </a:pPr>
            <a:r>
              <a:rPr b="1" lang="it-IT">
                <a:solidFill>
                  <a:srgbClr val="7030A0"/>
                </a:solidFill>
              </a:rPr>
              <a:t>sincronizzare l’avanzamento </a:t>
            </a:r>
            <a:r>
              <a:rPr lang="it-IT"/>
              <a:t>in modo da permettere lo scambio di informazioni;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Noto Sans Symbols"/>
              <a:buChar char="▪"/>
            </a:pPr>
            <a:r>
              <a:rPr lang="it-IT"/>
              <a:t>fare in modo che </a:t>
            </a:r>
            <a:r>
              <a:rPr lang="it-IT">
                <a:solidFill>
                  <a:srgbClr val="00B050"/>
                </a:solidFill>
              </a:rPr>
              <a:t>non interagiscano inavvertitamente </a:t>
            </a:r>
            <a:r>
              <a:rPr lang="it-IT"/>
              <a:t>tra loro;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Noto Sans Symbols"/>
              <a:buChar char="▪"/>
            </a:pPr>
            <a:r>
              <a:rPr lang="it-IT"/>
              <a:t>gestire anche in maniera «manuale» i vari programmi.</a:t>
            </a:r>
            <a:endParaRPr/>
          </a:p>
        </p:txBody>
      </p:sp>
      <p:sp>
        <p:nvSpPr>
          <p:cNvPr id="211" name="Google Shape;211;p25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212" name="Google Shape;212;p25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Tipi di processo</a:t>
            </a:r>
            <a:endParaRPr/>
          </a:p>
        </p:txBody>
      </p:sp>
      <p:sp>
        <p:nvSpPr>
          <p:cNvPr id="218" name="Google Shape;218;p26"/>
          <p:cNvSpPr txBox="1"/>
          <p:nvPr>
            <p:ph idx="1" type="body"/>
          </p:nvPr>
        </p:nvSpPr>
        <p:spPr>
          <a:xfrm>
            <a:off x="575237" y="1548521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16"/>
              <a:buNone/>
            </a:pPr>
            <a:r>
              <a:rPr lang="it-IT" sz="1395"/>
              <a:t>Prepariamo il tiramisù: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116"/>
              <a:buChar char="►"/>
            </a:pPr>
            <a:r>
              <a:rPr lang="it-IT" sz="1395"/>
              <a:t>ricetta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116"/>
              <a:buChar char="►"/>
            </a:pPr>
            <a:r>
              <a:rPr lang="it-IT" sz="1395"/>
              <a:t>ingredienti, terrine, frullatore, …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116"/>
              <a:buChar char="►"/>
            </a:pPr>
            <a:r>
              <a:rPr lang="it-IT" sz="1395"/>
              <a:t>umano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116"/>
              <a:buChar char="►"/>
            </a:pPr>
            <a:r>
              <a:rPr lang="it-IT" sz="1395"/>
              <a:t>atto di preparazione del dolce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116"/>
              <a:buNone/>
            </a:pPr>
            <a:r>
              <a:t/>
            </a:r>
            <a:endParaRPr sz="1395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116"/>
              <a:buNone/>
            </a:pPr>
            <a:r>
              <a:rPr lang="it-IT" sz="1395"/>
              <a:t>Se più umani preparano ciascuno un tiramisù, seguendo la stessa ricetta, ma con risorse proprie, abbiamo concorrenza (parallelismo reale)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116"/>
              <a:buNone/>
            </a:pPr>
            <a:r>
              <a:rPr lang="it-IT" sz="1395"/>
              <a:t>Se un singolo umano sfrutta i tempi di attesa per preparare più torte, abbiamo concorrenza (parallelismo apparente)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116"/>
              <a:buNone/>
            </a:pPr>
            <a:r>
              <a:rPr lang="it-IT" sz="1395"/>
              <a:t>Se più umani preparano ciascuno un tiramisù, seguendo la stessa ricetta e usando le stesse risorse, siamo di fronte a interferenza (parallelismo reale)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116"/>
              <a:buNone/>
            </a:pPr>
            <a:r>
              <a:rPr lang="it-IT" sz="1395"/>
              <a:t>Se più umani preparano lo stesso dolce, abbiamo cooperazione</a:t>
            </a:r>
            <a:endParaRPr sz="1395"/>
          </a:p>
        </p:txBody>
      </p:sp>
      <p:sp>
        <p:nvSpPr>
          <p:cNvPr id="219" name="Google Shape;219;p26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220" name="Google Shape;220;p26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7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Processi disgiunti e congiunti </a:t>
            </a:r>
            <a:endParaRPr/>
          </a:p>
        </p:txBody>
      </p:sp>
      <p:sp>
        <p:nvSpPr>
          <p:cNvPr id="226" name="Google Shape;226;p27"/>
          <p:cNvSpPr txBox="1"/>
          <p:nvPr>
            <p:ph idx="1" type="body"/>
          </p:nvPr>
        </p:nvSpPr>
        <p:spPr>
          <a:xfrm>
            <a:off x="609599" y="1700808"/>
            <a:ext cx="309067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it-IT"/>
              <a:t>Processi disgiunti</a:t>
            </a:r>
            <a:endParaRPr/>
          </a:p>
        </p:txBody>
      </p:sp>
      <p:sp>
        <p:nvSpPr>
          <p:cNvPr id="227" name="Google Shape;227;p27"/>
          <p:cNvSpPr txBox="1"/>
          <p:nvPr>
            <p:ph idx="3" type="body"/>
          </p:nvPr>
        </p:nvSpPr>
        <p:spPr>
          <a:xfrm>
            <a:off x="4721688" y="3408826"/>
            <a:ext cx="309067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it-IT"/>
              <a:t>Processi congiunti</a:t>
            </a:r>
            <a:endParaRPr/>
          </a:p>
        </p:txBody>
      </p:sp>
      <p:sp>
        <p:nvSpPr>
          <p:cNvPr id="228" name="Google Shape;228;p27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229" name="Google Shape;229;p27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30" name="Google Shape;230;p27"/>
          <p:cNvSpPr/>
          <p:nvPr/>
        </p:nvSpPr>
        <p:spPr>
          <a:xfrm>
            <a:off x="179512" y="2503230"/>
            <a:ext cx="1800200" cy="1296144"/>
          </a:xfrm>
          <a:prstGeom prst="ellipse">
            <a:avLst/>
          </a:prstGeom>
          <a:gradFill>
            <a:gsLst>
              <a:gs pos="0">
                <a:srgbClr val="62A541"/>
              </a:gs>
              <a:gs pos="78000">
                <a:srgbClr val="4C911E"/>
              </a:gs>
              <a:gs pos="100000">
                <a:srgbClr val="4C911E"/>
              </a:gs>
            </a:gsLst>
            <a:lin ang="5400000" scaled="0"/>
          </a:gradFill>
          <a:ln cap="rnd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3411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Processo A</a:t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1" name="Google Shape;231;p27"/>
          <p:cNvSpPr/>
          <p:nvPr/>
        </p:nvSpPr>
        <p:spPr>
          <a:xfrm>
            <a:off x="4499992" y="4221088"/>
            <a:ext cx="1800200" cy="1296144"/>
          </a:xfrm>
          <a:prstGeom prst="ellipse">
            <a:avLst/>
          </a:prstGeom>
          <a:gradFill>
            <a:gsLst>
              <a:gs pos="0">
                <a:srgbClr val="62A541"/>
              </a:gs>
              <a:gs pos="78000">
                <a:srgbClr val="4C911E"/>
              </a:gs>
              <a:gs pos="100000">
                <a:srgbClr val="4C911E"/>
              </a:gs>
            </a:gsLst>
            <a:lin ang="5400000" scaled="0"/>
          </a:gradFill>
          <a:ln cap="rnd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3411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Processo A</a:t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2" name="Google Shape;232;p27"/>
          <p:cNvSpPr/>
          <p:nvPr/>
        </p:nvSpPr>
        <p:spPr>
          <a:xfrm>
            <a:off x="6012160" y="4221088"/>
            <a:ext cx="1800200" cy="1296144"/>
          </a:xfrm>
          <a:prstGeom prst="ellipse">
            <a:avLst/>
          </a:prstGeom>
          <a:solidFill>
            <a:srgbClr val="79BB7A">
              <a:alpha val="61176"/>
            </a:srgbClr>
          </a:solidFill>
          <a:ln cap="rnd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3411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Processo B</a:t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3" name="Google Shape;233;p27"/>
          <p:cNvSpPr/>
          <p:nvPr/>
        </p:nvSpPr>
        <p:spPr>
          <a:xfrm>
            <a:off x="2267744" y="2503230"/>
            <a:ext cx="1800200" cy="1296144"/>
          </a:xfrm>
          <a:prstGeom prst="ellipse">
            <a:avLst/>
          </a:prstGeom>
          <a:solidFill>
            <a:srgbClr val="79BB7A">
              <a:alpha val="61176"/>
            </a:srgbClr>
          </a:solidFill>
          <a:ln cap="rnd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3411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Processo B</a:t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8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Riassumendo…</a:t>
            </a:r>
            <a:endParaRPr/>
          </a:p>
        </p:txBody>
      </p:sp>
      <p:pic>
        <p:nvPicPr>
          <p:cNvPr id="239" name="Google Shape;239;p28"/>
          <p:cNvPicPr preferRelativeResize="0"/>
          <p:nvPr/>
        </p:nvPicPr>
        <p:blipFill rotWithShape="1">
          <a:blip r:embed="rId3">
            <a:alphaModFix/>
          </a:blip>
          <a:srcRect b="8651" l="16925" r="22437" t="28990"/>
          <a:stretch/>
        </p:blipFill>
        <p:spPr>
          <a:xfrm>
            <a:off x="467544" y="1628800"/>
            <a:ext cx="6849895" cy="3960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9"/>
          <p:cNvSpPr txBox="1"/>
          <p:nvPr>
            <p:ph type="title"/>
          </p:nvPr>
        </p:nvSpPr>
        <p:spPr>
          <a:xfrm>
            <a:off x="609599" y="609600"/>
            <a:ext cx="6347713" cy="875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Un semplice esempio</a:t>
            </a:r>
            <a:endParaRPr/>
          </a:p>
        </p:txBody>
      </p:sp>
      <p:sp>
        <p:nvSpPr>
          <p:cNvPr id="245" name="Google Shape;245;p29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246" name="Google Shape;246;p29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247" name="Google Shape;247;p29"/>
          <p:cNvPicPr preferRelativeResize="0"/>
          <p:nvPr/>
        </p:nvPicPr>
        <p:blipFill rotWithShape="1">
          <a:blip r:embed="rId3">
            <a:alphaModFix/>
          </a:blip>
          <a:srcRect b="26189" l="25586" r="27162" t="28990"/>
          <a:stretch/>
        </p:blipFill>
        <p:spPr>
          <a:xfrm>
            <a:off x="674569" y="1628800"/>
            <a:ext cx="6633737" cy="35379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0"/>
          <p:cNvSpPr txBox="1"/>
          <p:nvPr>
            <p:ph type="title"/>
          </p:nvPr>
        </p:nvSpPr>
        <p:spPr>
          <a:xfrm>
            <a:off x="609599" y="404664"/>
            <a:ext cx="6347713" cy="587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Trebuchet MS"/>
              <a:buNone/>
            </a:pPr>
            <a:r>
              <a:rPr lang="it-IT" sz="3200"/>
              <a:t>Scenario 1: multiprogramming (corretto)</a:t>
            </a:r>
            <a:endParaRPr sz="3200"/>
          </a:p>
        </p:txBody>
      </p:sp>
      <p:sp>
        <p:nvSpPr>
          <p:cNvPr id="253" name="Google Shape;253;p30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254" name="Google Shape;254;p30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255" name="Google Shape;255;p30"/>
          <p:cNvPicPr preferRelativeResize="0"/>
          <p:nvPr/>
        </p:nvPicPr>
        <p:blipFill rotWithShape="1">
          <a:blip r:embed="rId3">
            <a:alphaModFix/>
          </a:blip>
          <a:srcRect b="33192" l="21650" r="27951" t="28990"/>
          <a:stretch/>
        </p:blipFill>
        <p:spPr>
          <a:xfrm>
            <a:off x="606226" y="2132856"/>
            <a:ext cx="6486054" cy="2736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1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261" name="Google Shape;261;p31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62" name="Google Shape;262;p31"/>
          <p:cNvSpPr txBox="1"/>
          <p:nvPr>
            <p:ph type="title"/>
          </p:nvPr>
        </p:nvSpPr>
        <p:spPr>
          <a:xfrm>
            <a:off x="609599" y="404664"/>
            <a:ext cx="6347713" cy="587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Trebuchet MS"/>
              <a:buNone/>
            </a:pPr>
            <a:r>
              <a:rPr lang="it-IT" sz="3200"/>
              <a:t>Scenario 2: multiprogramming (errato)</a:t>
            </a:r>
            <a:endParaRPr sz="3200"/>
          </a:p>
        </p:txBody>
      </p:sp>
      <p:pic>
        <p:nvPicPr>
          <p:cNvPr id="263" name="Google Shape;263;p31"/>
          <p:cNvPicPr preferRelativeResize="0"/>
          <p:nvPr/>
        </p:nvPicPr>
        <p:blipFill rotWithShape="1">
          <a:blip r:embed="rId3">
            <a:alphaModFix/>
          </a:blip>
          <a:srcRect b="23385" l="21651" r="25585" t="24789"/>
          <a:stretch/>
        </p:blipFill>
        <p:spPr>
          <a:xfrm>
            <a:off x="724438" y="1844824"/>
            <a:ext cx="5998072" cy="3312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2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269" name="Google Shape;269;p32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270" name="Google Shape;270;p32"/>
          <p:cNvPicPr preferRelativeResize="0"/>
          <p:nvPr/>
        </p:nvPicPr>
        <p:blipFill rotWithShape="1">
          <a:blip r:embed="rId3">
            <a:alphaModFix/>
          </a:blip>
          <a:srcRect b="20585" l="22438" r="26374" t="26189"/>
          <a:stretch/>
        </p:blipFill>
        <p:spPr>
          <a:xfrm>
            <a:off x="755576" y="1988840"/>
            <a:ext cx="5789062" cy="3384376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2"/>
          <p:cNvSpPr txBox="1"/>
          <p:nvPr>
            <p:ph type="title"/>
          </p:nvPr>
        </p:nvSpPr>
        <p:spPr>
          <a:xfrm>
            <a:off x="609599" y="404664"/>
            <a:ext cx="6347713" cy="587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Trebuchet MS"/>
              <a:buNone/>
            </a:pPr>
            <a:r>
              <a:rPr lang="it-IT" sz="3200"/>
              <a:t>Scenario 3: multiprocessing (errato)</a:t>
            </a:r>
            <a:endParaRPr sz="3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3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Alcune considerazioni</a:t>
            </a:r>
            <a:endParaRPr/>
          </a:p>
        </p:txBody>
      </p:sp>
      <p:sp>
        <p:nvSpPr>
          <p:cNvPr id="277" name="Google Shape;277;p33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278" name="Google Shape;278;p33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79" name="Google Shape;279;p33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Non vi è sostanziale differenza tra i problemi relativi al multiprogramming e multiprocessing (si ipotizza che sia presente un «processore ideale» per ogni processo)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I problemi derivano dal fatto che: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Arial"/>
              <a:buChar char="•"/>
            </a:pPr>
            <a:r>
              <a:rPr lang="it-IT"/>
              <a:t>non è possibile predire gli istanti temporali in cui vengono eseguite le istruzioni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Arial"/>
              <a:buChar char="•"/>
            </a:pPr>
            <a:r>
              <a:rPr lang="it-IT"/>
              <a:t>i due processi accedono ad una o più risosrse condivise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4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Race condition</a:t>
            </a:r>
            <a:endParaRPr/>
          </a:p>
        </p:txBody>
      </p:sp>
      <p:sp>
        <p:nvSpPr>
          <p:cNvPr id="285" name="Google Shape;285;p34"/>
          <p:cNvSpPr txBox="1"/>
          <p:nvPr>
            <p:ph idx="1" type="body"/>
          </p:nvPr>
        </p:nvSpPr>
        <p:spPr>
          <a:xfrm>
            <a:off x="301752" y="1527048"/>
            <a:ext cx="6862536" cy="2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it-IT"/>
              <a:t>La situazione in cui, </a:t>
            </a:r>
            <a:r>
              <a:rPr lang="it-IT">
                <a:solidFill>
                  <a:srgbClr val="C00000"/>
                </a:solidFill>
              </a:rPr>
              <a:t>gli effetti dell‘avanzamento di due o più processi non sono prevedibili</a:t>
            </a:r>
            <a:r>
              <a:rPr lang="it-IT"/>
              <a:t>, o meglio dipendono dalla esatta sequenza temporale con cui avvengono gli scambi, viene detta </a:t>
            </a:r>
            <a:r>
              <a:rPr b="1" lang="it-IT">
                <a:solidFill>
                  <a:srgbClr val="C00000"/>
                </a:solidFill>
              </a:rPr>
              <a:t>RACE CONDITION </a:t>
            </a:r>
            <a:r>
              <a:rPr lang="it-IT"/>
              <a:t>e comporta evidenti inconvenienti.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it-IT"/>
              <a:t>Un sistema di processi multipli presenta una race condition qualora il risultato finale dell’esecuzione dipenda dalla temporizzazione con cui vengono eseguiti i processi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it-IT"/>
              <a:t>Per scrivere programmi concorrenti è necessario eliminare la RACE CONDITION</a:t>
            </a:r>
            <a:endParaRPr/>
          </a:p>
        </p:txBody>
      </p:sp>
      <p:sp>
        <p:nvSpPr>
          <p:cNvPr id="286" name="Google Shape;286;p34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287" name="Google Shape;287;p34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5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Condizione di concorrenza</a:t>
            </a:r>
            <a:endParaRPr/>
          </a:p>
        </p:txBody>
      </p:sp>
      <p:sp>
        <p:nvSpPr>
          <p:cNvPr id="293" name="Google Shape;293;p35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Il risultato finale deve </a:t>
            </a:r>
            <a:r>
              <a:rPr b="1" lang="it-IT">
                <a:solidFill>
                  <a:srgbClr val="FF0000"/>
                </a:solidFill>
              </a:rPr>
              <a:t>essere determinato </a:t>
            </a:r>
            <a:r>
              <a:rPr lang="it-IT"/>
              <a:t>cioè prevedibile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Per evitare la RACE CONDITION tra due processi A e B deve valere una delle due osservazioni seguenti</a:t>
            </a:r>
            <a:endParaRPr/>
          </a:p>
          <a:p>
            <a:pPr indent="-514350" lvl="1" marL="78867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AutoNum type="arabicPeriod"/>
            </a:pPr>
            <a:r>
              <a:rPr b="1" lang="it-IT">
                <a:solidFill>
                  <a:srgbClr val="00B050"/>
                </a:solidFill>
              </a:rPr>
              <a:t>Un processo è successivo all’altro</a:t>
            </a:r>
            <a:endParaRPr/>
          </a:p>
          <a:p>
            <a:pPr indent="-514350" lvl="1" marL="78867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AutoNum type="arabicPeriod"/>
            </a:pPr>
            <a:r>
              <a:rPr b="1" lang="it-IT">
                <a:solidFill>
                  <a:srgbClr val="00B050"/>
                </a:solidFill>
              </a:rPr>
              <a:t>È nulla l’intersezione tra il dominio di A ed il codominio di B (e viceversa) e tra i reciproci domini</a:t>
            </a:r>
            <a:endParaRPr b="1">
              <a:solidFill>
                <a:srgbClr val="00B050"/>
              </a:solidFill>
            </a:endParaRPr>
          </a:p>
        </p:txBody>
      </p:sp>
      <p:sp>
        <p:nvSpPr>
          <p:cNvPr id="294" name="Google Shape;294;p35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295" name="Google Shape;295;p35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6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Ricapitolando…</a:t>
            </a:r>
            <a:endParaRPr/>
          </a:p>
        </p:txBody>
      </p:sp>
      <p:sp>
        <p:nvSpPr>
          <p:cNvPr id="301" name="Google Shape;301;p36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Cos’è un processo?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Cos’è una risorsa?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Cosa significa che due processi interferiscono tra loro?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Secondo la tua opinione, l’aggiornamento del saldo di un conto corrente bancario dove sono presenti due processi: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it-IT"/>
              <a:t>Accredito dello stipendio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it-IT"/>
              <a:t>Prelievo di 50 euro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…quali problemi potremmo avere? Cosa potrebbe comportare la non corretta sequenza delle operazioni?</a:t>
            </a:r>
            <a:endParaRPr/>
          </a:p>
        </p:txBody>
      </p:sp>
      <p:sp>
        <p:nvSpPr>
          <p:cNvPr id="302" name="Google Shape;302;p36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303" name="Google Shape;303;p36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7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Processi congiunti e disgiunti</a:t>
            </a:r>
            <a:endParaRPr/>
          </a:p>
        </p:txBody>
      </p:sp>
      <p:sp>
        <p:nvSpPr>
          <p:cNvPr id="309" name="Google Shape;309;p37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it-IT"/>
              <a:t>Vedere file: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 u="sng">
                <a:solidFill>
                  <a:schemeClr val="hlink"/>
                </a:solidFill>
                <a:hlinkClick r:id="rId3"/>
              </a:rPr>
              <a:t>1 – Processi concorrenti.pdf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 u="sng">
                <a:solidFill>
                  <a:schemeClr val="hlink"/>
                </a:solidFill>
                <a:hlinkClick r:id="rId4"/>
              </a:rPr>
              <a:t>2 – Risorse e condivisione.pdf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 u="sng">
                <a:solidFill>
                  <a:schemeClr val="hlink"/>
                </a:solidFill>
                <a:hlinkClick r:id="rId5"/>
              </a:rPr>
              <a:t>3 – Processi – Concorrenza.pdf</a:t>
            </a:r>
            <a:endParaRPr/>
          </a:p>
        </p:txBody>
      </p:sp>
      <p:sp>
        <p:nvSpPr>
          <p:cNvPr id="310" name="Google Shape;310;p37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311" name="Google Shape;311;p37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8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Grafo di Holt</a:t>
            </a:r>
            <a:endParaRPr/>
          </a:p>
        </p:txBody>
      </p:sp>
      <p:sp>
        <p:nvSpPr>
          <p:cNvPr id="317" name="Google Shape;317;p38"/>
          <p:cNvSpPr txBox="1"/>
          <p:nvPr>
            <p:ph idx="1" type="body"/>
          </p:nvPr>
        </p:nvSpPr>
        <p:spPr>
          <a:xfrm>
            <a:off x="611560" y="1628800"/>
            <a:ext cx="6984776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it-IT" sz="2000"/>
              <a:t>è un grafo diretto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 sz="1800"/>
              <a:t>gli archi hanno una direzione </a:t>
            </a:r>
            <a:endParaRPr sz="1800"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it-IT" sz="2000"/>
              <a:t>è un grafo bipartito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 sz="1800"/>
              <a:t>i nodi sono suddivisi in due sottoinsiemi e non esistono archi che collegano nodi dello stesso sottoinsieme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 sz="1800"/>
              <a:t>i sottoinsiemi sono risorse e processi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it-IT" sz="2000"/>
              <a:t>gli archi </a:t>
            </a:r>
            <a:r>
              <a:rPr b="1" lang="it-IT" sz="2000"/>
              <a:t>risorsa-&gt;processo </a:t>
            </a:r>
            <a:r>
              <a:rPr lang="it-IT" sz="2000"/>
              <a:t>indicano che la risorsa è assegnata al processo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it-IT" sz="2000"/>
              <a:t>gli archi </a:t>
            </a:r>
            <a:r>
              <a:rPr b="1" lang="it-IT" sz="2000"/>
              <a:t>processo-&gt;risorsa </a:t>
            </a:r>
            <a:r>
              <a:rPr lang="it-IT" sz="2000"/>
              <a:t>indicano che il processo ha richiesto la risorsa</a:t>
            </a:r>
            <a:endParaRPr/>
          </a:p>
        </p:txBody>
      </p:sp>
      <p:sp>
        <p:nvSpPr>
          <p:cNvPr id="318" name="Google Shape;318;p38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319" name="Google Shape;319;p38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9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Grafo di Holt - Esempio</a:t>
            </a:r>
            <a:endParaRPr/>
          </a:p>
        </p:txBody>
      </p:sp>
      <p:sp>
        <p:nvSpPr>
          <p:cNvPr id="325" name="Google Shape;325;p39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326" name="Google Shape;326;p39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327" name="Google Shape;327;p39"/>
          <p:cNvPicPr preferRelativeResize="0"/>
          <p:nvPr/>
        </p:nvPicPr>
        <p:blipFill rotWithShape="1">
          <a:blip r:embed="rId3">
            <a:alphaModFix/>
          </a:blip>
          <a:srcRect b="43425" l="28355" r="30649" t="25753"/>
          <a:stretch/>
        </p:blipFill>
        <p:spPr>
          <a:xfrm>
            <a:off x="867343" y="1988840"/>
            <a:ext cx="4997886" cy="2818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0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Grafo di Holt generale – </a:t>
            </a:r>
            <a:r>
              <a:rPr lang="it-IT" sz="2800"/>
              <a:t>classi di risorse con più istanze</a:t>
            </a:r>
            <a:endParaRPr sz="2800"/>
          </a:p>
        </p:txBody>
      </p:sp>
      <p:sp>
        <p:nvSpPr>
          <p:cNvPr id="333" name="Google Shape;333;p40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32"/>
              <a:buChar char="►"/>
            </a:pPr>
            <a:r>
              <a:rPr lang="it-IT" sz="1665"/>
              <a:t>Nel caso di classi contenenti più istanze di una risorsa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184"/>
              <a:buChar char="►"/>
            </a:pPr>
            <a:r>
              <a:rPr lang="it-IT" sz="1480"/>
              <a:t>l'insieme delle risorse è partizionato in classi e gli archi di richiesta sono diretti alla classe e non alla singola risorsa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332"/>
              <a:buChar char="►"/>
            </a:pPr>
            <a:r>
              <a:rPr lang="it-IT" sz="1665"/>
              <a:t>Rappresentazione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184"/>
              <a:buChar char="►"/>
            </a:pPr>
            <a:r>
              <a:rPr lang="it-IT" sz="1480"/>
              <a:t>i processi sono rappresentati da cerchi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184"/>
              <a:buChar char="►"/>
            </a:pPr>
            <a:r>
              <a:rPr lang="it-IT" sz="1480"/>
              <a:t>le classi sono rappresentati come contenitori rettangolari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184"/>
              <a:buChar char="►"/>
            </a:pPr>
            <a:r>
              <a:rPr lang="it-IT" sz="1480"/>
              <a:t>le risorse come punti all'interno delle classi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332"/>
              <a:buChar char="►"/>
            </a:pPr>
            <a:r>
              <a:rPr lang="it-IT" sz="1665"/>
              <a:t>Nota: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184"/>
              <a:buChar char="►"/>
            </a:pPr>
            <a:r>
              <a:rPr lang="it-IT" sz="1480"/>
              <a:t>non si rappresentano grafi di Holt con archi relativi a richieste che possono essere soddisfatte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184"/>
              <a:buChar char="►"/>
            </a:pPr>
            <a:r>
              <a:rPr lang="it-IT" sz="1480"/>
              <a:t>se esiste almeno un'istanza libera della risorsa richiesta, la risorsa viene assegnata</a:t>
            </a:r>
            <a:endParaRPr/>
          </a:p>
        </p:txBody>
      </p:sp>
      <p:sp>
        <p:nvSpPr>
          <p:cNvPr id="334" name="Google Shape;334;p40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335" name="Google Shape;335;p40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1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Grafo di Holt generale - Esempio</a:t>
            </a:r>
            <a:endParaRPr/>
          </a:p>
        </p:txBody>
      </p:sp>
      <p:sp>
        <p:nvSpPr>
          <p:cNvPr id="341" name="Google Shape;341;p41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342" name="Google Shape;342;p41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343" name="Google Shape;343;p41"/>
          <p:cNvPicPr preferRelativeResize="0"/>
          <p:nvPr/>
        </p:nvPicPr>
        <p:blipFill rotWithShape="1">
          <a:blip r:embed="rId3">
            <a:alphaModFix/>
          </a:blip>
          <a:srcRect b="29041" l="33185" r="37740" t="33698"/>
          <a:stretch/>
        </p:blipFill>
        <p:spPr>
          <a:xfrm>
            <a:off x="1763688" y="2060848"/>
            <a:ext cx="3544867" cy="340708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41"/>
          <p:cNvSpPr txBox="1"/>
          <p:nvPr/>
        </p:nvSpPr>
        <p:spPr>
          <a:xfrm>
            <a:off x="662225" y="5389600"/>
            <a:ext cx="6077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-IT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Un grafo è </a:t>
            </a:r>
            <a:r>
              <a:rPr b="1" i="0" lang="it-IT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riducibile </a:t>
            </a:r>
            <a:r>
              <a:rPr b="0" i="0" lang="it-IT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se ha almeno un processo con solamente archi entranti. Un grafo è </a:t>
            </a:r>
            <a:r>
              <a:rPr b="1" i="0" lang="it-IT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completamente riducibile</a:t>
            </a:r>
            <a:r>
              <a:rPr b="0" i="0" lang="it-IT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se non contiene archi uscenti</a:t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2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Grafo Wait For</a:t>
            </a:r>
            <a:endParaRPr/>
          </a:p>
        </p:txBody>
      </p:sp>
      <p:sp>
        <p:nvSpPr>
          <p:cNvPr id="350" name="Google Shape;350;p42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351" name="Google Shape;351;p42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352" name="Google Shape;352;p42"/>
          <p:cNvPicPr preferRelativeResize="0"/>
          <p:nvPr/>
        </p:nvPicPr>
        <p:blipFill rotWithShape="1">
          <a:blip r:embed="rId3">
            <a:alphaModFix/>
          </a:blip>
          <a:srcRect b="19590" l="23424" r="25925" t="35205"/>
          <a:stretch/>
        </p:blipFill>
        <p:spPr>
          <a:xfrm>
            <a:off x="971600" y="1412776"/>
            <a:ext cx="6175332" cy="4133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3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Riducibilità di un grafo di Holt</a:t>
            </a:r>
            <a:endParaRPr/>
          </a:p>
        </p:txBody>
      </p:sp>
      <p:sp>
        <p:nvSpPr>
          <p:cNvPr id="358" name="Google Shape;358;p43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Definizione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it-IT"/>
              <a:t>Un grafo di Holt si dice riducibile se esiste almeno un nodo processo con solo archi entranti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Riduzione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it-IT"/>
              <a:t>Consiste nell'eliminare tutti gli archi di tale nodo e riassegnare le risorse ad altri processi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Qual è la logica?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it-IT"/>
              <a:t>Eventualmente, un nodo che utilizza una risorsa prima o poi la rilascerà; a quel punto, la risorsa può essere riassegnata</a:t>
            </a:r>
            <a:endParaRPr/>
          </a:p>
        </p:txBody>
      </p:sp>
      <p:sp>
        <p:nvSpPr>
          <p:cNvPr id="359" name="Google Shape;359;p43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360" name="Google Shape;360;p43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4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Esempio </a:t>
            </a:r>
            <a:endParaRPr/>
          </a:p>
        </p:txBody>
      </p:sp>
      <p:sp>
        <p:nvSpPr>
          <p:cNvPr id="366" name="Google Shape;366;p44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367" name="Google Shape;367;p44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368" name="Google Shape;368;p44"/>
          <p:cNvPicPr preferRelativeResize="0"/>
          <p:nvPr/>
        </p:nvPicPr>
        <p:blipFill rotWithShape="1">
          <a:blip r:embed="rId3">
            <a:alphaModFix/>
          </a:blip>
          <a:srcRect b="32191" l="18698" r="20582" t="22466"/>
          <a:stretch/>
        </p:blipFill>
        <p:spPr>
          <a:xfrm>
            <a:off x="323529" y="1340768"/>
            <a:ext cx="6428508" cy="36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5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Proprietà di programmi concorrenti</a:t>
            </a:r>
            <a:endParaRPr/>
          </a:p>
        </p:txBody>
      </p:sp>
      <p:sp>
        <p:nvSpPr>
          <p:cNvPr id="374" name="Google Shape;374;p45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it-IT" sz="20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Liveness</a:t>
            </a:r>
            <a:r>
              <a:rPr lang="it-IT" sz="2000"/>
              <a:t> («something good eventually happens»): il programma avanza, non si ferma… insomma, è «vitale»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it-IT" sz="20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Safety</a:t>
            </a:r>
            <a:r>
              <a:rPr lang="it-IT" sz="2000"/>
              <a:t> («nothing bad happens»): il programma, se avanza, va nella direzione corretta</a:t>
            </a:r>
            <a:endParaRPr/>
          </a:p>
        </p:txBody>
      </p:sp>
      <p:sp>
        <p:nvSpPr>
          <p:cNvPr id="375" name="Google Shape;375;p45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376" name="Google Shape;376;p45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6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Proprietà di programmi concorrenti - ESEMPIO</a:t>
            </a:r>
            <a:endParaRPr/>
          </a:p>
        </p:txBody>
      </p:sp>
      <p:sp>
        <p:nvSpPr>
          <p:cNvPr id="382" name="Google Shape;382;p46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it-IT" sz="20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Consensus</a:t>
            </a:r>
            <a:r>
              <a:rPr lang="it-IT"/>
              <a:t> (dalla teoria dei sistemi distribuiti): si consideri un sistema con N processi. All’inizio ogni processo propone un valore; alla fine tutti i processi si debbono accordare con uno dei valori proposti.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>
                <a:solidFill>
                  <a:schemeClr val="accent1"/>
                </a:solidFill>
              </a:rPr>
              <a:t>Liveness: </a:t>
            </a:r>
            <a:r>
              <a:rPr lang="it-IT">
                <a:solidFill>
                  <a:schemeClr val="dk1"/>
                </a:solidFill>
              </a:rPr>
              <a:t>prima o poi ogni processo non in crash proporrà un valore e prenderà una decisione.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>
                <a:solidFill>
                  <a:schemeClr val="accent1"/>
                </a:solidFill>
              </a:rPr>
              <a:t>Safety: </a:t>
            </a:r>
            <a:r>
              <a:rPr lang="it-IT">
                <a:solidFill>
                  <a:schemeClr val="dk1"/>
                </a:solidFill>
              </a:rPr>
              <a:t>un processo decide un valore tra i proposti; due processi debbono decidere lo stesso valore.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83" name="Google Shape;383;p46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384" name="Google Shape;384;p46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7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Mutua esclusione</a:t>
            </a:r>
            <a:endParaRPr/>
          </a:p>
        </p:txBody>
      </p:sp>
      <p:sp>
        <p:nvSpPr>
          <p:cNvPr id="390" name="Google Shape;390;p47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it-IT" sz="2000">
                <a:solidFill>
                  <a:schemeClr val="dk1"/>
                </a:solidFill>
              </a:rPr>
              <a:t>L’accesso ad una risorsa si dice </a:t>
            </a:r>
            <a:r>
              <a:rPr lang="it-IT" sz="2000">
                <a:solidFill>
                  <a:srgbClr val="3F7818"/>
                </a:solidFill>
              </a:rPr>
              <a:t>mutualmente esclusivo </a:t>
            </a:r>
            <a:r>
              <a:rPr lang="it-IT" sz="2000">
                <a:solidFill>
                  <a:schemeClr val="dk1"/>
                </a:solidFill>
              </a:rPr>
              <a:t>se ad ogni istante, al massimo un processo può accedere a quella risorsa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b="1" lang="it-IT" sz="2000">
                <a:solidFill>
                  <a:schemeClr val="dk1"/>
                </a:solidFill>
              </a:rPr>
              <a:t>Esempi</a:t>
            </a:r>
            <a:r>
              <a:rPr lang="it-IT" sz="2000">
                <a:solidFill>
                  <a:schemeClr val="dk1"/>
                </a:solidFill>
              </a:rPr>
              <a:t>: due processi che vogliono accedere contemporaneamente ad una stampante o due processi che cooperano per scambiarsi informazioni attraverso un buffer condiviso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391" name="Google Shape;391;p47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392" name="Google Shape;392;p47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8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Deadlock (stallo) 1/2</a:t>
            </a:r>
            <a:endParaRPr/>
          </a:p>
        </p:txBody>
      </p:sp>
      <p:sp>
        <p:nvSpPr>
          <p:cNvPr id="398" name="Google Shape;398;p48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La mutua esclusione permette di risolvere il problema della non interferenza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Ma può causare  il blocco permanente dei processi</a:t>
            </a:r>
            <a:endParaRPr/>
          </a:p>
        </p:txBody>
      </p:sp>
      <p:sp>
        <p:nvSpPr>
          <p:cNvPr id="399" name="Google Shape;399;p48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400" name="Google Shape;400;p48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401" name="Google Shape;401;p48"/>
          <p:cNvPicPr preferRelativeResize="0"/>
          <p:nvPr/>
        </p:nvPicPr>
        <p:blipFill rotWithShape="1">
          <a:blip r:embed="rId3">
            <a:alphaModFix/>
          </a:blip>
          <a:srcRect b="13046" l="20069" r="22444" t="50000"/>
          <a:stretch/>
        </p:blipFill>
        <p:spPr>
          <a:xfrm>
            <a:off x="1259632" y="3573016"/>
            <a:ext cx="5256584" cy="1899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9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Deadlock (stallo) 2/2</a:t>
            </a:r>
            <a:endParaRPr/>
          </a:p>
        </p:txBody>
      </p:sp>
      <p:sp>
        <p:nvSpPr>
          <p:cNvPr id="407" name="Google Shape;407;p49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408" name="Google Shape;408;p49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409" name="Google Shape;409;p49"/>
          <p:cNvPicPr preferRelativeResize="0"/>
          <p:nvPr/>
        </p:nvPicPr>
        <p:blipFill rotWithShape="1">
          <a:blip r:embed="rId3">
            <a:alphaModFix/>
          </a:blip>
          <a:srcRect b="12179" l="18501" r="23225" t="28990"/>
          <a:stretch/>
        </p:blipFill>
        <p:spPr>
          <a:xfrm>
            <a:off x="422970" y="1628801"/>
            <a:ext cx="6597302" cy="3744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0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Starvation (inedia)</a:t>
            </a:r>
            <a:endParaRPr/>
          </a:p>
        </p:txBody>
      </p:sp>
      <p:sp>
        <p:nvSpPr>
          <p:cNvPr id="415" name="Google Shape;415;p50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416" name="Google Shape;416;p50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417" name="Google Shape;417;p50"/>
          <p:cNvSpPr/>
          <p:nvPr/>
        </p:nvSpPr>
        <p:spPr>
          <a:xfrm>
            <a:off x="6269181" y="5211552"/>
            <a:ext cx="863628" cy="288032"/>
          </a:xfrm>
          <a:prstGeom prst="rect">
            <a:avLst/>
          </a:prstGeom>
          <a:solidFill>
            <a:schemeClr val="lt1"/>
          </a:solidFill>
          <a:ln cap="rnd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18" name="Google Shape;418;p50"/>
          <p:cNvPicPr preferRelativeResize="0"/>
          <p:nvPr/>
        </p:nvPicPr>
        <p:blipFill rotWithShape="1">
          <a:blip r:embed="rId3">
            <a:alphaModFix/>
          </a:blip>
          <a:srcRect b="12179" l="18499" r="24013" t="28990"/>
          <a:stretch/>
        </p:blipFill>
        <p:spPr>
          <a:xfrm>
            <a:off x="632482" y="1484784"/>
            <a:ext cx="6758463" cy="3888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1"/>
          <p:cNvSpPr txBox="1"/>
          <p:nvPr>
            <p:ph type="ctrTitle"/>
          </p:nvPr>
        </p:nvSpPr>
        <p:spPr>
          <a:xfrm>
            <a:off x="1130595" y="2404534"/>
            <a:ext cx="5826719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</a:pPr>
            <a:r>
              <a:rPr lang="it-IT"/>
              <a:t>AZIONI ATOMICHE</a:t>
            </a:r>
            <a:endParaRPr/>
          </a:p>
        </p:txBody>
      </p:sp>
      <p:sp>
        <p:nvSpPr>
          <p:cNvPr id="424" name="Google Shape;424;p51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425" name="Google Shape;425;p51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2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Azione atomica 1/2</a:t>
            </a:r>
            <a:endParaRPr/>
          </a:p>
        </p:txBody>
      </p:sp>
      <p:sp>
        <p:nvSpPr>
          <p:cNvPr id="431" name="Google Shape;431;p52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432" name="Google Shape;432;p52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433" name="Google Shape;433;p52"/>
          <p:cNvPicPr preferRelativeResize="0"/>
          <p:nvPr/>
        </p:nvPicPr>
        <p:blipFill rotWithShape="1">
          <a:blip r:embed="rId3">
            <a:alphaModFix/>
          </a:blip>
          <a:srcRect b="17784" l="17713" r="23224" t="28990"/>
          <a:stretch/>
        </p:blipFill>
        <p:spPr>
          <a:xfrm>
            <a:off x="467544" y="1268760"/>
            <a:ext cx="6337602" cy="3211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52"/>
          <p:cNvPicPr preferRelativeResize="0"/>
          <p:nvPr/>
        </p:nvPicPr>
        <p:blipFill rotWithShape="1">
          <a:blip r:embed="rId4">
            <a:alphaModFix/>
          </a:blip>
          <a:srcRect b="45798" l="11413" r="36612" t="35284"/>
          <a:stretch/>
        </p:blipFill>
        <p:spPr>
          <a:xfrm>
            <a:off x="344375" y="4797152"/>
            <a:ext cx="6313200" cy="1291997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52"/>
          <p:cNvSpPr/>
          <p:nvPr/>
        </p:nvSpPr>
        <p:spPr>
          <a:xfrm>
            <a:off x="467544" y="4479813"/>
            <a:ext cx="6336704" cy="173323"/>
          </a:xfrm>
          <a:prstGeom prst="rect">
            <a:avLst/>
          </a:prstGeom>
          <a:gradFill>
            <a:gsLst>
              <a:gs pos="0">
                <a:srgbClr val="E7BC40"/>
              </a:gs>
              <a:gs pos="78000">
                <a:srgbClr val="D1A81B"/>
              </a:gs>
              <a:gs pos="100000">
                <a:srgbClr val="D1A81B"/>
              </a:gs>
            </a:gsLst>
            <a:lin ang="5400000" scaled="0"/>
          </a:gradFill>
          <a:ln>
            <a:noFill/>
          </a:ln>
          <a:effectLst>
            <a:outerShdw blurRad="50800" rotWithShape="0" dir="5400000" dist="38100">
              <a:srgbClr val="000000">
                <a:alpha val="3411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3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Azione atomica 2/2</a:t>
            </a:r>
            <a:endParaRPr/>
          </a:p>
        </p:txBody>
      </p:sp>
      <p:sp>
        <p:nvSpPr>
          <p:cNvPr id="441" name="Google Shape;441;p53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442" name="Google Shape;442;p53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443" name="Google Shape;443;p53"/>
          <p:cNvPicPr preferRelativeResize="0"/>
          <p:nvPr/>
        </p:nvPicPr>
        <p:blipFill rotWithShape="1">
          <a:blip r:embed="rId3">
            <a:alphaModFix/>
          </a:blip>
          <a:srcRect b="13582" l="17713" r="23224" t="28990"/>
          <a:stretch/>
        </p:blipFill>
        <p:spPr>
          <a:xfrm>
            <a:off x="170733" y="1556793"/>
            <a:ext cx="6849539" cy="3744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4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Esempio di azioni atomiche</a:t>
            </a:r>
            <a:endParaRPr/>
          </a:p>
        </p:txBody>
      </p:sp>
      <p:pic>
        <p:nvPicPr>
          <p:cNvPr id="449" name="Google Shape;449;p54"/>
          <p:cNvPicPr preferRelativeResize="0"/>
          <p:nvPr/>
        </p:nvPicPr>
        <p:blipFill rotWithShape="1">
          <a:blip r:embed="rId3">
            <a:alphaModFix/>
          </a:blip>
          <a:srcRect b="14980" l="10625" r="34251" t="44397"/>
          <a:stretch/>
        </p:blipFill>
        <p:spPr>
          <a:xfrm>
            <a:off x="184949" y="1930400"/>
            <a:ext cx="7267371" cy="3010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5"/>
          <p:cNvSpPr txBox="1"/>
          <p:nvPr>
            <p:ph type="title"/>
          </p:nvPr>
        </p:nvSpPr>
        <p:spPr>
          <a:xfrm>
            <a:off x="251520" y="404664"/>
            <a:ext cx="7202761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Interleaving di azioni atomiche</a:t>
            </a:r>
            <a:endParaRPr/>
          </a:p>
        </p:txBody>
      </p:sp>
      <p:sp>
        <p:nvSpPr>
          <p:cNvPr id="455" name="Google Shape;455;p55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456" name="Google Shape;456;p55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457" name="Google Shape;457;p55"/>
          <p:cNvPicPr preferRelativeResize="0"/>
          <p:nvPr/>
        </p:nvPicPr>
        <p:blipFill rotWithShape="1">
          <a:blip r:embed="rId3">
            <a:alphaModFix/>
          </a:blip>
          <a:srcRect b="7979" l="10625" r="35825" t="28988"/>
          <a:stretch/>
        </p:blipFill>
        <p:spPr>
          <a:xfrm>
            <a:off x="389137" y="1772816"/>
            <a:ext cx="6093474" cy="4032447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55"/>
          <p:cNvSpPr/>
          <p:nvPr/>
        </p:nvSpPr>
        <p:spPr>
          <a:xfrm>
            <a:off x="6228184" y="5517232"/>
            <a:ext cx="254427" cy="288031"/>
          </a:xfrm>
          <a:prstGeom prst="rect">
            <a:avLst/>
          </a:prstGeom>
          <a:solidFill>
            <a:schemeClr val="lt1"/>
          </a:solidFill>
          <a:ln cap="rnd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59" name="Google Shape;459;p55"/>
          <p:cNvSpPr txBox="1"/>
          <p:nvPr/>
        </p:nvSpPr>
        <p:spPr>
          <a:xfrm>
            <a:off x="683568" y="4427820"/>
            <a:ext cx="21788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Esecuzione di P//Q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6"/>
          <p:cNvSpPr txBox="1"/>
          <p:nvPr>
            <p:ph type="ctrTitle"/>
          </p:nvPr>
        </p:nvSpPr>
        <p:spPr>
          <a:xfrm>
            <a:off x="1130595" y="2404534"/>
            <a:ext cx="5826719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</a:pPr>
            <a:r>
              <a:rPr lang="it-IT"/>
              <a:t>SEZIONI CRITICHE</a:t>
            </a:r>
            <a:endParaRPr/>
          </a:p>
        </p:txBody>
      </p:sp>
      <p:sp>
        <p:nvSpPr>
          <p:cNvPr id="465" name="Google Shape;465;p56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466" name="Google Shape;466;p56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7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Non interferenza</a:t>
            </a:r>
            <a:endParaRPr/>
          </a:p>
        </p:txBody>
      </p:sp>
      <p:sp>
        <p:nvSpPr>
          <p:cNvPr id="472" name="Google Shape;472;p57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473" name="Google Shape;473;p57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474" name="Google Shape;474;p57"/>
          <p:cNvPicPr preferRelativeResize="0"/>
          <p:nvPr/>
        </p:nvPicPr>
        <p:blipFill rotWithShape="1">
          <a:blip r:embed="rId3">
            <a:alphaModFix/>
          </a:blip>
          <a:srcRect b="15054" l="17870" r="23708" t="28315"/>
          <a:stretch/>
        </p:blipFill>
        <p:spPr>
          <a:xfrm>
            <a:off x="539552" y="1988839"/>
            <a:ext cx="6120680" cy="3168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8"/>
          <p:cNvSpPr txBox="1"/>
          <p:nvPr>
            <p:ph type="title"/>
          </p:nvPr>
        </p:nvSpPr>
        <p:spPr>
          <a:xfrm>
            <a:off x="609599" y="260648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Sezioni critiche</a:t>
            </a:r>
            <a:endParaRPr/>
          </a:p>
        </p:txBody>
      </p:sp>
      <p:sp>
        <p:nvSpPr>
          <p:cNvPr id="480" name="Google Shape;480;p58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481" name="Google Shape;481;p58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482" name="Google Shape;482;p58"/>
          <p:cNvPicPr preferRelativeResize="0"/>
          <p:nvPr/>
        </p:nvPicPr>
        <p:blipFill rotWithShape="1">
          <a:blip r:embed="rId3">
            <a:alphaModFix/>
          </a:blip>
          <a:srcRect b="13582" l="16926" r="24799" t="28988"/>
          <a:stretch/>
        </p:blipFill>
        <p:spPr>
          <a:xfrm>
            <a:off x="352896" y="1052736"/>
            <a:ext cx="6307336" cy="3494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58"/>
          <p:cNvPicPr preferRelativeResize="0"/>
          <p:nvPr/>
        </p:nvPicPr>
        <p:blipFill rotWithShape="1">
          <a:blip r:embed="rId4">
            <a:alphaModFix/>
          </a:blip>
          <a:srcRect b="45797" l="18500" r="26373" t="29302"/>
          <a:stretch/>
        </p:blipFill>
        <p:spPr>
          <a:xfrm>
            <a:off x="491531" y="4581128"/>
            <a:ext cx="6168702" cy="15665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9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Sintassi</a:t>
            </a:r>
            <a:endParaRPr/>
          </a:p>
        </p:txBody>
      </p:sp>
      <p:sp>
        <p:nvSpPr>
          <p:cNvPr id="489" name="Google Shape;489;p59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490" name="Google Shape;490;p59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491" name="Google Shape;491;p59"/>
          <p:cNvPicPr preferRelativeResize="0"/>
          <p:nvPr/>
        </p:nvPicPr>
        <p:blipFill rotWithShape="1">
          <a:blip r:embed="rId3">
            <a:alphaModFix/>
          </a:blip>
          <a:srcRect b="21985" l="19288" r="33461" t="33327"/>
          <a:stretch/>
        </p:blipFill>
        <p:spPr>
          <a:xfrm>
            <a:off x="323528" y="1484784"/>
            <a:ext cx="5687920" cy="3024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59"/>
          <p:cNvPicPr preferRelativeResize="0"/>
          <p:nvPr/>
        </p:nvPicPr>
        <p:blipFill rotWithShape="1">
          <a:blip r:embed="rId4">
            <a:alphaModFix/>
          </a:blip>
          <a:srcRect b="33186" l="20864" r="24799" t="51401"/>
          <a:stretch/>
        </p:blipFill>
        <p:spPr>
          <a:xfrm>
            <a:off x="395536" y="4796859"/>
            <a:ext cx="6842250" cy="1091197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59"/>
          <p:cNvSpPr txBox="1"/>
          <p:nvPr/>
        </p:nvSpPr>
        <p:spPr>
          <a:xfrm>
            <a:off x="609599" y="4293096"/>
            <a:ext cx="13356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rgbClr val="3F7818"/>
                </a:solidFill>
                <a:latin typeface="Trebuchet MS"/>
                <a:ea typeface="Trebuchet MS"/>
                <a:cs typeface="Trebuchet MS"/>
                <a:sym typeface="Trebuchet MS"/>
              </a:rPr>
              <a:t>Assunzioni:</a:t>
            </a:r>
            <a:endParaRPr b="0" i="0" sz="1800" u="none" cap="none" strike="noStrike">
              <a:solidFill>
                <a:srgbClr val="3F7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60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Esempio</a:t>
            </a:r>
            <a:endParaRPr/>
          </a:p>
        </p:txBody>
      </p:sp>
      <p:sp>
        <p:nvSpPr>
          <p:cNvPr id="499" name="Google Shape;499;p60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500" name="Google Shape;500;p60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501" name="Google Shape;501;p60"/>
          <p:cNvPicPr preferRelativeResize="0"/>
          <p:nvPr/>
        </p:nvPicPr>
        <p:blipFill rotWithShape="1">
          <a:blip r:embed="rId3">
            <a:alphaModFix/>
          </a:blip>
          <a:srcRect b="12181" l="18500" r="22434" t="34594"/>
          <a:stretch/>
        </p:blipFill>
        <p:spPr>
          <a:xfrm>
            <a:off x="220785" y="1412776"/>
            <a:ext cx="6821808" cy="34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61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Problema della CS (critical section)</a:t>
            </a:r>
            <a:endParaRPr/>
          </a:p>
        </p:txBody>
      </p:sp>
      <p:sp>
        <p:nvSpPr>
          <p:cNvPr id="507" name="Google Shape;507;p61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508" name="Google Shape;508;p61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509" name="Google Shape;509;p61"/>
          <p:cNvPicPr preferRelativeResize="0"/>
          <p:nvPr/>
        </p:nvPicPr>
        <p:blipFill rotWithShape="1">
          <a:blip r:embed="rId3">
            <a:alphaModFix/>
          </a:blip>
          <a:srcRect b="17785" l="20075" r="38188" t="34593"/>
          <a:stretch/>
        </p:blipFill>
        <p:spPr>
          <a:xfrm>
            <a:off x="615708" y="1953176"/>
            <a:ext cx="6188540" cy="3970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62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Problematiche da evitare per una CS</a:t>
            </a:r>
            <a:endParaRPr/>
          </a:p>
        </p:txBody>
      </p:sp>
      <p:sp>
        <p:nvSpPr>
          <p:cNvPr id="515" name="Google Shape;515;p62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516" name="Google Shape;516;p62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517" name="Google Shape;517;p62"/>
          <p:cNvPicPr preferRelativeResize="0"/>
          <p:nvPr/>
        </p:nvPicPr>
        <p:blipFill rotWithShape="1">
          <a:blip r:embed="rId3">
            <a:alphaModFix/>
          </a:blip>
          <a:srcRect b="14984" l="21651" r="23225" t="34593"/>
          <a:stretch/>
        </p:blipFill>
        <p:spPr>
          <a:xfrm>
            <a:off x="609598" y="1962536"/>
            <a:ext cx="6631875" cy="3410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3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CS – possibili approcci</a:t>
            </a:r>
            <a:endParaRPr/>
          </a:p>
        </p:txBody>
      </p:sp>
      <p:sp>
        <p:nvSpPr>
          <p:cNvPr id="523" name="Google Shape;523;p63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524" name="Google Shape;524;p63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525" name="Google Shape;525;p63"/>
          <p:cNvPicPr preferRelativeResize="0"/>
          <p:nvPr/>
        </p:nvPicPr>
        <p:blipFill rotWithShape="1">
          <a:blip r:embed="rId3">
            <a:alphaModFix/>
          </a:blip>
          <a:srcRect b="31791" l="17713" r="24013" t="28990"/>
          <a:stretch/>
        </p:blipFill>
        <p:spPr>
          <a:xfrm>
            <a:off x="256788" y="1916832"/>
            <a:ext cx="6851043" cy="2592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4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Algoritmo di Dekker (1965)</a:t>
            </a:r>
            <a:endParaRPr/>
          </a:p>
        </p:txBody>
      </p:sp>
      <p:sp>
        <p:nvSpPr>
          <p:cNvPr id="531" name="Google Shape;531;p64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532" name="Google Shape;532;p64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533" name="Google Shape;533;p64"/>
          <p:cNvPicPr preferRelativeResize="0"/>
          <p:nvPr/>
        </p:nvPicPr>
        <p:blipFill rotWithShape="1">
          <a:blip r:embed="rId3">
            <a:alphaModFix/>
          </a:blip>
          <a:srcRect b="35994" l="20075" r="28736" t="33192"/>
          <a:stretch/>
        </p:blipFill>
        <p:spPr>
          <a:xfrm>
            <a:off x="251520" y="1916832"/>
            <a:ext cx="6912768" cy="24482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65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Dekker – Tentativo 1</a:t>
            </a:r>
            <a:endParaRPr/>
          </a:p>
        </p:txBody>
      </p:sp>
      <p:sp>
        <p:nvSpPr>
          <p:cNvPr id="539" name="Google Shape;539;p65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540" name="Google Shape;540;p65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541" name="Google Shape;541;p65"/>
          <p:cNvPicPr preferRelativeResize="0"/>
          <p:nvPr/>
        </p:nvPicPr>
        <p:blipFill rotWithShape="1">
          <a:blip r:embed="rId3">
            <a:alphaModFix/>
          </a:blip>
          <a:srcRect b="12199" l="8263" r="29524" t="27598"/>
          <a:stretch/>
        </p:blipFill>
        <p:spPr>
          <a:xfrm>
            <a:off x="409964" y="1412776"/>
            <a:ext cx="6746982" cy="3672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6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Dekker – Tentativo 2</a:t>
            </a:r>
            <a:endParaRPr/>
          </a:p>
        </p:txBody>
      </p:sp>
      <p:sp>
        <p:nvSpPr>
          <p:cNvPr id="547" name="Google Shape;547;p66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548" name="Google Shape;548;p66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549" name="Google Shape;549;p66"/>
          <p:cNvPicPr preferRelativeResize="0"/>
          <p:nvPr/>
        </p:nvPicPr>
        <p:blipFill rotWithShape="1">
          <a:blip r:embed="rId3">
            <a:alphaModFix/>
          </a:blip>
          <a:srcRect b="7999" l="8263" r="35036" t="27599"/>
          <a:stretch/>
        </p:blipFill>
        <p:spPr>
          <a:xfrm>
            <a:off x="645654" y="1556792"/>
            <a:ext cx="6311658" cy="4032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7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Dekker – Tentativo 3</a:t>
            </a:r>
            <a:endParaRPr/>
          </a:p>
        </p:txBody>
      </p:sp>
      <p:sp>
        <p:nvSpPr>
          <p:cNvPr id="555" name="Google Shape;555;p67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556" name="Google Shape;556;p67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557" name="Google Shape;557;p67"/>
          <p:cNvPicPr preferRelativeResize="0"/>
          <p:nvPr/>
        </p:nvPicPr>
        <p:blipFill rotWithShape="1">
          <a:blip r:embed="rId3">
            <a:alphaModFix/>
          </a:blip>
          <a:srcRect b="6601" l="9050" r="31885" t="27599"/>
          <a:stretch/>
        </p:blipFill>
        <p:spPr>
          <a:xfrm>
            <a:off x="608495" y="1484784"/>
            <a:ext cx="6090038" cy="3816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68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Dekker – Tentativo 4</a:t>
            </a:r>
            <a:endParaRPr/>
          </a:p>
        </p:txBody>
      </p:sp>
      <p:sp>
        <p:nvSpPr>
          <p:cNvPr id="563" name="Google Shape;563;p68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564" name="Google Shape;564;p68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565" name="Google Shape;565;p68"/>
          <p:cNvPicPr preferRelativeResize="0"/>
          <p:nvPr/>
        </p:nvPicPr>
        <p:blipFill rotWithShape="1">
          <a:blip r:embed="rId3">
            <a:alphaModFix/>
          </a:blip>
          <a:srcRect b="10799" l="8263" r="35036" t="27599"/>
          <a:stretch/>
        </p:blipFill>
        <p:spPr>
          <a:xfrm>
            <a:off x="251520" y="1556792"/>
            <a:ext cx="6009395" cy="3672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9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Dekker – Tentativo 5</a:t>
            </a:r>
            <a:endParaRPr/>
          </a:p>
        </p:txBody>
      </p:sp>
      <p:sp>
        <p:nvSpPr>
          <p:cNvPr id="571" name="Google Shape;571;p69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572" name="Google Shape;572;p69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573" name="Google Shape;573;p69"/>
          <p:cNvPicPr preferRelativeResize="0"/>
          <p:nvPr/>
        </p:nvPicPr>
        <p:blipFill rotWithShape="1">
          <a:blip r:embed="rId3">
            <a:alphaModFix/>
          </a:blip>
          <a:srcRect b="7999" l="8263" r="35036" t="27599"/>
          <a:stretch/>
        </p:blipFill>
        <p:spPr>
          <a:xfrm>
            <a:off x="251520" y="1412776"/>
            <a:ext cx="5973533" cy="3816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70"/>
          <p:cNvSpPr txBox="1"/>
          <p:nvPr>
            <p:ph type="title"/>
          </p:nvPr>
        </p:nvSpPr>
        <p:spPr>
          <a:xfrm>
            <a:off x="321324" y="404664"/>
            <a:ext cx="6347715" cy="7464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</a:pPr>
            <a:r>
              <a:rPr lang="it-IT"/>
              <a:t>Sincronizzazione</a:t>
            </a:r>
            <a:endParaRPr/>
          </a:p>
        </p:txBody>
      </p:sp>
      <p:sp>
        <p:nvSpPr>
          <p:cNvPr id="579" name="Google Shape;579;p70"/>
          <p:cNvSpPr txBox="1"/>
          <p:nvPr>
            <p:ph idx="1" type="body"/>
          </p:nvPr>
        </p:nvSpPr>
        <p:spPr>
          <a:xfrm>
            <a:off x="605049" y="1285646"/>
            <a:ext cx="6347715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it-IT"/>
              <a:t>Semaforo</a:t>
            </a:r>
            <a:endParaRPr/>
          </a:p>
        </p:txBody>
      </p:sp>
      <p:sp>
        <p:nvSpPr>
          <p:cNvPr id="580" name="Google Shape;580;p70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581" name="Google Shape;581;p70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582" name="Google Shape;582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3848" y="3140968"/>
            <a:ext cx="3095625" cy="3095625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  <p:transition>
    <p:fade thruBlk="1"/>
  </p:transition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71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Semaforo</a:t>
            </a:r>
            <a:endParaRPr/>
          </a:p>
        </p:txBody>
      </p:sp>
      <p:sp>
        <p:nvSpPr>
          <p:cNvPr id="588" name="Google Shape;588;p71"/>
          <p:cNvSpPr txBox="1"/>
          <p:nvPr>
            <p:ph idx="1" type="body"/>
          </p:nvPr>
        </p:nvSpPr>
        <p:spPr>
          <a:xfrm>
            <a:off x="353281" y="1375286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È un elemento controllato dal sistema operativo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Si modifica tramite due primitive </a:t>
            </a:r>
            <a:r>
              <a:rPr i="1" lang="it-IT"/>
              <a:t>down() </a:t>
            </a:r>
            <a:r>
              <a:rPr lang="it-IT"/>
              <a:t>ed </a:t>
            </a:r>
            <a:r>
              <a:rPr i="1" lang="it-IT"/>
              <a:t>up()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Esempio:</a:t>
            </a:r>
            <a:endParaRPr/>
          </a:p>
        </p:txBody>
      </p:sp>
      <p:sp>
        <p:nvSpPr>
          <p:cNvPr id="589" name="Google Shape;589;p71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590" name="Google Shape;590;p71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591" name="Google Shape;591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6336" y="260648"/>
            <a:ext cx="1296144" cy="1296144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sp>
        <p:nvSpPr>
          <p:cNvPr id="592" name="Google Shape;592;p71"/>
          <p:cNvSpPr txBox="1"/>
          <p:nvPr/>
        </p:nvSpPr>
        <p:spPr>
          <a:xfrm>
            <a:off x="611815" y="3363707"/>
            <a:ext cx="8136904" cy="2677656"/>
          </a:xfrm>
          <a:prstGeom prst="rect">
            <a:avLst/>
          </a:prstGeom>
          <a:gradFill>
            <a:gsLst>
              <a:gs pos="0">
                <a:srgbClr val="BDD5B6"/>
              </a:gs>
              <a:gs pos="88000">
                <a:srgbClr val="74AC5E"/>
              </a:gs>
              <a:gs pos="100000">
                <a:srgbClr val="74AC5E"/>
              </a:gs>
            </a:gsLst>
            <a:lin ang="5400000" scaled="0"/>
          </a:gradFill>
          <a:ln cap="rnd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Semaforo s;	// variabile semaforo comune a tutti i processi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Processo(i) {	// definizione del processo i-esimo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…		// sezione non critica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t-IT" sz="1800" u="none" cap="none" strike="noStrik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down(s);	// ingresso alla sezione critica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t-IT" sz="1800" u="none" cap="none" strike="noStrik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…		// sezione critica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t-IT" sz="1800" u="none" cap="none" strike="noStrik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up(s);		// uscita dalla sezione critica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…		// sezione non critica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>
    <p:fade thruBlk="1"/>
  </p:transition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72"/>
          <p:cNvSpPr txBox="1"/>
          <p:nvPr>
            <p:ph type="title"/>
          </p:nvPr>
        </p:nvSpPr>
        <p:spPr>
          <a:xfrm>
            <a:off x="609599" y="609600"/>
            <a:ext cx="6347714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Introduzione ai semafori</a:t>
            </a:r>
            <a:endParaRPr/>
          </a:p>
        </p:txBody>
      </p:sp>
      <p:sp>
        <p:nvSpPr>
          <p:cNvPr id="598" name="Google Shape;598;p72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599" name="Google Shape;599;p72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600" name="Google Shape;600;p72"/>
          <p:cNvSpPr/>
          <p:nvPr/>
        </p:nvSpPr>
        <p:spPr>
          <a:xfrm>
            <a:off x="2286000" y="3044280"/>
            <a:ext cx="457200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t-IT" sz="800" u="none" cap="none" strike="noStrik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72"/>
          <p:cNvSpPr/>
          <p:nvPr/>
        </p:nvSpPr>
        <p:spPr>
          <a:xfrm>
            <a:off x="2286000" y="3044280"/>
            <a:ext cx="457200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2" name="Google Shape;602;p72"/>
          <p:cNvGrpSpPr/>
          <p:nvPr/>
        </p:nvGrpSpPr>
        <p:grpSpPr>
          <a:xfrm>
            <a:off x="609598" y="1532131"/>
            <a:ext cx="6842723" cy="3154784"/>
            <a:chOff x="609598" y="1989331"/>
            <a:chExt cx="6842723" cy="3154784"/>
          </a:xfrm>
        </p:grpSpPr>
        <p:pic>
          <p:nvPicPr>
            <p:cNvPr id="603" name="Google Shape;603;p72"/>
            <p:cNvPicPr preferRelativeResize="0"/>
            <p:nvPr/>
          </p:nvPicPr>
          <p:blipFill rotWithShape="1">
            <a:blip r:embed="rId3">
              <a:alphaModFix/>
            </a:blip>
            <a:srcRect b="9398" l="16925" r="22438" t="41600"/>
            <a:stretch/>
          </p:blipFill>
          <p:spPr>
            <a:xfrm>
              <a:off x="609598" y="1989331"/>
              <a:ext cx="6810877" cy="30958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72"/>
            <p:cNvSpPr/>
            <p:nvPr/>
          </p:nvSpPr>
          <p:spPr>
            <a:xfrm>
              <a:off x="6228185" y="4869160"/>
              <a:ext cx="1224136" cy="274955"/>
            </a:xfrm>
            <a:prstGeom prst="rect">
              <a:avLst/>
            </a:prstGeom>
            <a:solidFill>
              <a:schemeClr val="lt1"/>
            </a:solidFill>
            <a:ln cap="rnd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605" name="Google Shape;605;p72"/>
          <p:cNvSpPr txBox="1"/>
          <p:nvPr/>
        </p:nvSpPr>
        <p:spPr>
          <a:xfrm>
            <a:off x="609600" y="4948500"/>
            <a:ext cx="6589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solidFill>
                  <a:schemeClr val="dk1"/>
                </a:solidFill>
              </a:rPr>
              <a:t>• </a:t>
            </a:r>
            <a:r>
              <a:rPr lang="it-IT"/>
              <a:t>S</a:t>
            </a:r>
            <a:r>
              <a:rPr lang="it-IT"/>
              <a:t>emaforo binario (0 o 1): relativo ad una sola risorsa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• Semaforo generalizzato (contatore): relativo ad una risorsa presente in un numero finito di unità (&lt;1)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73"/>
          <p:cNvSpPr txBox="1"/>
          <p:nvPr>
            <p:ph type="title"/>
          </p:nvPr>
        </p:nvSpPr>
        <p:spPr>
          <a:xfrm>
            <a:off x="609599" y="609600"/>
            <a:ext cx="6347714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Trebuchet MS"/>
              <a:buNone/>
            </a:pPr>
            <a:r>
              <a:rPr lang="it-IT" sz="3200"/>
              <a:t>Semafori: principi e definizioni</a:t>
            </a:r>
            <a:endParaRPr sz="3200"/>
          </a:p>
        </p:txBody>
      </p:sp>
      <p:sp>
        <p:nvSpPr>
          <p:cNvPr id="611" name="Google Shape;611;p73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612" name="Google Shape;612;p73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613" name="Google Shape;613;p73"/>
          <p:cNvPicPr preferRelativeResize="0"/>
          <p:nvPr/>
        </p:nvPicPr>
        <p:blipFill rotWithShape="1">
          <a:blip r:embed="rId3">
            <a:alphaModFix/>
          </a:blip>
          <a:srcRect b="37106" l="16925" r="22438" t="27599"/>
          <a:stretch/>
        </p:blipFill>
        <p:spPr>
          <a:xfrm>
            <a:off x="683568" y="1930401"/>
            <a:ext cx="6336704" cy="2074664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73"/>
          <p:cNvSpPr txBox="1"/>
          <p:nvPr/>
        </p:nvSpPr>
        <p:spPr>
          <a:xfrm>
            <a:off x="2195736" y="4319808"/>
            <a:ext cx="35621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P() e V(), ovvero down(s) e up(s)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74"/>
          <p:cNvSpPr txBox="1"/>
          <p:nvPr>
            <p:ph type="title"/>
          </p:nvPr>
        </p:nvSpPr>
        <p:spPr>
          <a:xfrm>
            <a:off x="609599" y="609600"/>
            <a:ext cx="6347714" cy="587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Trebuchet MS"/>
              <a:buNone/>
            </a:pPr>
            <a:r>
              <a:rPr lang="it-IT" sz="3200"/>
              <a:t>Semafori: descrizione informale</a:t>
            </a:r>
            <a:endParaRPr sz="3200"/>
          </a:p>
        </p:txBody>
      </p:sp>
      <p:sp>
        <p:nvSpPr>
          <p:cNvPr id="620" name="Google Shape;620;p74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621" name="Google Shape;621;p74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grpSp>
        <p:nvGrpSpPr>
          <p:cNvPr id="622" name="Google Shape;622;p74"/>
          <p:cNvGrpSpPr/>
          <p:nvPr/>
        </p:nvGrpSpPr>
        <p:grpSpPr>
          <a:xfrm>
            <a:off x="395536" y="1484784"/>
            <a:ext cx="6305459" cy="4248472"/>
            <a:chOff x="395536" y="1196752"/>
            <a:chExt cx="6305459" cy="4248472"/>
          </a:xfrm>
        </p:grpSpPr>
        <p:pic>
          <p:nvPicPr>
            <p:cNvPr id="623" name="Google Shape;623;p74"/>
            <p:cNvPicPr preferRelativeResize="0"/>
            <p:nvPr/>
          </p:nvPicPr>
          <p:blipFill rotWithShape="1">
            <a:blip r:embed="rId3">
              <a:alphaModFix/>
            </a:blip>
            <a:srcRect b="6601" l="19288" r="24013" t="27599"/>
            <a:stretch/>
          </p:blipFill>
          <p:spPr>
            <a:xfrm>
              <a:off x="395536" y="1196752"/>
              <a:ext cx="6177367" cy="40324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4" name="Google Shape;624;p74"/>
            <p:cNvSpPr/>
            <p:nvPr/>
          </p:nvSpPr>
          <p:spPr>
            <a:xfrm>
              <a:off x="6156176" y="4797152"/>
              <a:ext cx="544819" cy="648072"/>
            </a:xfrm>
            <a:prstGeom prst="rect">
              <a:avLst/>
            </a:prstGeom>
            <a:solidFill>
              <a:schemeClr val="lt1"/>
            </a:solidFill>
            <a:ln cap="rnd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75"/>
          <p:cNvSpPr txBox="1"/>
          <p:nvPr>
            <p:ph type="title"/>
          </p:nvPr>
        </p:nvSpPr>
        <p:spPr>
          <a:xfrm>
            <a:off x="609599" y="609600"/>
            <a:ext cx="6347714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Semafori – mutua esclusione</a:t>
            </a:r>
            <a:endParaRPr/>
          </a:p>
        </p:txBody>
      </p:sp>
      <p:sp>
        <p:nvSpPr>
          <p:cNvPr id="630" name="Google Shape;630;p75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631" name="Google Shape;631;p75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632" name="Google Shape;632;p75"/>
          <p:cNvPicPr preferRelativeResize="0"/>
          <p:nvPr/>
        </p:nvPicPr>
        <p:blipFill rotWithShape="1">
          <a:blip r:embed="rId3">
            <a:alphaModFix/>
          </a:blip>
          <a:srcRect b="27599" l="16926" r="40549" t="27599"/>
          <a:stretch/>
        </p:blipFill>
        <p:spPr>
          <a:xfrm>
            <a:off x="1331640" y="2132856"/>
            <a:ext cx="5544616" cy="3285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76"/>
          <p:cNvSpPr txBox="1"/>
          <p:nvPr>
            <p:ph type="title"/>
          </p:nvPr>
        </p:nvSpPr>
        <p:spPr>
          <a:xfrm>
            <a:off x="609599" y="609600"/>
            <a:ext cx="6347714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Semafori - considerazioni</a:t>
            </a:r>
            <a:endParaRPr/>
          </a:p>
        </p:txBody>
      </p:sp>
      <p:sp>
        <p:nvSpPr>
          <p:cNvPr id="638" name="Google Shape;638;p76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639" name="Google Shape;639;p76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grpSp>
        <p:nvGrpSpPr>
          <p:cNvPr id="640" name="Google Shape;640;p76"/>
          <p:cNvGrpSpPr/>
          <p:nvPr/>
        </p:nvGrpSpPr>
        <p:grpSpPr>
          <a:xfrm>
            <a:off x="467544" y="1628800"/>
            <a:ext cx="6264696" cy="4104456"/>
            <a:chOff x="467544" y="1628800"/>
            <a:chExt cx="6264696" cy="4104456"/>
          </a:xfrm>
        </p:grpSpPr>
        <p:pic>
          <p:nvPicPr>
            <p:cNvPr id="641" name="Google Shape;641;p76"/>
            <p:cNvPicPr preferRelativeResize="0"/>
            <p:nvPr/>
          </p:nvPicPr>
          <p:blipFill rotWithShape="1">
            <a:blip r:embed="rId3">
              <a:alphaModFix/>
            </a:blip>
            <a:srcRect b="7999" l="19288" r="24013" t="27599"/>
            <a:stretch/>
          </p:blipFill>
          <p:spPr>
            <a:xfrm>
              <a:off x="467544" y="1628800"/>
              <a:ext cx="6198950" cy="39604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2" name="Google Shape;642;p76"/>
            <p:cNvSpPr/>
            <p:nvPr/>
          </p:nvSpPr>
          <p:spPr>
            <a:xfrm>
              <a:off x="6300192" y="5229200"/>
              <a:ext cx="432048" cy="504056"/>
            </a:xfrm>
            <a:prstGeom prst="rect">
              <a:avLst/>
            </a:prstGeom>
            <a:solidFill>
              <a:schemeClr val="lt1"/>
            </a:solidFill>
            <a:ln cap="rnd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643" name="Google Shape;643;p76"/>
          <p:cNvSpPr txBox="1"/>
          <p:nvPr/>
        </p:nvSpPr>
        <p:spPr>
          <a:xfrm>
            <a:off x="5417250" y="5553450"/>
            <a:ext cx="1314900" cy="6156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latin typeface="Trebuchet MS"/>
                <a:ea typeface="Trebuchet MS"/>
                <a:cs typeface="Trebuchet MS"/>
                <a:sym typeface="Trebuchet MS"/>
              </a:rPr>
              <a:t>codice opzionale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77"/>
          <p:cNvSpPr txBox="1"/>
          <p:nvPr>
            <p:ph type="title"/>
          </p:nvPr>
        </p:nvSpPr>
        <p:spPr>
          <a:xfrm>
            <a:off x="609599" y="609600"/>
            <a:ext cx="6347714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Semafori – politiche di gestione dei processi bloccati</a:t>
            </a:r>
            <a:endParaRPr/>
          </a:p>
        </p:txBody>
      </p:sp>
      <p:sp>
        <p:nvSpPr>
          <p:cNvPr id="649" name="Google Shape;649;p77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650" name="Google Shape;650;p77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651" name="Google Shape;651;p77"/>
          <p:cNvPicPr preferRelativeResize="0"/>
          <p:nvPr/>
        </p:nvPicPr>
        <p:blipFill rotWithShape="1">
          <a:blip r:embed="rId3">
            <a:alphaModFix/>
          </a:blip>
          <a:srcRect b="16399" l="18500" r="22438" t="27599"/>
          <a:stretch/>
        </p:blipFill>
        <p:spPr>
          <a:xfrm>
            <a:off x="609599" y="2132856"/>
            <a:ext cx="6210690" cy="3312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78"/>
          <p:cNvSpPr txBox="1"/>
          <p:nvPr>
            <p:ph type="title"/>
          </p:nvPr>
        </p:nvSpPr>
        <p:spPr>
          <a:xfrm>
            <a:off x="609599" y="332656"/>
            <a:ext cx="6347714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Semafori - implementazione</a:t>
            </a:r>
            <a:endParaRPr/>
          </a:p>
        </p:txBody>
      </p:sp>
      <p:sp>
        <p:nvSpPr>
          <p:cNvPr id="657" name="Google Shape;657;p78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658" name="Google Shape;658;p78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grpSp>
        <p:nvGrpSpPr>
          <p:cNvPr id="659" name="Google Shape;659;p78"/>
          <p:cNvGrpSpPr/>
          <p:nvPr/>
        </p:nvGrpSpPr>
        <p:grpSpPr>
          <a:xfrm>
            <a:off x="179512" y="1340768"/>
            <a:ext cx="7166510" cy="4032448"/>
            <a:chOff x="179512" y="1340768"/>
            <a:chExt cx="7166510" cy="4032448"/>
          </a:xfrm>
        </p:grpSpPr>
        <p:pic>
          <p:nvPicPr>
            <p:cNvPr id="660" name="Google Shape;660;p78"/>
            <p:cNvPicPr preferRelativeResize="0"/>
            <p:nvPr/>
          </p:nvPicPr>
          <p:blipFill rotWithShape="1">
            <a:blip r:embed="rId3">
              <a:alphaModFix/>
            </a:blip>
            <a:srcRect b="6598" l="16925" r="23226" t="34600"/>
            <a:stretch/>
          </p:blipFill>
          <p:spPr>
            <a:xfrm>
              <a:off x="179512" y="1340768"/>
              <a:ext cx="7166510" cy="39604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1" name="Google Shape;661;p78"/>
            <p:cNvSpPr/>
            <p:nvPr/>
          </p:nvSpPr>
          <p:spPr>
            <a:xfrm>
              <a:off x="6804248" y="4869160"/>
              <a:ext cx="541774" cy="504056"/>
            </a:xfrm>
            <a:prstGeom prst="rect">
              <a:avLst/>
            </a:prstGeom>
            <a:solidFill>
              <a:schemeClr val="lt1"/>
            </a:solidFill>
            <a:ln cap="rnd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662" name="Google Shape;662;p78"/>
          <p:cNvSpPr txBox="1"/>
          <p:nvPr/>
        </p:nvSpPr>
        <p:spPr>
          <a:xfrm>
            <a:off x="5417250" y="5553450"/>
            <a:ext cx="1314900" cy="6156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latin typeface="Trebuchet MS"/>
                <a:ea typeface="Trebuchet MS"/>
                <a:cs typeface="Trebuchet MS"/>
                <a:sym typeface="Trebuchet MS"/>
              </a:rPr>
              <a:t>codice </a:t>
            </a:r>
            <a:r>
              <a:rPr lang="it-IT">
                <a:latin typeface="Trebuchet MS"/>
                <a:ea typeface="Trebuchet MS"/>
                <a:cs typeface="Trebuchet MS"/>
                <a:sym typeface="Trebuchet MS"/>
              </a:rPr>
              <a:t>opzionale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79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Semaforo (down e up)</a:t>
            </a:r>
            <a:endParaRPr/>
          </a:p>
        </p:txBody>
      </p:sp>
      <p:sp>
        <p:nvSpPr>
          <p:cNvPr id="668" name="Google Shape;668;p79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it-IT"/>
              <a:t>Le primitive </a:t>
            </a:r>
            <a:r>
              <a:rPr i="1" lang="it-IT"/>
              <a:t>up()</a:t>
            </a:r>
            <a:r>
              <a:rPr lang="it-IT"/>
              <a:t> e </a:t>
            </a:r>
            <a:r>
              <a:rPr i="1" lang="it-IT"/>
              <a:t>down()</a:t>
            </a:r>
            <a:r>
              <a:rPr lang="it-IT"/>
              <a:t> devono essere atomiche e non interrompibili (come </a:t>
            </a:r>
            <a:r>
              <a:rPr i="1" lang="it-IT"/>
              <a:t>P()</a:t>
            </a:r>
            <a:r>
              <a:rPr lang="it-IT"/>
              <a:t> e </a:t>
            </a:r>
            <a:r>
              <a:rPr i="1" lang="it-IT"/>
              <a:t>V()</a:t>
            </a:r>
            <a:r>
              <a:rPr lang="it-IT"/>
              <a:t>)</a:t>
            </a:r>
            <a:endParaRPr/>
          </a:p>
        </p:txBody>
      </p:sp>
      <p:sp>
        <p:nvSpPr>
          <p:cNvPr id="669" name="Google Shape;669;p79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670" name="Google Shape;670;p79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671" name="Google Shape;671;p79"/>
          <p:cNvSpPr txBox="1"/>
          <p:nvPr/>
        </p:nvSpPr>
        <p:spPr>
          <a:xfrm>
            <a:off x="539552" y="2865710"/>
            <a:ext cx="8352928" cy="1200329"/>
          </a:xfrm>
          <a:prstGeom prst="rect">
            <a:avLst/>
          </a:prstGeom>
          <a:gradFill>
            <a:gsLst>
              <a:gs pos="0">
                <a:srgbClr val="BDD5B6"/>
              </a:gs>
              <a:gs pos="88000">
                <a:srgbClr val="74AC5E"/>
              </a:gs>
              <a:gs pos="100000">
                <a:srgbClr val="74AC5E"/>
              </a:gs>
            </a:gsLst>
            <a:lin ang="5400000" scaled="0"/>
          </a:gradFill>
          <a:ln cap="rnd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down(s) {	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while (s&lt;=0);	// attesa che si liberi la risorsa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s--;			// occupo la risorsa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	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2" name="Google Shape;672;p79"/>
          <p:cNvSpPr txBox="1"/>
          <p:nvPr/>
        </p:nvSpPr>
        <p:spPr>
          <a:xfrm>
            <a:off x="539552" y="4593902"/>
            <a:ext cx="8352928" cy="923330"/>
          </a:xfrm>
          <a:prstGeom prst="rect">
            <a:avLst/>
          </a:prstGeom>
          <a:gradFill>
            <a:gsLst>
              <a:gs pos="0">
                <a:srgbClr val="BDD5B6"/>
              </a:gs>
              <a:gs pos="88000">
                <a:srgbClr val="74AC5E"/>
              </a:gs>
              <a:gs pos="100000">
                <a:srgbClr val="74AC5E"/>
              </a:gs>
            </a:gsLst>
            <a:lin ang="5400000" scaled="0"/>
          </a:gradFill>
          <a:ln cap="rnd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up(s) {		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s++;			// libero la risorsa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	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>
    <p:fade thruBlk="1"/>
  </p:transition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80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Problemi classici</a:t>
            </a:r>
            <a:endParaRPr/>
          </a:p>
        </p:txBody>
      </p:sp>
      <p:sp>
        <p:nvSpPr>
          <p:cNvPr id="678" name="Google Shape;678;p80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679" name="Google Shape;679;p80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680" name="Google Shape;680;p80"/>
          <p:cNvPicPr preferRelativeResize="0"/>
          <p:nvPr/>
        </p:nvPicPr>
        <p:blipFill rotWithShape="1">
          <a:blip r:embed="rId3">
            <a:alphaModFix/>
          </a:blip>
          <a:srcRect b="28962" l="3170" r="19046" t="27158"/>
          <a:stretch/>
        </p:blipFill>
        <p:spPr>
          <a:xfrm>
            <a:off x="467544" y="2276872"/>
            <a:ext cx="6449991" cy="2910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81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Filosofi a cena 1/2</a:t>
            </a:r>
            <a:endParaRPr/>
          </a:p>
        </p:txBody>
      </p:sp>
      <p:sp>
        <p:nvSpPr>
          <p:cNvPr id="686" name="Google Shape;686;p81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687" name="Google Shape;687;p81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688" name="Google Shape;688;p81"/>
          <p:cNvPicPr preferRelativeResize="0"/>
          <p:nvPr/>
        </p:nvPicPr>
        <p:blipFill rotWithShape="1">
          <a:blip r:embed="rId3">
            <a:alphaModFix/>
          </a:blip>
          <a:srcRect b="13599" l="18500" r="20864" t="33199"/>
          <a:stretch/>
        </p:blipFill>
        <p:spPr>
          <a:xfrm>
            <a:off x="232571" y="1844824"/>
            <a:ext cx="7003725" cy="3456384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81"/>
          <p:cNvSpPr txBox="1"/>
          <p:nvPr/>
        </p:nvSpPr>
        <p:spPr>
          <a:xfrm>
            <a:off x="442521" y="1412776"/>
            <a:ext cx="24785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Definizione problema: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82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Filosofi a cena 2/2</a:t>
            </a:r>
            <a:endParaRPr/>
          </a:p>
        </p:txBody>
      </p:sp>
      <p:sp>
        <p:nvSpPr>
          <p:cNvPr id="695" name="Google Shape;695;p82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696" name="Google Shape;696;p82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697" name="Google Shape;697;p82"/>
          <p:cNvPicPr preferRelativeResize="0"/>
          <p:nvPr/>
        </p:nvPicPr>
        <p:blipFill rotWithShape="1">
          <a:blip r:embed="rId3">
            <a:alphaModFix/>
          </a:blip>
          <a:srcRect b="20599" l="16925" r="27950" t="27598"/>
          <a:stretch/>
        </p:blipFill>
        <p:spPr>
          <a:xfrm>
            <a:off x="321582" y="1628800"/>
            <a:ext cx="6266642" cy="3312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3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Trebuchet MS"/>
              <a:buNone/>
            </a:pPr>
            <a:r>
              <a:rPr lang="it-IT" sz="3200"/>
              <a:t>Filosofi a cena - pseudocodifica </a:t>
            </a:r>
            <a:endParaRPr sz="3200"/>
          </a:p>
        </p:txBody>
      </p:sp>
      <p:sp>
        <p:nvSpPr>
          <p:cNvPr id="703" name="Google Shape;703;p83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704" name="Google Shape;704;p83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705" name="Google Shape;705;p83"/>
          <p:cNvPicPr preferRelativeResize="0"/>
          <p:nvPr/>
        </p:nvPicPr>
        <p:blipFill rotWithShape="1">
          <a:blip r:embed="rId3">
            <a:alphaModFix/>
          </a:blip>
          <a:srcRect b="10799" l="16925" r="28735" t="27599"/>
          <a:stretch/>
        </p:blipFill>
        <p:spPr>
          <a:xfrm>
            <a:off x="757213" y="1772816"/>
            <a:ext cx="5759003" cy="3672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84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Filosofi a cena - codifica </a:t>
            </a:r>
            <a:endParaRPr/>
          </a:p>
        </p:txBody>
      </p:sp>
      <p:sp>
        <p:nvSpPr>
          <p:cNvPr id="711" name="Google Shape;711;p84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712" name="Google Shape;712;p84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713" name="Google Shape;713;p84"/>
          <p:cNvPicPr preferRelativeResize="0"/>
          <p:nvPr/>
        </p:nvPicPr>
        <p:blipFill rotWithShape="1">
          <a:blip r:embed="rId3">
            <a:alphaModFix/>
          </a:blip>
          <a:srcRect b="24798" l="16926" r="33463" t="27602"/>
          <a:stretch/>
        </p:blipFill>
        <p:spPr>
          <a:xfrm>
            <a:off x="213398" y="1556793"/>
            <a:ext cx="5870770" cy="3168352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84"/>
          <p:cNvSpPr txBox="1"/>
          <p:nvPr/>
        </p:nvSpPr>
        <p:spPr>
          <a:xfrm>
            <a:off x="755576" y="4869160"/>
            <a:ext cx="205325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it-IT" sz="2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E’ corretta?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85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720" name="Google Shape;720;p85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721" name="Google Shape;721;p85"/>
          <p:cNvPicPr preferRelativeResize="0"/>
          <p:nvPr/>
        </p:nvPicPr>
        <p:blipFill rotWithShape="1">
          <a:blip r:embed="rId3">
            <a:alphaModFix/>
          </a:blip>
          <a:srcRect b="30400" l="9050" r="29524" t="27600"/>
          <a:stretch/>
        </p:blipFill>
        <p:spPr>
          <a:xfrm>
            <a:off x="755576" y="2276872"/>
            <a:ext cx="6552728" cy="2520280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85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Filosofi a cena – soluzione errata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86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728" name="Google Shape;728;p86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729" name="Google Shape;729;p86"/>
          <p:cNvPicPr preferRelativeResize="0"/>
          <p:nvPr/>
        </p:nvPicPr>
        <p:blipFill rotWithShape="1">
          <a:blip r:embed="rId3">
            <a:alphaModFix/>
          </a:blip>
          <a:srcRect b="34600" l="11414" r="33463" t="27599"/>
          <a:stretch/>
        </p:blipFill>
        <p:spPr>
          <a:xfrm>
            <a:off x="609599" y="2204864"/>
            <a:ext cx="6347372" cy="2448272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86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Filosofi a cena – soluzione corretta (1/2)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87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736" name="Google Shape;736;p87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737" name="Google Shape;737;p87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Filosofi a cena – soluzione corretta (2/2)</a:t>
            </a:r>
            <a:endParaRPr/>
          </a:p>
        </p:txBody>
      </p:sp>
      <p:pic>
        <p:nvPicPr>
          <p:cNvPr id="738" name="Google Shape;738;p87"/>
          <p:cNvPicPr preferRelativeResize="0"/>
          <p:nvPr/>
        </p:nvPicPr>
        <p:blipFill rotWithShape="1">
          <a:blip r:embed="rId3">
            <a:alphaModFix/>
          </a:blip>
          <a:srcRect b="17800" l="9050" r="29524" t="27598"/>
          <a:stretch/>
        </p:blipFill>
        <p:spPr>
          <a:xfrm>
            <a:off x="539552" y="2132856"/>
            <a:ext cx="5904656" cy="2952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88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744" name="Google Shape;744;p88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745" name="Google Shape;745;p88"/>
          <p:cNvPicPr preferRelativeResize="0"/>
          <p:nvPr/>
        </p:nvPicPr>
        <p:blipFill rotWithShape="1">
          <a:blip r:embed="rId3">
            <a:alphaModFix/>
          </a:blip>
          <a:srcRect b="22000" l="11412" r="31100" t="33201"/>
          <a:stretch/>
        </p:blipFill>
        <p:spPr>
          <a:xfrm>
            <a:off x="458543" y="2276872"/>
            <a:ext cx="5913657" cy="2592288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88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Filosofi a cena – altre soluzioni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89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Produttore/Consumatore</a:t>
            </a:r>
            <a:endParaRPr/>
          </a:p>
        </p:txBody>
      </p:sp>
      <p:sp>
        <p:nvSpPr>
          <p:cNvPr id="752" name="Google Shape;752;p89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753" name="Google Shape;753;p89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grpSp>
        <p:nvGrpSpPr>
          <p:cNvPr id="754" name="Google Shape;754;p89"/>
          <p:cNvGrpSpPr/>
          <p:nvPr/>
        </p:nvGrpSpPr>
        <p:grpSpPr>
          <a:xfrm>
            <a:off x="245700" y="1412777"/>
            <a:ext cx="6846580" cy="3960440"/>
            <a:chOff x="245700" y="1412777"/>
            <a:chExt cx="6846580" cy="3960440"/>
          </a:xfrm>
        </p:grpSpPr>
        <p:pic>
          <p:nvPicPr>
            <p:cNvPr id="755" name="Google Shape;755;p89"/>
            <p:cNvPicPr preferRelativeResize="0"/>
            <p:nvPr/>
          </p:nvPicPr>
          <p:blipFill rotWithShape="1">
            <a:blip r:embed="rId3">
              <a:alphaModFix/>
            </a:blip>
            <a:srcRect b="11702" l="3840" r="8634" t="27313"/>
            <a:stretch/>
          </p:blipFill>
          <p:spPr>
            <a:xfrm>
              <a:off x="245700" y="1412777"/>
              <a:ext cx="6846580" cy="38164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6" name="Google Shape;756;p89"/>
            <p:cNvSpPr/>
            <p:nvPr/>
          </p:nvSpPr>
          <p:spPr>
            <a:xfrm>
              <a:off x="6300192" y="5085185"/>
              <a:ext cx="792088" cy="288032"/>
            </a:xfrm>
            <a:prstGeom prst="rect">
              <a:avLst/>
            </a:prstGeom>
            <a:solidFill>
              <a:schemeClr val="lt1"/>
            </a:solidFill>
            <a:ln cap="rnd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90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Produttore/Consumatore</a:t>
            </a:r>
            <a:br>
              <a:rPr lang="it-IT"/>
            </a:br>
            <a:r>
              <a:rPr lang="it-IT" sz="2800"/>
              <a:t>- implementazione</a:t>
            </a:r>
            <a:endParaRPr sz="2800"/>
          </a:p>
        </p:txBody>
      </p:sp>
      <p:sp>
        <p:nvSpPr>
          <p:cNvPr id="762" name="Google Shape;762;p90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763" name="Google Shape;763;p90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764" name="Google Shape;764;p90"/>
          <p:cNvPicPr preferRelativeResize="0"/>
          <p:nvPr/>
        </p:nvPicPr>
        <p:blipFill rotWithShape="1">
          <a:blip r:embed="rId3">
            <a:alphaModFix/>
          </a:blip>
          <a:srcRect b="12242" l="4021" r="18196" t="26482"/>
          <a:stretch/>
        </p:blipFill>
        <p:spPr>
          <a:xfrm>
            <a:off x="611560" y="2132856"/>
            <a:ext cx="6312745" cy="39784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91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Buffer limitato</a:t>
            </a:r>
            <a:endParaRPr/>
          </a:p>
        </p:txBody>
      </p:sp>
      <p:sp>
        <p:nvSpPr>
          <p:cNvPr id="770" name="Google Shape;770;p91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771" name="Google Shape;771;p91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grpSp>
        <p:nvGrpSpPr>
          <p:cNvPr id="772" name="Google Shape;772;p91"/>
          <p:cNvGrpSpPr/>
          <p:nvPr/>
        </p:nvGrpSpPr>
        <p:grpSpPr>
          <a:xfrm>
            <a:off x="251520" y="1556792"/>
            <a:ext cx="6768752" cy="4078212"/>
            <a:chOff x="251520" y="1556792"/>
            <a:chExt cx="6768752" cy="4078212"/>
          </a:xfrm>
        </p:grpSpPr>
        <p:pic>
          <p:nvPicPr>
            <p:cNvPr id="773" name="Google Shape;773;p91"/>
            <p:cNvPicPr preferRelativeResize="0"/>
            <p:nvPr/>
          </p:nvPicPr>
          <p:blipFill rotWithShape="1">
            <a:blip r:embed="rId3">
              <a:alphaModFix/>
            </a:blip>
            <a:srcRect b="10211" l="3869" r="13013" t="26966"/>
            <a:stretch/>
          </p:blipFill>
          <p:spPr>
            <a:xfrm>
              <a:off x="251520" y="1556792"/>
              <a:ext cx="6744571" cy="40782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4" name="Google Shape;774;p91"/>
            <p:cNvSpPr/>
            <p:nvPr/>
          </p:nvSpPr>
          <p:spPr>
            <a:xfrm>
              <a:off x="6228184" y="5346972"/>
              <a:ext cx="792088" cy="288032"/>
            </a:xfrm>
            <a:prstGeom prst="rect">
              <a:avLst/>
            </a:prstGeom>
            <a:solidFill>
              <a:schemeClr val="lt1"/>
            </a:solidFill>
            <a:ln cap="rnd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92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Buffer limitato – struttura del buffer</a:t>
            </a:r>
            <a:endParaRPr/>
          </a:p>
        </p:txBody>
      </p:sp>
      <p:sp>
        <p:nvSpPr>
          <p:cNvPr id="780" name="Google Shape;780;p92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781" name="Google Shape;781;p92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782" name="Google Shape;782;p92"/>
          <p:cNvPicPr preferRelativeResize="0"/>
          <p:nvPr/>
        </p:nvPicPr>
        <p:blipFill rotWithShape="1">
          <a:blip r:embed="rId3">
            <a:alphaModFix/>
          </a:blip>
          <a:srcRect b="18524" l="12138" r="19278" t="32185"/>
          <a:stretch/>
        </p:blipFill>
        <p:spPr>
          <a:xfrm>
            <a:off x="539552" y="1916832"/>
            <a:ext cx="6705392" cy="3855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93"/>
          <p:cNvSpPr txBox="1"/>
          <p:nvPr>
            <p:ph type="title"/>
          </p:nvPr>
        </p:nvSpPr>
        <p:spPr>
          <a:xfrm>
            <a:off x="251520" y="609600"/>
            <a:ext cx="7202761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Buffer limitato – implementazione</a:t>
            </a:r>
            <a:endParaRPr/>
          </a:p>
        </p:txBody>
      </p:sp>
      <p:sp>
        <p:nvSpPr>
          <p:cNvPr id="788" name="Google Shape;788;p93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789" name="Google Shape;789;p93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790" name="Google Shape;790;p93"/>
          <p:cNvPicPr preferRelativeResize="0"/>
          <p:nvPr/>
        </p:nvPicPr>
        <p:blipFill rotWithShape="1">
          <a:blip r:embed="rId3">
            <a:alphaModFix/>
          </a:blip>
          <a:srcRect b="6598" l="16138" r="22438" t="26198"/>
          <a:stretch/>
        </p:blipFill>
        <p:spPr>
          <a:xfrm>
            <a:off x="467544" y="1628800"/>
            <a:ext cx="6552728" cy="4032448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93"/>
          <p:cNvSpPr/>
          <p:nvPr/>
        </p:nvSpPr>
        <p:spPr>
          <a:xfrm>
            <a:off x="6732240" y="5229200"/>
            <a:ext cx="360040" cy="504056"/>
          </a:xfrm>
          <a:prstGeom prst="rect">
            <a:avLst/>
          </a:prstGeom>
          <a:solidFill>
            <a:schemeClr val="lt1"/>
          </a:solidFill>
          <a:ln cap="rnd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94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Lettori e scrittori 1/2</a:t>
            </a:r>
            <a:endParaRPr/>
          </a:p>
        </p:txBody>
      </p:sp>
      <p:sp>
        <p:nvSpPr>
          <p:cNvPr id="797" name="Google Shape;797;p94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798" name="Google Shape;798;p94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799" name="Google Shape;799;p94"/>
          <p:cNvPicPr preferRelativeResize="0"/>
          <p:nvPr/>
        </p:nvPicPr>
        <p:blipFill rotWithShape="1">
          <a:blip r:embed="rId3">
            <a:alphaModFix/>
          </a:blip>
          <a:srcRect b="13600" l="9051" r="30313" t="27599"/>
          <a:stretch/>
        </p:blipFill>
        <p:spPr>
          <a:xfrm>
            <a:off x="251520" y="1628800"/>
            <a:ext cx="6600733" cy="36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95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Lettori e scrittori 2/2</a:t>
            </a:r>
            <a:endParaRPr/>
          </a:p>
        </p:txBody>
      </p:sp>
      <p:sp>
        <p:nvSpPr>
          <p:cNvPr id="805" name="Google Shape;805;p95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806" name="Google Shape;806;p95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807" name="Google Shape;807;p95"/>
          <p:cNvPicPr preferRelativeResize="0"/>
          <p:nvPr/>
        </p:nvPicPr>
        <p:blipFill rotWithShape="1">
          <a:blip r:embed="rId3">
            <a:alphaModFix/>
          </a:blip>
          <a:srcRect b="13600" l="9050" r="31885" t="27599"/>
          <a:stretch/>
        </p:blipFill>
        <p:spPr>
          <a:xfrm>
            <a:off x="395536" y="1700808"/>
            <a:ext cx="6429286" cy="36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96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Trebuchet MS"/>
              <a:buNone/>
            </a:pPr>
            <a:r>
              <a:rPr lang="it-IT" sz="3200"/>
              <a:t>Vita dei lettori e degli scrittori</a:t>
            </a:r>
            <a:endParaRPr sz="3200"/>
          </a:p>
        </p:txBody>
      </p:sp>
      <p:sp>
        <p:nvSpPr>
          <p:cNvPr id="813" name="Google Shape;813;p96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814" name="Google Shape;814;p96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815" name="Google Shape;815;p96"/>
          <p:cNvPicPr preferRelativeResize="0"/>
          <p:nvPr/>
        </p:nvPicPr>
        <p:blipFill rotWithShape="1">
          <a:blip r:embed="rId3">
            <a:alphaModFix/>
          </a:blip>
          <a:srcRect b="13916" l="8263" r="28992" t="27599"/>
          <a:stretch/>
        </p:blipFill>
        <p:spPr>
          <a:xfrm>
            <a:off x="323529" y="1556792"/>
            <a:ext cx="7416824" cy="3888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97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Trebuchet MS"/>
              <a:buNone/>
            </a:pPr>
            <a:r>
              <a:rPr lang="it-IT" sz="3200"/>
              <a:t>Considerazioni: lettori e scrittori</a:t>
            </a:r>
            <a:endParaRPr sz="3200"/>
          </a:p>
        </p:txBody>
      </p:sp>
      <p:sp>
        <p:nvSpPr>
          <p:cNvPr id="821" name="Google Shape;821;p97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822" name="Google Shape;822;p97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823" name="Google Shape;823;p97"/>
          <p:cNvPicPr preferRelativeResize="0"/>
          <p:nvPr/>
        </p:nvPicPr>
        <p:blipFill rotWithShape="1">
          <a:blip r:embed="rId3">
            <a:alphaModFix/>
          </a:blip>
          <a:srcRect b="16399" l="9050" r="29524" t="27599"/>
          <a:stretch/>
        </p:blipFill>
        <p:spPr>
          <a:xfrm>
            <a:off x="251520" y="1484784"/>
            <a:ext cx="6880364" cy="3528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98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Soluzione lettori e scrittori</a:t>
            </a:r>
            <a:endParaRPr/>
          </a:p>
        </p:txBody>
      </p:sp>
      <p:sp>
        <p:nvSpPr>
          <p:cNvPr id="829" name="Google Shape;829;p98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/>
              <a:t>Prof.ssa Piersigilli Francesca</a:t>
            </a:r>
            <a:endParaRPr/>
          </a:p>
        </p:txBody>
      </p:sp>
      <p:sp>
        <p:nvSpPr>
          <p:cNvPr id="830" name="Google Shape;830;p98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831" name="Google Shape;831;p98"/>
          <p:cNvPicPr preferRelativeResize="0"/>
          <p:nvPr/>
        </p:nvPicPr>
        <p:blipFill rotWithShape="1">
          <a:blip r:embed="rId3">
            <a:alphaModFix/>
          </a:blip>
          <a:srcRect b="7999" l="9051" r="30313" t="27599"/>
          <a:stretch/>
        </p:blipFill>
        <p:spPr>
          <a:xfrm>
            <a:off x="251520" y="1412776"/>
            <a:ext cx="6508897" cy="3888432"/>
          </a:xfrm>
          <a:prstGeom prst="rect">
            <a:avLst/>
          </a:prstGeom>
          <a:noFill/>
          <a:ln>
            <a:noFill/>
          </a:ln>
        </p:spPr>
      </p:pic>
      <p:sp>
        <p:nvSpPr>
          <p:cNvPr id="832" name="Google Shape;832;p98"/>
          <p:cNvSpPr/>
          <p:nvPr/>
        </p:nvSpPr>
        <p:spPr>
          <a:xfrm>
            <a:off x="6156176" y="5013176"/>
            <a:ext cx="801136" cy="576064"/>
          </a:xfrm>
          <a:prstGeom prst="rect">
            <a:avLst/>
          </a:prstGeom>
          <a:solidFill>
            <a:schemeClr val="lt1"/>
          </a:solidFill>
          <a:ln cap="rnd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